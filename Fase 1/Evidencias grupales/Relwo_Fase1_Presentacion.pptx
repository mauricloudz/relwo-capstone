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68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2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501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Mauricio abre presentando el producto: qué es Relwo en una frase, los tres servicios y las tres promesas. Después el equipo.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Mauricio: el problema en dos lados (hogar y maestro), y el alcance geográfico: Gran Santiago, 40 comunas visibles, 4 operativas al inicio: Las Condes, Ñuñoa, Vitacura y Santiago.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Mauricio: qué construiremos (app, backend, panel) y cuál es el aporte de valor. Da paso al stack.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Mauricio: las cuatro tecnologías principales, las tres herramientas de apoyo y las dos reglas de diseño. Da paso a Tania.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Tania: con HOME y C07 explica a grandes rasgos qué hace la app para el cliente y para el maestro. El prototipo completo tiene 53 pantallas y está publicado en el repositorio.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Tania: explica las cuatro reglas del sistema de pedidos y muestra el lado del maestro. Da paso a Nayareth, que parte con la metodología.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Tania: qué es la torre de control y qué podrá hacer el equipo de operación desde ella. Da paso a Nayareth, que parte con la metodología.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Nayareth: Scrum, las cuatro ceremonias y las cinco etapas.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Nayareth: presenta los tres roles y remata con la participación conjunta en planificación, revisiones y alcance.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Nayareth: recorre la Gantt por fases. Once actividades, quién las lleva y cómo se traslapan backend y app desde la semana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Nayareth: evidencias de avance y evidencias finales. Aclarar que se acuerdan con el docente.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Nayareth cierra con una frase de síntesis y agradece.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7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10" Type="http://schemas.openxmlformats.org/officeDocument/2006/relationships/image" Target="../media/image15.png"/><Relationship Id="rId4" Type="http://schemas.openxmlformats.org/officeDocument/2006/relationships/image" Target="../media/image8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9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2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9.png"/><Relationship Id="rId4" Type="http://schemas.openxmlformats.org/officeDocument/2006/relationships/image" Target="../media/image7.png"/><Relationship Id="rId9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22960"/>
            <a:ext cx="4206240" cy="4206240"/>
          </a:xfrm>
          <a:prstGeom prst="roundRect">
            <a:avLst>
              <a:gd name="adj" fmla="val 5435"/>
            </a:avLst>
          </a:prstGeom>
          <a:solidFill>
            <a:srgbClr val="172442"/>
          </a:solidFill>
          <a:ln w="12700">
            <a:solidFill>
              <a:srgbClr val="172442"/>
            </a:solidFill>
            <a:prstDash val="solid"/>
          </a:ln>
        </p:spPr>
      </p:sp>
      <p:pic>
        <p:nvPicPr>
          <p:cNvPr id="3" name="Image 0" descr="/Users/mauriciops/Proyectos/relwo-capstone/Fase 1/Evidencias grupales/Mockup navegable/assets/logo_relw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188720"/>
            <a:ext cx="3474720" cy="3474720"/>
          </a:xfrm>
          <a:prstGeom prst="ellipse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394960" y="9144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400" b="1" dirty="0">
                <a:solidFill>
                  <a:srgbClr val="172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Relwo</a:t>
            </a:r>
            <a:endParaRPr lang="en-US" sz="6400" dirty="0"/>
          </a:p>
        </p:txBody>
      </p:sp>
      <p:sp>
        <p:nvSpPr>
          <p:cNvPr id="5" name="Text 2"/>
          <p:cNvSpPr txBox="1"/>
          <p:nvPr/>
        </p:nvSpPr>
        <p:spPr>
          <a:xfrm>
            <a:off x="5394960" y="19659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06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confiable a domicilio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394960" y="2468880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0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 donde el cliente pide un servicio, recibe ofertas de maestros verificados, aprueba el precio antes de que empiece el trabajo y paga protegido hasta el cierre.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394960" y="3657600"/>
            <a:ext cx="1920240" cy="502920"/>
          </a:xfrm>
          <a:prstGeom prst="roundRect">
            <a:avLst>
              <a:gd name="adj" fmla="val 21818"/>
            </a:avLst>
          </a:prstGeom>
          <a:solidFill>
            <a:srgbClr val="F0EEFF"/>
          </a:solidFill>
          <a:ln w="12700">
            <a:solidFill>
              <a:srgbClr val="F0EEFF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3785616"/>
            <a:ext cx="246888" cy="24688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852160" y="3657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43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Ofertas de maestros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7452360" y="3657600"/>
            <a:ext cx="1920240" cy="502920"/>
          </a:xfrm>
          <a:prstGeom prst="roundRect">
            <a:avLst>
              <a:gd name="adj" fmla="val 21818"/>
            </a:avLst>
          </a:prstGeom>
          <a:solidFill>
            <a:srgbClr val="F0EEFF"/>
          </a:solidFill>
          <a:ln w="12700">
            <a:solidFill>
              <a:srgbClr val="F0EEFF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0" y="3785616"/>
            <a:ext cx="246888" cy="24688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909560" y="3657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43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aprobado antes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9509760" y="3657600"/>
            <a:ext cx="1920240" cy="502920"/>
          </a:xfrm>
          <a:prstGeom prst="roundRect">
            <a:avLst>
              <a:gd name="adj" fmla="val 21818"/>
            </a:avLst>
          </a:prstGeom>
          <a:solidFill>
            <a:srgbClr val="F0EEFF"/>
          </a:solidFill>
          <a:ln w="12700">
            <a:solidFill>
              <a:srgbClr val="F0EEFF"/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46920" y="3785616"/>
            <a:ext cx="246888" cy="24688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9966960" y="3657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43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protegido</a:t>
            </a:r>
            <a:endParaRPr lang="en-US" sz="1050" dirty="0"/>
          </a:p>
        </p:txBody>
      </p:sp>
      <p:sp>
        <p:nvSpPr>
          <p:cNvPr id="16" name="Text 10"/>
          <p:cNvSpPr txBox="1"/>
          <p:nvPr/>
        </p:nvSpPr>
        <p:spPr>
          <a:xfrm>
            <a:off x="5394960" y="434340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del hogar · Gasfitería · Cerrajería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640080" y="5532120"/>
            <a:ext cx="10908792" cy="0"/>
          </a:xfrm>
          <a:prstGeom prst="line">
            <a:avLst/>
          </a:prstGeom>
          <a:noFill/>
          <a:ln w="9525">
            <a:solidFill>
              <a:srgbClr val="DDE1EB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640080" y="56692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APT · Ingeniería en Informática · Duoc UC, sede Plaza Norte</a:t>
            </a:r>
            <a:endParaRPr lang="en-US" sz="1100" dirty="0"/>
          </a:p>
        </p:txBody>
      </p:sp>
      <p:sp>
        <p:nvSpPr>
          <p:cNvPr id="19" name="Text 13"/>
          <p:cNvSpPr txBox="1"/>
          <p:nvPr/>
        </p:nvSpPr>
        <p:spPr>
          <a:xfrm>
            <a:off x="6035040" y="5669280"/>
            <a:ext cx="5513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Mauricio Poblete · Tania Sáez · Nayareth Suárez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C6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FUNDAMENTACIÓN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Contratar un servicio a domicilio sigue siendo informal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Relwo · Proyecto APT · Fase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86968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Mauricio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39496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9525">
            <a:solidFill>
              <a:srgbClr val="DDE1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737360"/>
            <a:ext cx="548640" cy="548640"/>
          </a:xfrm>
          <a:prstGeom prst="ellipse">
            <a:avLst/>
          </a:prstGeom>
          <a:solidFill>
            <a:srgbClr val="F0EEFF"/>
          </a:solidFill>
          <a:ln w="12700">
            <a:solidFill>
              <a:srgbClr val="F0EEFF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1880006"/>
            <a:ext cx="263347" cy="26334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08760" y="1783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72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hogar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37744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0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busca por recomendación, redes sociales o avisos clasificados.</a:t>
            </a:r>
            <a:endParaRPr lang="en-US" sz="14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0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forma de verificar quién llegará al domicilio.</a:t>
            </a:r>
            <a:endParaRPr lang="en-US" sz="14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0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precio se conversa por mensajería y el pago se hace en efectivo o transferencia.</a:t>
            </a:r>
            <a:endParaRPr lang="en-US" sz="14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0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respaldo si el trabajo queda mal hecho o no se realiza.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217920" y="1508760"/>
            <a:ext cx="539496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9525">
            <a:solidFill>
              <a:srgbClr val="DDE1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92240" y="1737360"/>
            <a:ext cx="548640" cy="548640"/>
          </a:xfrm>
          <a:prstGeom prst="ellipse">
            <a:avLst/>
          </a:prstGeom>
          <a:solidFill>
            <a:srgbClr val="F0EEFF"/>
          </a:solidFill>
          <a:ln w="12700">
            <a:solidFill>
              <a:srgbClr val="F0EEFF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4886" y="1880006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178040" y="17830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72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maestro independiente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6492240" y="237744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0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 que lo recomienden para conseguir trabajo.</a:t>
            </a:r>
            <a:endParaRPr lang="en-US" sz="14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0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tiene un canal estable donde encontrar clientes.</a:t>
            </a:r>
            <a:endParaRPr lang="en-US" sz="14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0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tiene garantía de que le van a pagar al terminar.</a:t>
            </a:r>
            <a:endParaRPr lang="en-US" sz="14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0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reputación no se acumula en ningún lugar visible.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548640" y="4846320"/>
            <a:ext cx="2651760" cy="1280160"/>
          </a:xfrm>
          <a:prstGeom prst="roundRect">
            <a:avLst>
              <a:gd name="adj" fmla="val 8571"/>
            </a:avLst>
          </a:prstGeom>
          <a:solidFill>
            <a:srgbClr val="F0EEFF"/>
          </a:solidFill>
          <a:ln w="9525">
            <a:solidFill>
              <a:srgbClr val="DDE1EB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777240" y="49834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243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 Santiago</a:t>
            </a:r>
            <a:endParaRPr lang="en-US" sz="2200" dirty="0"/>
          </a:p>
        </p:txBody>
      </p:sp>
      <p:sp>
        <p:nvSpPr>
          <p:cNvPr id="18" name="Text 14"/>
          <p:cNvSpPr txBox="1"/>
          <p:nvPr/>
        </p:nvSpPr>
        <p:spPr>
          <a:xfrm>
            <a:off x="777240" y="5532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ámbito de la situación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3337560" y="4846320"/>
            <a:ext cx="2651760" cy="1280160"/>
          </a:xfrm>
          <a:prstGeom prst="roundRect">
            <a:avLst>
              <a:gd name="adj" fmla="val 8571"/>
            </a:avLst>
          </a:prstGeom>
          <a:solidFill>
            <a:srgbClr val="F0EEFF"/>
          </a:solidFill>
          <a:ln w="9525">
            <a:solidFill>
              <a:srgbClr val="DDE1EB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3566160" y="49834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243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comunas</a:t>
            </a:r>
            <a:endParaRPr lang="en-US" sz="2200" dirty="0"/>
          </a:p>
        </p:txBody>
      </p:sp>
      <p:sp>
        <p:nvSpPr>
          <p:cNvPr id="21" name="Text 17"/>
          <p:cNvSpPr txBox="1"/>
          <p:nvPr/>
        </p:nvSpPr>
        <p:spPr>
          <a:xfrm>
            <a:off x="3566160" y="5532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visible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126480" y="4846320"/>
            <a:ext cx="2651760" cy="1280160"/>
          </a:xfrm>
          <a:prstGeom prst="roundRect">
            <a:avLst>
              <a:gd name="adj" fmla="val 8571"/>
            </a:avLst>
          </a:prstGeom>
          <a:solidFill>
            <a:srgbClr val="F0EEFF"/>
          </a:solidFill>
          <a:ln w="9525">
            <a:solidFill>
              <a:srgbClr val="DDE1EB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355080" y="49834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243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comunas</a:t>
            </a:r>
            <a:endParaRPr lang="en-US" sz="2200" dirty="0"/>
          </a:p>
        </p:txBody>
      </p:sp>
      <p:sp>
        <p:nvSpPr>
          <p:cNvPr id="24" name="Text 20"/>
          <p:cNvSpPr txBox="1"/>
          <p:nvPr/>
        </p:nvSpPr>
        <p:spPr>
          <a:xfrm>
            <a:off x="6355080" y="5532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puesta en marcha inicial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8915400" y="4846320"/>
            <a:ext cx="2651760" cy="1280160"/>
          </a:xfrm>
          <a:prstGeom prst="roundRect">
            <a:avLst>
              <a:gd name="adj" fmla="val 8571"/>
            </a:avLst>
          </a:prstGeom>
          <a:solidFill>
            <a:srgbClr val="F0EEFF"/>
          </a:solidFill>
          <a:ln w="9525">
            <a:solidFill>
              <a:srgbClr val="DDE1EB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9144000" y="49834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243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servicios</a:t>
            </a:r>
            <a:endParaRPr lang="en-US" sz="2200" dirty="0"/>
          </a:p>
        </p:txBody>
      </p:sp>
      <p:sp>
        <p:nvSpPr>
          <p:cNvPr id="27" name="Text 23"/>
          <p:cNvSpPr txBox="1"/>
          <p:nvPr/>
        </p:nvSpPr>
        <p:spPr>
          <a:xfrm>
            <a:off x="9144000" y="5532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limpieza, gasfitería y cerrajería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C6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DEL PROYECTO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Solicitar, cotizar, pagar y cerrar en una sola plataforma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Relwo · Proyecto APT · Fase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86968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Mauricio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0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producto mínimo viable con tres servicios contratables, en el que el cliente describe su necesidad, recibe ofertas de maestros disponibles, aprueba el precio antes de que el trabajo comience y paga dentro de la misma plataforma. El pago queda retenido hasta que el servicio se cierra con la conformidad de ambas partes.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3566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DE1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834640"/>
            <a:ext cx="640080" cy="640080"/>
          </a:xfrm>
          <a:prstGeom prst="ellipse">
            <a:avLst/>
          </a:prstGeom>
          <a:solidFill>
            <a:srgbClr val="F0EEFF"/>
          </a:solidFill>
          <a:ln w="12700">
            <a:solidFill>
              <a:srgbClr val="F0EEFF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81" y="3001061"/>
            <a:ext cx="307238" cy="30723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22960" y="3611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72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móvil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4023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cliente y para el maestro, en un solo producto. Solicitud, ofertas, aprobaciones, pago y cierre.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297680" y="2606040"/>
            <a:ext cx="3566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DE1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0" y="2834640"/>
            <a:ext cx="640080" cy="640080"/>
          </a:xfrm>
          <a:prstGeom prst="ellipse">
            <a:avLst/>
          </a:prstGeom>
          <a:solidFill>
            <a:srgbClr val="F0EEFF"/>
          </a:solidFill>
          <a:ln w="12700">
            <a:solidFill>
              <a:srgbClr val="F0EEFF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8421" y="3001061"/>
            <a:ext cx="307238" cy="30723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572000" y="3611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72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de backend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4572000" y="4023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 los estados del servicio y calcula todos los montos. Publica la API que usan la app y el panel.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046720" y="2606040"/>
            <a:ext cx="3566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DE1EB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321040" y="2834640"/>
            <a:ext cx="640080" cy="640080"/>
          </a:xfrm>
          <a:prstGeom prst="ellipse">
            <a:avLst/>
          </a:prstGeom>
          <a:solidFill>
            <a:srgbClr val="F0EEFF"/>
          </a:solidFill>
          <a:ln w="12700">
            <a:solidFill>
              <a:srgbClr val="F0EEFF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7461" y="3001061"/>
            <a:ext cx="307238" cy="30723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321040" y="3611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72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administración</a:t>
            </a:r>
            <a:endParaRPr lang="en-US" sz="1700" dirty="0"/>
          </a:p>
        </p:txBody>
      </p:sp>
      <p:sp>
        <p:nvSpPr>
          <p:cNvPr id="21" name="Text 16"/>
          <p:cNvSpPr txBox="1"/>
          <p:nvPr/>
        </p:nvSpPr>
        <p:spPr>
          <a:xfrm>
            <a:off x="8321040" y="4023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interna para operar la plataforma: aprobar registros, administrar comunas, servicios y parámetros.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548640" y="5166360"/>
            <a:ext cx="11064240" cy="1005840"/>
          </a:xfrm>
          <a:prstGeom prst="roundRect">
            <a:avLst>
              <a:gd name="adj" fmla="val 10909"/>
            </a:avLst>
          </a:prstGeom>
          <a:solidFill>
            <a:srgbClr val="E6F4F0"/>
          </a:solidFill>
          <a:ln w="9525">
            <a:solidFill>
              <a:srgbClr val="DDE1EB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22960" y="539496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5606" y="5537606"/>
            <a:ext cx="263347" cy="26334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554480" y="5303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68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Aporte de valor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1554480" y="559612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0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incertidumbre para el cliente: sabe quién llega, aprueba el precio y su pago está protegido. Para el maestro, un flujo de trabajo estable y garantía de pago.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C6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LO CONSTRUIREMOS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tecnológico: herramientas gratuitas y abiertas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Relwo · Proyecto APT · Fase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86968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Mauricio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65176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9525">
            <a:solidFill>
              <a:srgbClr val="DDE1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F0EEFF"/>
          </a:solidFill>
          <a:ln w="12700">
            <a:solidFill>
              <a:srgbClr val="F0EEFF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1" y="1858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77240" y="2468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72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8163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7C6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móvil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1089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código para Android y iOS. Pantallas construidas a partir del prototipo.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337560" y="1463040"/>
            <a:ext cx="265176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9525">
            <a:solidFill>
              <a:srgbClr val="DDE1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566160" y="1691640"/>
            <a:ext cx="640080" cy="640080"/>
          </a:xfrm>
          <a:prstGeom prst="ellipse">
            <a:avLst/>
          </a:prstGeom>
          <a:solidFill>
            <a:srgbClr val="F0EEFF"/>
          </a:solidFill>
          <a:ln w="12700">
            <a:solidFill>
              <a:srgbClr val="F0EEFF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2581" y="1858061"/>
            <a:ext cx="307238" cy="30723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566160" y="2468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72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3566160" y="28163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7C6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y API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3566160" y="31089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en el servidor. Módulos con responsabilidades cerradas y API documentada.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126480" y="1463040"/>
            <a:ext cx="265176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9525">
            <a:solidFill>
              <a:srgbClr val="DDE1E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355080" y="1691640"/>
            <a:ext cx="640080" cy="640080"/>
          </a:xfrm>
          <a:prstGeom prst="ellipse">
            <a:avLst/>
          </a:prstGeom>
          <a:solidFill>
            <a:srgbClr val="F0EEFF"/>
          </a:solidFill>
          <a:ln w="12700">
            <a:solidFill>
              <a:srgbClr val="F0EEFF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1501" y="1858061"/>
            <a:ext cx="307238" cy="30723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355080" y="2468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72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2000" dirty="0"/>
          </a:p>
        </p:txBody>
      </p:sp>
      <p:sp>
        <p:nvSpPr>
          <p:cNvPr id="22" name="Text 17"/>
          <p:cNvSpPr txBox="1"/>
          <p:nvPr/>
        </p:nvSpPr>
        <p:spPr>
          <a:xfrm>
            <a:off x="6355080" y="28163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7C6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6355080" y="31089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relacional para usuarios, cobertura por comuna, solicitudes, ofertas, estados y pagos.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8915400" y="1463040"/>
            <a:ext cx="265176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9525">
            <a:solidFill>
              <a:srgbClr val="DDE1EB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9144000" y="1691640"/>
            <a:ext cx="640080" cy="640080"/>
          </a:xfrm>
          <a:prstGeom prst="ellipse">
            <a:avLst/>
          </a:prstGeom>
          <a:solidFill>
            <a:srgbClr val="F0EEFF"/>
          </a:solidFill>
          <a:ln w="12700">
            <a:solidFill>
              <a:srgbClr val="F0EEFF"/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10421" y="1858061"/>
            <a:ext cx="307238" cy="307238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144000" y="2468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72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</a:t>
            </a:r>
            <a:endParaRPr lang="en-US" sz="2000" dirty="0"/>
          </a:p>
        </p:txBody>
      </p:sp>
      <p:sp>
        <p:nvSpPr>
          <p:cNvPr id="28" name="Text 22"/>
          <p:cNvSpPr txBox="1"/>
          <p:nvPr/>
        </p:nvSpPr>
        <p:spPr>
          <a:xfrm>
            <a:off x="9144000" y="28163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7C6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administración</a:t>
            </a:r>
            <a:endParaRPr lang="en-US" sz="1100" dirty="0"/>
          </a:p>
        </p:txBody>
      </p:sp>
      <p:sp>
        <p:nvSpPr>
          <p:cNvPr id="29" name="Text 23"/>
          <p:cNvSpPr txBox="1"/>
          <p:nvPr/>
        </p:nvSpPr>
        <p:spPr>
          <a:xfrm>
            <a:off x="9144000" y="31089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web responsivo para operar la plataforma.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548640" y="4206240"/>
            <a:ext cx="3566160" cy="1051560"/>
          </a:xfrm>
          <a:prstGeom prst="roundRect">
            <a:avLst>
              <a:gd name="adj" fmla="val 10435"/>
            </a:avLst>
          </a:prstGeom>
          <a:solidFill>
            <a:srgbClr val="F0EEFF"/>
          </a:solidFill>
          <a:ln w="9525">
            <a:solidFill>
              <a:srgbClr val="DDE1EB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731520" y="44348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4166" y="4577486"/>
            <a:ext cx="263347" cy="263347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1417320" y="42976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72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250" dirty="0"/>
          </a:p>
        </p:txBody>
      </p:sp>
      <p:sp>
        <p:nvSpPr>
          <p:cNvPr id="34" name="Text 27"/>
          <p:cNvSpPr txBox="1"/>
          <p:nvPr/>
        </p:nvSpPr>
        <p:spPr>
          <a:xfrm>
            <a:off x="1417320" y="45720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del código y de la documentación; ramas, revisión de código e integración continua.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4297680" y="4206240"/>
            <a:ext cx="3566160" cy="1051560"/>
          </a:xfrm>
          <a:prstGeom prst="roundRect">
            <a:avLst>
              <a:gd name="adj" fmla="val 10435"/>
            </a:avLst>
          </a:prstGeom>
          <a:solidFill>
            <a:srgbClr val="F0EEFF"/>
          </a:solidFill>
          <a:ln w="9525">
            <a:solidFill>
              <a:srgbClr val="DDE1EB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4480560" y="44348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23206" y="4577486"/>
            <a:ext cx="263347" cy="263347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5166360" y="42976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72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Pasarela de pago (entorno de pruebas)</a:t>
            </a:r>
            <a:endParaRPr lang="en-US" sz="1250" dirty="0"/>
          </a:p>
        </p:txBody>
      </p:sp>
      <p:sp>
        <p:nvSpPr>
          <p:cNvPr id="39" name="Text 31"/>
          <p:cNvSpPr txBox="1"/>
          <p:nvPr/>
        </p:nvSpPr>
        <p:spPr>
          <a:xfrm>
            <a:off x="5166360" y="45720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Detrás de un componente intercambiable, con un simulador mientras se habilita el entorno real. Sin dinero real.</a:t>
            </a:r>
            <a:endParaRPr lang="en-US" sz="1000" dirty="0"/>
          </a:p>
        </p:txBody>
      </p:sp>
      <p:sp>
        <p:nvSpPr>
          <p:cNvPr id="40" name="Shape 32"/>
          <p:cNvSpPr/>
          <p:nvPr/>
        </p:nvSpPr>
        <p:spPr>
          <a:xfrm>
            <a:off x="8046720" y="4206240"/>
            <a:ext cx="3566160" cy="1051560"/>
          </a:xfrm>
          <a:prstGeom prst="roundRect">
            <a:avLst>
              <a:gd name="adj" fmla="val 10435"/>
            </a:avLst>
          </a:prstGeom>
          <a:solidFill>
            <a:srgbClr val="F0EEFF"/>
          </a:solidFill>
          <a:ln w="9525">
            <a:solidFill>
              <a:srgbClr val="DDE1EB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8229600" y="44348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72246" y="4577486"/>
            <a:ext cx="263347" cy="263347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8915400" y="42976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72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de nube</a:t>
            </a:r>
            <a:endParaRPr lang="en-US" sz="1250" dirty="0"/>
          </a:p>
        </p:txBody>
      </p:sp>
      <p:sp>
        <p:nvSpPr>
          <p:cNvPr id="44" name="Text 35"/>
          <p:cNvSpPr txBox="1"/>
          <p:nvPr/>
        </p:nvSpPr>
        <p:spPr>
          <a:xfrm>
            <a:off x="8915400" y="45720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de prueba operativo desde el inicio del semestre para desplegar el backend y el panel.</a:t>
            </a:r>
            <a:endParaRPr lang="en-US" sz="1000" dirty="0"/>
          </a:p>
        </p:txBody>
      </p:sp>
      <p:sp>
        <p:nvSpPr>
          <p:cNvPr id="45" name="Shape 36"/>
          <p:cNvSpPr/>
          <p:nvPr/>
        </p:nvSpPr>
        <p:spPr>
          <a:xfrm>
            <a:off x="548640" y="548640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DDE1EB"/>
            </a:solidFill>
            <a:prstDash val="solid"/>
          </a:ln>
        </p:spPr>
      </p:sp>
      <p:sp>
        <p:nvSpPr>
          <p:cNvPr id="46" name="Shape 37"/>
          <p:cNvSpPr/>
          <p:nvPr/>
        </p:nvSpPr>
        <p:spPr>
          <a:xfrm>
            <a:off x="777240" y="5596128"/>
            <a:ext cx="548640" cy="548640"/>
          </a:xfrm>
          <a:prstGeom prst="ellipse">
            <a:avLst/>
          </a:prstGeom>
          <a:solidFill>
            <a:srgbClr val="F0EEFF"/>
          </a:solidFill>
          <a:ln w="12700">
            <a:solidFill>
              <a:srgbClr val="F0EEFF"/>
            </a:solidFill>
            <a:prstDash val="solid"/>
          </a:ln>
        </p:spPr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9886" y="5738774"/>
            <a:ext cx="263347" cy="263347"/>
          </a:xfrm>
          <a:prstGeom prst="rect">
            <a:avLst/>
          </a:prstGeom>
        </p:spPr>
      </p:pic>
      <p:sp>
        <p:nvSpPr>
          <p:cNvPr id="48" name="Text 38"/>
          <p:cNvSpPr txBox="1"/>
          <p:nvPr/>
        </p:nvSpPr>
        <p:spPr>
          <a:xfrm>
            <a:off x="1508760" y="55595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43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reglas de diseño desde el inicio</a:t>
            </a:r>
            <a:endParaRPr lang="en-US" sz="1250" dirty="0"/>
          </a:p>
        </p:txBody>
      </p:sp>
      <p:sp>
        <p:nvSpPr>
          <p:cNvPr id="49" name="Text 39"/>
          <p:cNvSpPr txBox="1"/>
          <p:nvPr/>
        </p:nvSpPr>
        <p:spPr>
          <a:xfrm>
            <a:off x="1508760" y="5815584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0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montos se calculan en el servidor, nunca en la app ni en el panel. Y el pago pasa siempre por un componente intercambiable, para no depender del tercero durante el desarrollo.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C6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APLICACIÓN · PROTOTIPO NAVEGABLE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app: qué podrá hacer cada persona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Relwo · Proyecto APT · Fase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86968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Tania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17320"/>
            <a:ext cx="2331720" cy="399592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54864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43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· Inicio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574243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Categorías de servicio y acceso a emergencias</a:t>
            </a:r>
            <a:endParaRPr lang="en-US" sz="10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1417320"/>
            <a:ext cx="2331720" cy="399592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246120" y="54864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43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C07 · Ofertas en vivo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3108960" y="574243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Ofertas de maestros con valor de referencia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035040" y="1417320"/>
            <a:ext cx="55778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DE1E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263640" y="1645920"/>
            <a:ext cx="548640" cy="548640"/>
          </a:xfrm>
          <a:prstGeom prst="ellipse">
            <a:avLst/>
          </a:prstGeom>
          <a:solidFill>
            <a:srgbClr val="F0EEFF"/>
          </a:solidFill>
          <a:ln w="12700">
            <a:solidFill>
              <a:srgbClr val="F0EEFF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6286" y="1788566"/>
            <a:ext cx="263347" cy="26334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949440" y="170992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72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cliente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6309360" y="2286000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0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Registro, verificación de identidad y perfil del hogar con su comuna.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0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 de limpieza, gasfitería o cerrajería, agendada o de emergencia.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0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de ofertas y elección del maestro.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0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Aprobación del monto definitivo, pago protegido y cierre con código.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035040" y="3886200"/>
            <a:ext cx="55778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DE1EB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263640" y="4114800"/>
            <a:ext cx="548640" cy="548640"/>
          </a:xfrm>
          <a:prstGeom prst="ellipse">
            <a:avLst/>
          </a:prstGeom>
          <a:solidFill>
            <a:srgbClr val="F0EEFF"/>
          </a:solidFill>
          <a:ln w="12700">
            <a:solidFill>
              <a:srgbClr val="F0EEFF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6286" y="4257446"/>
            <a:ext cx="263347" cy="263347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949440" y="41788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72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maestro</a:t>
            </a:r>
            <a:endParaRPr lang="en-US" sz="1700" dirty="0"/>
          </a:p>
        </p:txBody>
      </p:sp>
      <p:sp>
        <p:nvSpPr>
          <p:cNvPr id="21" name="Text 15"/>
          <p:cNvSpPr txBox="1"/>
          <p:nvPr/>
        </p:nvSpPr>
        <p:spPr>
          <a:xfrm>
            <a:off x="6309360" y="4754880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0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profesional: oficios, comunas de cobertura y disponibilidad.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0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Solicitudes abiertas que calzan con su perfil, para decidir dónde ofertar.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0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llegada, cotización en terreno y gastos imprevistos con autorización.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0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con fotografía del trabajo, evaluación e ingresos.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C6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APLICACIÓN · PROTOTIPO NAVEGABLE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 el sistema de pedidos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Relwo · Proyecto APT · Fase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86968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Tania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63040"/>
            <a:ext cx="1600200" cy="2743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429768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maestro ve las solicitudes que calzan con su oficio y comuna, y decide dónde ofertar.</a:t>
            </a:r>
            <a:endParaRPr lang="en-US" sz="10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1760" y="1463040"/>
            <a:ext cx="1600200" cy="27432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514600" y="429768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llegar registra el estado inicial y, si hace falta, cotiza y pide autorización.</a:t>
            </a:r>
            <a:endParaRPr lang="en-US" sz="10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1463040"/>
            <a:ext cx="1600200" cy="27432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480560" y="429768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paga dentro de la app y el dinero queda protegido hasta el cierre.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6675120" y="1463040"/>
            <a:ext cx="4937760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DE1EB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6858000" y="1682496"/>
            <a:ext cx="548640" cy="548640"/>
          </a:xfrm>
          <a:prstGeom prst="ellipse">
            <a:avLst/>
          </a:prstGeom>
          <a:solidFill>
            <a:srgbClr val="F0EEFF"/>
          </a:solidFill>
          <a:ln w="12700">
            <a:solidFill>
              <a:srgbClr val="F0EEFF"/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0646" y="1825142"/>
            <a:ext cx="263347" cy="263347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589520" y="157276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72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Publicación, no asignación</a:t>
            </a:r>
            <a:endParaRPr lang="en-US" sz="1350" dirty="0"/>
          </a:p>
        </p:txBody>
      </p:sp>
      <p:sp>
        <p:nvSpPr>
          <p:cNvPr id="16" name="Text 10"/>
          <p:cNvSpPr txBox="1"/>
          <p:nvPr/>
        </p:nvSpPr>
        <p:spPr>
          <a:xfrm>
            <a:off x="7589520" y="1865376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solicitud se publica y se notifica a los maestros compatibles. Nadie es asignado por la plataforma: el cliente elige entre las ofertas.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6675120" y="2560320"/>
            <a:ext cx="4937760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DE1EB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6858000" y="2779776"/>
            <a:ext cx="548640" cy="548640"/>
          </a:xfrm>
          <a:prstGeom prst="ellipse">
            <a:avLst/>
          </a:prstGeom>
          <a:solidFill>
            <a:srgbClr val="F0EEFF"/>
          </a:solidFill>
          <a:ln w="12700">
            <a:solidFill>
              <a:srgbClr val="F0EEFF"/>
            </a:solidFill>
            <a:prstDash val="solid"/>
          </a:ln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0646" y="2922422"/>
            <a:ext cx="263347" cy="263347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7589520" y="267004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72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aprobado antes de trabajar</a:t>
            </a:r>
            <a:endParaRPr lang="en-US" sz="1350" dirty="0"/>
          </a:p>
        </p:txBody>
      </p:sp>
      <p:sp>
        <p:nvSpPr>
          <p:cNvPr id="21" name="Text 14"/>
          <p:cNvSpPr txBox="1"/>
          <p:nvPr/>
        </p:nvSpPr>
        <p:spPr>
          <a:xfrm>
            <a:off x="7589520" y="2962656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oferta trae un estimado. Si en terreno el problema es otro, el maestro propone un monto nuevo y el cliente lo autoriza antes de continuar.</a:t>
            </a:r>
            <a:endParaRPr lang="en-US" sz="1050" dirty="0"/>
          </a:p>
        </p:txBody>
      </p:sp>
      <p:sp>
        <p:nvSpPr>
          <p:cNvPr id="22" name="Shape 15"/>
          <p:cNvSpPr/>
          <p:nvPr/>
        </p:nvSpPr>
        <p:spPr>
          <a:xfrm>
            <a:off x="6675120" y="3657600"/>
            <a:ext cx="4937760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DE1EB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6858000" y="3877056"/>
            <a:ext cx="548640" cy="548640"/>
          </a:xfrm>
          <a:prstGeom prst="ellipse">
            <a:avLst/>
          </a:prstGeom>
          <a:solidFill>
            <a:srgbClr val="F0EEFF"/>
          </a:solidFill>
          <a:ln w="12700">
            <a:solidFill>
              <a:srgbClr val="F0EEFF"/>
            </a:solidFill>
            <a:prstDash val="solid"/>
          </a:ln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00646" y="4019702"/>
            <a:ext cx="263347" cy="263347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7589520" y="37673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72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protegido</a:t>
            </a:r>
            <a:endParaRPr lang="en-US" sz="1350" dirty="0"/>
          </a:p>
        </p:txBody>
      </p:sp>
      <p:sp>
        <p:nvSpPr>
          <p:cNvPr id="26" name="Text 18"/>
          <p:cNvSpPr txBox="1"/>
          <p:nvPr/>
        </p:nvSpPr>
        <p:spPr>
          <a:xfrm>
            <a:off x="7589520" y="4059936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pago se hace dentro de la plataforma y queda retenido hasta el cierre. Se integra contra el entorno de pruebas de una pasarela, sin dinero real.</a:t>
            </a:r>
            <a:endParaRPr lang="en-US" sz="1050" dirty="0"/>
          </a:p>
        </p:txBody>
      </p:sp>
      <p:sp>
        <p:nvSpPr>
          <p:cNvPr id="27" name="Shape 19"/>
          <p:cNvSpPr/>
          <p:nvPr/>
        </p:nvSpPr>
        <p:spPr>
          <a:xfrm>
            <a:off x="6675120" y="4754880"/>
            <a:ext cx="4937760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DE1EB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6858000" y="4974336"/>
            <a:ext cx="548640" cy="548640"/>
          </a:xfrm>
          <a:prstGeom prst="ellipse">
            <a:avLst/>
          </a:prstGeom>
          <a:solidFill>
            <a:srgbClr val="F0EEFF"/>
          </a:solidFill>
          <a:ln w="12700">
            <a:solidFill>
              <a:srgbClr val="F0EEFF"/>
            </a:solidFill>
            <a:prstDash val="solid"/>
          </a:ln>
        </p:spPr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00646" y="5116982"/>
            <a:ext cx="263347" cy="263347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7589520" y="486460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72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con conformidad de ambos</a:t>
            </a:r>
            <a:endParaRPr lang="en-US" sz="1350" dirty="0"/>
          </a:p>
        </p:txBody>
      </p:sp>
      <p:sp>
        <p:nvSpPr>
          <p:cNvPr id="31" name="Text 22"/>
          <p:cNvSpPr txBox="1"/>
          <p:nvPr/>
        </p:nvSpPr>
        <p:spPr>
          <a:xfrm>
            <a:off x="7589520" y="5157216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maestro sube la fotografía del trabajo; el cliente confirma con un código de tres dígitos y se libera el pago.</a:t>
            </a:r>
            <a:endParaRPr lang="en-US" sz="1050" dirty="0"/>
          </a:p>
        </p:txBody>
      </p:sp>
      <p:sp>
        <p:nvSpPr>
          <p:cNvPr id="32" name="Text 23"/>
          <p:cNvSpPr txBox="1"/>
          <p:nvPr/>
        </p:nvSpPr>
        <p:spPr>
          <a:xfrm>
            <a:off x="548640" y="58064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243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montos se calculan en el servidor: el cliente y el maestro ven siempre el mismo valor.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C6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ADMINISTRACIÓN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torre de control: cómo se opera la plataforma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Relwo · Proyecto APT · Fase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86968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Tania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603504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DE1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17320"/>
            <a:ext cx="1417320" cy="4754880"/>
          </a:xfrm>
          <a:prstGeom prst="roundRect">
            <a:avLst>
              <a:gd name="adj" fmla="val 7742"/>
            </a:avLst>
          </a:prstGeom>
          <a:solidFill>
            <a:srgbClr val="243B6B"/>
          </a:solidFill>
          <a:ln w="12700">
            <a:solidFill>
              <a:srgbClr val="243B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63040" y="1417320"/>
            <a:ext cx="502920" cy="4754880"/>
          </a:xfrm>
          <a:prstGeom prst="rect">
            <a:avLst/>
          </a:prstGeom>
          <a:solidFill>
            <a:srgbClr val="243B6B"/>
          </a:solidFill>
          <a:ln w="12700">
            <a:solidFill>
              <a:srgbClr val="243B6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6002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RELWO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2075688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2459736"/>
            <a:ext cx="1234440" cy="329184"/>
          </a:xfrm>
          <a:prstGeom prst="roundRect">
            <a:avLst>
              <a:gd name="adj" fmla="val 16667"/>
            </a:avLst>
          </a:prstGeom>
          <a:solidFill>
            <a:srgbClr val="172442"/>
          </a:solidFill>
          <a:ln w="12700">
            <a:solidFill>
              <a:srgbClr val="1724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2459736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749808" y="2843784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Publicaciones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749808" y="3227832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361188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Comunas y servicios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749808" y="3995928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749808" y="4379976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749808" y="4764024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219456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72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Solicitudes de registro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194560" y="1874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Pendientes de aprobación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194560" y="2240280"/>
            <a:ext cx="1325880" cy="731520"/>
          </a:xfrm>
          <a:prstGeom prst="roundRect">
            <a:avLst>
              <a:gd name="adj" fmla="val 10000"/>
            </a:avLst>
          </a:prstGeom>
          <a:solidFill>
            <a:srgbClr val="F0EEFF"/>
          </a:solidFill>
          <a:ln w="12700">
            <a:solidFill>
              <a:srgbClr val="F0EE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331720" y="22860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43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2331720" y="26334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0" y="2240280"/>
            <a:ext cx="1325880" cy="731520"/>
          </a:xfrm>
          <a:prstGeom prst="roundRect">
            <a:avLst>
              <a:gd name="adj" fmla="val 10000"/>
            </a:avLst>
          </a:prstGeom>
          <a:solidFill>
            <a:srgbClr val="FCEFDD"/>
          </a:solidFill>
          <a:ln w="12700">
            <a:solidFill>
              <a:srgbClr val="FCEFD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794760" y="22860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8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3794760" y="26334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120640" y="2240280"/>
            <a:ext cx="1325880" cy="731520"/>
          </a:xfrm>
          <a:prstGeom prst="roundRect">
            <a:avLst>
              <a:gd name="adj" fmla="val 10000"/>
            </a:avLst>
          </a:prstGeom>
          <a:solidFill>
            <a:srgbClr val="E6F4F0"/>
          </a:solidFill>
          <a:ln w="12700">
            <a:solidFill>
              <a:srgbClr val="E6F4F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257800" y="22860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68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5257800" y="26334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aprobadas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194560" y="3200400"/>
            <a:ext cx="4206240" cy="274320"/>
          </a:xfrm>
          <a:prstGeom prst="rect">
            <a:avLst/>
          </a:prstGeom>
          <a:solidFill>
            <a:srgbClr val="F6F7FB"/>
          </a:solidFill>
          <a:ln w="12700">
            <a:solidFill>
              <a:srgbClr val="F6F7F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286000" y="3200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3657600" y="3200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5029200" y="3200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Comuna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5852160" y="3200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94560" y="3904488"/>
            <a:ext cx="4206240" cy="0"/>
          </a:xfrm>
          <a:prstGeom prst="line">
            <a:avLst/>
          </a:prstGeom>
          <a:noFill/>
          <a:ln w="6350">
            <a:solidFill>
              <a:srgbClr val="DDE1E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286000" y="35204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0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Marcela Soto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3657600" y="35204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Maestra · Gasfitería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5029200" y="35204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Ñuñoa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760720" y="3593592"/>
            <a:ext cx="594360" cy="237744"/>
          </a:xfrm>
          <a:prstGeom prst="roundRect">
            <a:avLst>
              <a:gd name="adj" fmla="val 19231"/>
            </a:avLst>
          </a:prstGeom>
          <a:solidFill>
            <a:srgbClr val="F06449"/>
          </a:solidFill>
          <a:ln w="12700">
            <a:solidFill>
              <a:srgbClr val="F06449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760720" y="359359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194560" y="4288536"/>
            <a:ext cx="4206240" cy="0"/>
          </a:xfrm>
          <a:prstGeom prst="line">
            <a:avLst/>
          </a:prstGeom>
          <a:noFill/>
          <a:ln w="6350">
            <a:solidFill>
              <a:srgbClr val="DDE1E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2286000" y="390448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0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Jorge Muñoz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3657600" y="390448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Maestro · Cerrajería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5029200" y="390448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Santiago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760720" y="3977640"/>
            <a:ext cx="594360" cy="237744"/>
          </a:xfrm>
          <a:prstGeom prst="roundRect">
            <a:avLst>
              <a:gd name="adj" fmla="val 19231"/>
            </a:avLst>
          </a:prstGeom>
          <a:solidFill>
            <a:srgbClr val="F06449"/>
          </a:solidFill>
          <a:ln w="12700">
            <a:solidFill>
              <a:srgbClr val="F06449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760720" y="397764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194560" y="4672584"/>
            <a:ext cx="4206240" cy="0"/>
          </a:xfrm>
          <a:prstGeom prst="line">
            <a:avLst/>
          </a:prstGeom>
          <a:noFill/>
          <a:ln w="6350">
            <a:solidFill>
              <a:srgbClr val="DDE1EB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2286000" y="428853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0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Camila Vergara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3657600" y="428853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5029200" y="428853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Condes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760720" y="4361688"/>
            <a:ext cx="594360" cy="237744"/>
          </a:xfrm>
          <a:prstGeom prst="roundRect">
            <a:avLst>
              <a:gd name="adj" fmla="val 19231"/>
            </a:avLst>
          </a:prstGeom>
          <a:solidFill>
            <a:srgbClr val="F06449"/>
          </a:solidFill>
          <a:ln w="12700">
            <a:solidFill>
              <a:srgbClr val="F06449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760720" y="436168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2194560" y="5056632"/>
            <a:ext cx="4206240" cy="0"/>
          </a:xfrm>
          <a:prstGeom prst="line">
            <a:avLst/>
          </a:prstGeom>
          <a:noFill/>
          <a:ln w="6350">
            <a:solidFill>
              <a:srgbClr val="DDE1EB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2286000" y="467258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0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Daniela Rivas</a:t>
            </a:r>
            <a:endParaRPr lang="en-US" sz="950" dirty="0"/>
          </a:p>
        </p:txBody>
      </p:sp>
      <p:sp>
        <p:nvSpPr>
          <p:cNvPr id="55" name="Text 53"/>
          <p:cNvSpPr txBox="1"/>
          <p:nvPr/>
        </p:nvSpPr>
        <p:spPr>
          <a:xfrm>
            <a:off x="3657600" y="467258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Maestra · Limpieza</a:t>
            </a:r>
            <a:endParaRPr lang="en-US" sz="900" dirty="0"/>
          </a:p>
        </p:txBody>
      </p:sp>
      <p:sp>
        <p:nvSpPr>
          <p:cNvPr id="56" name="Text 54"/>
          <p:cNvSpPr txBox="1"/>
          <p:nvPr/>
        </p:nvSpPr>
        <p:spPr>
          <a:xfrm>
            <a:off x="5029200" y="467258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Vitacura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760720" y="4745736"/>
            <a:ext cx="594360" cy="237744"/>
          </a:xfrm>
          <a:prstGeom prst="roundRect">
            <a:avLst>
              <a:gd name="adj" fmla="val 19231"/>
            </a:avLst>
          </a:prstGeom>
          <a:solidFill>
            <a:srgbClr val="F06449"/>
          </a:solidFill>
          <a:ln w="12700">
            <a:solidFill>
              <a:srgbClr val="F06449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5760720" y="4745736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</a:t>
            </a:r>
            <a:endParaRPr lang="en-US" sz="800" dirty="0"/>
          </a:p>
        </p:txBody>
      </p:sp>
      <p:sp>
        <p:nvSpPr>
          <p:cNvPr id="59" name="Text 57"/>
          <p:cNvSpPr txBox="1"/>
          <p:nvPr/>
        </p:nvSpPr>
        <p:spPr>
          <a:xfrm>
            <a:off x="548640" y="624535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Boceto ilustrativo del panel web. Las pantallas definitivas se diseñan en la etapa de diseño.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858000" y="1463040"/>
            <a:ext cx="475488" cy="475488"/>
          </a:xfrm>
          <a:prstGeom prst="ellipse">
            <a:avLst/>
          </a:prstGeom>
          <a:solidFill>
            <a:srgbClr val="F0EEFF"/>
          </a:solidFill>
          <a:ln w="12700">
            <a:solidFill>
              <a:srgbClr val="F0EEFF"/>
            </a:solidFill>
            <a:prstDash val="solid"/>
          </a:ln>
        </p:spPr>
      </p:sp>
      <p:pic>
        <p:nvPicPr>
          <p:cNvPr id="6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1627" y="1586667"/>
            <a:ext cx="228234" cy="228234"/>
          </a:xfrm>
          <a:prstGeom prst="rect">
            <a:avLst/>
          </a:prstGeom>
        </p:spPr>
      </p:pic>
      <p:sp>
        <p:nvSpPr>
          <p:cNvPr id="62" name="Text 59"/>
          <p:cNvSpPr txBox="1"/>
          <p:nvPr/>
        </p:nvSpPr>
        <p:spPr>
          <a:xfrm>
            <a:off x="7498080" y="1417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72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Aprobar registros</a:t>
            </a:r>
            <a:endParaRPr lang="en-US" sz="1250" dirty="0"/>
          </a:p>
        </p:txBody>
      </p:sp>
      <p:sp>
        <p:nvSpPr>
          <p:cNvPr id="63" name="Text 60"/>
          <p:cNvSpPr txBox="1"/>
          <p:nvPr/>
        </p:nvSpPr>
        <p:spPr>
          <a:xfrm>
            <a:off x="7498080" y="168249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y aprobar o rechazar, con motivo, las cuentas de maestros y clientes que se registran.</a:t>
            </a:r>
            <a:endParaRPr lang="en-US" sz="1000" dirty="0"/>
          </a:p>
        </p:txBody>
      </p:sp>
      <p:sp>
        <p:nvSpPr>
          <p:cNvPr id="64" name="Shape 61"/>
          <p:cNvSpPr/>
          <p:nvPr/>
        </p:nvSpPr>
        <p:spPr>
          <a:xfrm>
            <a:off x="6858000" y="2267712"/>
            <a:ext cx="475488" cy="475488"/>
          </a:xfrm>
          <a:prstGeom prst="ellipse">
            <a:avLst/>
          </a:prstGeom>
          <a:solidFill>
            <a:srgbClr val="F0EEFF"/>
          </a:solidFill>
          <a:ln w="12700">
            <a:solidFill>
              <a:srgbClr val="F0EEFF"/>
            </a:solidFill>
            <a:prstDash val="solid"/>
          </a:ln>
        </p:spPr>
      </p:sp>
      <p:pic>
        <p:nvPicPr>
          <p:cNvPr id="6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1627" y="2391339"/>
            <a:ext cx="228234" cy="228234"/>
          </a:xfrm>
          <a:prstGeom prst="rect">
            <a:avLst/>
          </a:prstGeom>
        </p:spPr>
      </p:pic>
      <p:sp>
        <p:nvSpPr>
          <p:cNvPr id="66" name="Text 62"/>
          <p:cNvSpPr txBox="1"/>
          <p:nvPr/>
        </p:nvSpPr>
        <p:spPr>
          <a:xfrm>
            <a:off x="7498080" y="22219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72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Administrar comunas y servicios</a:t>
            </a:r>
            <a:endParaRPr lang="en-US" sz="1250" dirty="0"/>
          </a:p>
        </p:txBody>
      </p:sp>
      <p:sp>
        <p:nvSpPr>
          <p:cNvPr id="67" name="Text 63"/>
          <p:cNvSpPr txBox="1"/>
          <p:nvPr/>
        </p:nvSpPr>
        <p:spPr>
          <a:xfrm>
            <a:off x="7498080" y="24871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 o desactivar comunas de cobertura y los servicios contratables, sin tocar el código.</a:t>
            </a:r>
            <a:endParaRPr lang="en-US" sz="1000" dirty="0"/>
          </a:p>
        </p:txBody>
      </p:sp>
      <p:sp>
        <p:nvSpPr>
          <p:cNvPr id="68" name="Shape 64"/>
          <p:cNvSpPr/>
          <p:nvPr/>
        </p:nvSpPr>
        <p:spPr>
          <a:xfrm>
            <a:off x="6858000" y="3072384"/>
            <a:ext cx="475488" cy="475488"/>
          </a:xfrm>
          <a:prstGeom prst="ellipse">
            <a:avLst/>
          </a:prstGeom>
          <a:solidFill>
            <a:srgbClr val="F0EEFF"/>
          </a:solidFill>
          <a:ln w="12700">
            <a:solidFill>
              <a:srgbClr val="F0EEFF"/>
            </a:solidFill>
            <a:prstDash val="solid"/>
          </a:ln>
        </p:spPr>
      </p:sp>
      <p:pic>
        <p:nvPicPr>
          <p:cNvPr id="6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1627" y="3196011"/>
            <a:ext cx="228234" cy="228234"/>
          </a:xfrm>
          <a:prstGeom prst="rect">
            <a:avLst/>
          </a:prstGeom>
        </p:spPr>
      </p:pic>
      <p:sp>
        <p:nvSpPr>
          <p:cNvPr id="70" name="Text 65"/>
          <p:cNvSpPr txBox="1"/>
          <p:nvPr/>
        </p:nvSpPr>
        <p:spPr>
          <a:xfrm>
            <a:off x="7498080" y="302666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72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parámetros de operación</a:t>
            </a:r>
            <a:endParaRPr lang="en-US" sz="1250" dirty="0"/>
          </a:p>
        </p:txBody>
      </p:sp>
      <p:sp>
        <p:nvSpPr>
          <p:cNvPr id="71" name="Text 66"/>
          <p:cNvSpPr txBox="1"/>
          <p:nvPr/>
        </p:nvSpPr>
        <p:spPr>
          <a:xfrm>
            <a:off x="7498080" y="32918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Plazos de publicación, comisiones y rangos de tarifa: son datos, no código.</a:t>
            </a:r>
            <a:endParaRPr lang="en-US" sz="1000" dirty="0"/>
          </a:p>
        </p:txBody>
      </p:sp>
      <p:sp>
        <p:nvSpPr>
          <p:cNvPr id="72" name="Shape 67"/>
          <p:cNvSpPr/>
          <p:nvPr/>
        </p:nvSpPr>
        <p:spPr>
          <a:xfrm>
            <a:off x="6858000" y="3877056"/>
            <a:ext cx="475488" cy="475488"/>
          </a:xfrm>
          <a:prstGeom prst="ellipse">
            <a:avLst/>
          </a:prstGeom>
          <a:solidFill>
            <a:srgbClr val="F0EEFF"/>
          </a:solidFill>
          <a:ln w="12700">
            <a:solidFill>
              <a:srgbClr val="F0EEFF"/>
            </a:solidFill>
            <a:prstDash val="solid"/>
          </a:ln>
        </p:spPr>
      </p:sp>
      <p:pic>
        <p:nvPicPr>
          <p:cNvPr id="7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1627" y="4000683"/>
            <a:ext cx="228234" cy="228234"/>
          </a:xfrm>
          <a:prstGeom prst="rect">
            <a:avLst/>
          </a:prstGeom>
        </p:spPr>
      </p:pic>
      <p:sp>
        <p:nvSpPr>
          <p:cNvPr id="74" name="Text 68"/>
          <p:cNvSpPr txBox="1"/>
          <p:nvPr/>
        </p:nvSpPr>
        <p:spPr>
          <a:xfrm>
            <a:off x="7498080" y="38313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72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Seguir publicaciones y servicios</a:t>
            </a:r>
            <a:endParaRPr lang="en-US" sz="1250" dirty="0"/>
          </a:p>
        </p:txBody>
      </p:sp>
      <p:sp>
        <p:nvSpPr>
          <p:cNvPr id="75" name="Text 69"/>
          <p:cNvSpPr txBox="1"/>
          <p:nvPr/>
        </p:nvSpPr>
        <p:spPr>
          <a:xfrm>
            <a:off x="7498080" y="409651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las solicitudes abiertas, las ofertas recibidas y en qué estado está cada servicio.</a:t>
            </a:r>
            <a:endParaRPr lang="en-US" sz="1000" dirty="0"/>
          </a:p>
        </p:txBody>
      </p:sp>
      <p:sp>
        <p:nvSpPr>
          <p:cNvPr id="76" name="Shape 70"/>
          <p:cNvSpPr/>
          <p:nvPr/>
        </p:nvSpPr>
        <p:spPr>
          <a:xfrm>
            <a:off x="6858000" y="4681728"/>
            <a:ext cx="475488" cy="475488"/>
          </a:xfrm>
          <a:prstGeom prst="ellipse">
            <a:avLst/>
          </a:prstGeom>
          <a:solidFill>
            <a:srgbClr val="F0EEFF"/>
          </a:solidFill>
          <a:ln w="12700">
            <a:solidFill>
              <a:srgbClr val="F0EEFF"/>
            </a:solidFill>
            <a:prstDash val="solid"/>
          </a:ln>
        </p:spPr>
      </p:sp>
      <p:pic>
        <p:nvPicPr>
          <p:cNvPr id="7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1627" y="4805355"/>
            <a:ext cx="228234" cy="228234"/>
          </a:xfrm>
          <a:prstGeom prst="rect">
            <a:avLst/>
          </a:prstGeom>
        </p:spPr>
      </p:pic>
      <p:sp>
        <p:nvSpPr>
          <p:cNvPr id="78" name="Text 71"/>
          <p:cNvSpPr txBox="1"/>
          <p:nvPr/>
        </p:nvSpPr>
        <p:spPr>
          <a:xfrm>
            <a:off x="7498080" y="46360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72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y casos</a:t>
            </a:r>
            <a:endParaRPr lang="en-US" sz="1250" dirty="0"/>
          </a:p>
        </p:txBody>
      </p:sp>
      <p:sp>
        <p:nvSpPr>
          <p:cNvPr id="79" name="Text 72"/>
          <p:cNvSpPr txBox="1"/>
          <p:nvPr/>
        </p:nvSpPr>
        <p:spPr>
          <a:xfrm>
            <a:off x="7498080" y="490118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Asignar manualmente un maestro cuando nadie ofertó y atender disputas entre las partes.</a:t>
            </a:r>
            <a:endParaRPr lang="en-US" sz="1000" dirty="0"/>
          </a:p>
        </p:txBody>
      </p:sp>
      <p:sp>
        <p:nvSpPr>
          <p:cNvPr id="80" name="Shape 73"/>
          <p:cNvSpPr/>
          <p:nvPr/>
        </p:nvSpPr>
        <p:spPr>
          <a:xfrm>
            <a:off x="6858000" y="5486400"/>
            <a:ext cx="475488" cy="475488"/>
          </a:xfrm>
          <a:prstGeom prst="ellipse">
            <a:avLst/>
          </a:prstGeom>
          <a:solidFill>
            <a:srgbClr val="F0EEFF"/>
          </a:solidFill>
          <a:ln w="12700">
            <a:solidFill>
              <a:srgbClr val="F0EEFF"/>
            </a:solidFill>
            <a:prstDash val="solid"/>
          </a:ln>
        </p:spPr>
      </p:sp>
      <p:pic>
        <p:nvPicPr>
          <p:cNvPr id="8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81627" y="5610027"/>
            <a:ext cx="228234" cy="228234"/>
          </a:xfrm>
          <a:prstGeom prst="rect">
            <a:avLst/>
          </a:prstGeom>
        </p:spPr>
      </p:pic>
      <p:sp>
        <p:nvSpPr>
          <p:cNvPr id="82" name="Text 74"/>
          <p:cNvSpPr txBox="1"/>
          <p:nvPr/>
        </p:nvSpPr>
        <p:spPr>
          <a:xfrm>
            <a:off x="7498080" y="5440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72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</a:t>
            </a:r>
            <a:endParaRPr lang="en-US" sz="1250" dirty="0"/>
          </a:p>
        </p:txBody>
      </p:sp>
      <p:sp>
        <p:nvSpPr>
          <p:cNvPr id="83" name="Text 75"/>
          <p:cNvSpPr txBox="1"/>
          <p:nvPr/>
        </p:nvSpPr>
        <p:spPr>
          <a:xfrm>
            <a:off x="7498080" y="570585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acción administrativa queda registrada: quién la hizo y cuándo.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C6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con sprints de una semana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Relwo · Proyecto APT · Fase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86968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Nayareth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0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Entregamos el producto por partes funcionales y corregimos el rumbo cada semana, en lugar de esperar al final del semestre. Todo el trabajo se versiona en GitHub, donde también publicamos la documentación.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DE1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377440"/>
            <a:ext cx="548640" cy="548640"/>
          </a:xfrm>
          <a:prstGeom prst="ellipse">
            <a:avLst/>
          </a:prstGeom>
          <a:solidFill>
            <a:srgbClr val="F0EEFF"/>
          </a:solidFill>
          <a:ln w="12700">
            <a:solidFill>
              <a:srgbClr val="F0EEFF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2520086"/>
            <a:ext cx="263347" cy="26334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463040" y="245059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0175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Lunes. Qué entra al sprint y quién lo toma.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337560" y="219456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DE1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566160" y="2377440"/>
            <a:ext cx="548640" cy="548640"/>
          </a:xfrm>
          <a:prstGeom prst="ellipse">
            <a:avLst/>
          </a:prstGeom>
          <a:solidFill>
            <a:srgbClr val="F0EEFF"/>
          </a:solidFill>
          <a:ln w="12700">
            <a:solidFill>
              <a:srgbClr val="F0EEFF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8806" y="2520086"/>
            <a:ext cx="263347" cy="26334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251960" y="245059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Sincronización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3566160" y="30175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Breve, durante la semana. Qué se hizo, qué sigue, qué traba.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126480" y="219456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DE1EB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355080" y="2377440"/>
            <a:ext cx="548640" cy="548640"/>
          </a:xfrm>
          <a:prstGeom prst="ellipse">
            <a:avLst/>
          </a:prstGeom>
          <a:solidFill>
            <a:srgbClr val="F0EEFF"/>
          </a:solidFill>
          <a:ln w="12700">
            <a:solidFill>
              <a:srgbClr val="F0EEFF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7726" y="2520086"/>
            <a:ext cx="263347" cy="263347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040880" y="245059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6355080" y="30175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Viernes. Se muestra lo construido y se define el sprint siguiente.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8915400" y="219456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DE1EB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144000" y="2377440"/>
            <a:ext cx="548640" cy="548640"/>
          </a:xfrm>
          <a:prstGeom prst="ellipse">
            <a:avLst/>
          </a:prstGeom>
          <a:solidFill>
            <a:srgbClr val="F0EEFF"/>
          </a:solidFill>
          <a:ln w="12700">
            <a:solidFill>
              <a:srgbClr val="F0EEFF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6646" y="2520086"/>
            <a:ext cx="263347" cy="26334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829800" y="245059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Retrospectiva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9144000" y="30175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resultó y qué debemos ajustar, por escrito.</a:t>
            </a:r>
            <a:endParaRPr lang="en-US" sz="1100" dirty="0"/>
          </a:p>
        </p:txBody>
      </p:sp>
      <p:sp>
        <p:nvSpPr>
          <p:cNvPr id="27" name="Text 21"/>
          <p:cNvSpPr txBox="1"/>
          <p:nvPr/>
        </p:nvSpPr>
        <p:spPr>
          <a:xfrm>
            <a:off x="548640" y="3977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43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 del desarrollo</a:t>
            </a:r>
            <a:endParaRPr lang="en-US" sz="1500" dirty="0"/>
          </a:p>
        </p:txBody>
      </p:sp>
      <p:sp>
        <p:nvSpPr>
          <p:cNvPr id="28" name="Shape 22"/>
          <p:cNvSpPr/>
          <p:nvPr/>
        </p:nvSpPr>
        <p:spPr>
          <a:xfrm>
            <a:off x="548640" y="4389120"/>
            <a:ext cx="2103120" cy="457200"/>
          </a:xfrm>
          <a:prstGeom prst="roundRect">
            <a:avLst>
              <a:gd name="adj" fmla="val 16000"/>
            </a:avLst>
          </a:prstGeom>
          <a:solidFill>
            <a:srgbClr val="243B6B"/>
          </a:solidFill>
          <a:ln w="12700">
            <a:solidFill>
              <a:srgbClr val="243B6B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685800" y="43891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Levantamiento y análisis</a:t>
            </a:r>
            <a:endParaRPr lang="en-US" sz="1150" dirty="0"/>
          </a:p>
        </p:txBody>
      </p:sp>
      <p:sp>
        <p:nvSpPr>
          <p:cNvPr id="30" name="Text 24"/>
          <p:cNvSpPr txBox="1"/>
          <p:nvPr/>
        </p:nvSpPr>
        <p:spPr>
          <a:xfrm>
            <a:off x="548640" y="49377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Requerimientos, recorrido del usuario y reglas de negocio.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2788920" y="4389120"/>
            <a:ext cx="2103120" cy="457200"/>
          </a:xfrm>
          <a:prstGeom prst="roundRect">
            <a:avLst>
              <a:gd name="adj" fmla="val 16000"/>
            </a:avLst>
          </a:prstGeom>
          <a:solidFill>
            <a:srgbClr val="243B6B"/>
          </a:solidFill>
          <a:ln w="12700">
            <a:solidFill>
              <a:srgbClr val="243B6B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2926080" y="43891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Diseño</a:t>
            </a:r>
            <a:endParaRPr lang="en-US" sz="1150" dirty="0"/>
          </a:p>
        </p:txBody>
      </p:sp>
      <p:sp>
        <p:nvSpPr>
          <p:cNvPr id="33" name="Text 27"/>
          <p:cNvSpPr txBox="1"/>
          <p:nvPr/>
        </p:nvSpPr>
        <p:spPr>
          <a:xfrm>
            <a:off x="2788920" y="49377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Arquitectura, modelo de datos y prototipo navegable.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5029200" y="4389120"/>
            <a:ext cx="2103120" cy="457200"/>
          </a:xfrm>
          <a:prstGeom prst="roundRect">
            <a:avLst>
              <a:gd name="adj" fmla="val 16000"/>
            </a:avLst>
          </a:prstGeom>
          <a:solidFill>
            <a:srgbClr val="243B6B"/>
          </a:solidFill>
          <a:ln w="12700">
            <a:solidFill>
              <a:srgbClr val="243B6B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5166360" y="43891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Construcción iterativa</a:t>
            </a:r>
            <a:endParaRPr lang="en-US" sz="1150" dirty="0"/>
          </a:p>
        </p:txBody>
      </p:sp>
      <p:sp>
        <p:nvSpPr>
          <p:cNvPr id="36" name="Text 30"/>
          <p:cNvSpPr txBox="1"/>
          <p:nvPr/>
        </p:nvSpPr>
        <p:spPr>
          <a:xfrm>
            <a:off x="5029200" y="49377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Backend, app y panel, por sprints semanales.</a:t>
            </a:r>
            <a:endParaRPr lang="en-US" sz="1050" dirty="0"/>
          </a:p>
        </p:txBody>
      </p:sp>
      <p:sp>
        <p:nvSpPr>
          <p:cNvPr id="37" name="Shape 31"/>
          <p:cNvSpPr/>
          <p:nvPr/>
        </p:nvSpPr>
        <p:spPr>
          <a:xfrm>
            <a:off x="7269480" y="4389120"/>
            <a:ext cx="2103120" cy="457200"/>
          </a:xfrm>
          <a:prstGeom prst="roundRect">
            <a:avLst>
              <a:gd name="adj" fmla="val 16000"/>
            </a:avLst>
          </a:prstGeom>
          <a:solidFill>
            <a:srgbClr val="243B6B"/>
          </a:solidFill>
          <a:ln w="12700">
            <a:solidFill>
              <a:srgbClr val="243B6B"/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7406640" y="43891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Pruebas y calidad</a:t>
            </a:r>
            <a:endParaRPr lang="en-US" sz="1150" dirty="0"/>
          </a:p>
        </p:txBody>
      </p:sp>
      <p:sp>
        <p:nvSpPr>
          <p:cNvPr id="39" name="Text 33"/>
          <p:cNvSpPr txBox="1"/>
          <p:nvPr/>
        </p:nvSpPr>
        <p:spPr>
          <a:xfrm>
            <a:off x="7269480" y="49377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pruebas, registro y corrección de hallazgos.</a:t>
            </a:r>
            <a:endParaRPr lang="en-US" sz="1050" dirty="0"/>
          </a:p>
        </p:txBody>
      </p:sp>
      <p:sp>
        <p:nvSpPr>
          <p:cNvPr id="40" name="Shape 34"/>
          <p:cNvSpPr/>
          <p:nvPr/>
        </p:nvSpPr>
        <p:spPr>
          <a:xfrm>
            <a:off x="9509760" y="4389120"/>
            <a:ext cx="2103120" cy="457200"/>
          </a:xfrm>
          <a:prstGeom prst="roundRect">
            <a:avLst>
              <a:gd name="adj" fmla="val 16000"/>
            </a:avLst>
          </a:prstGeom>
          <a:solidFill>
            <a:srgbClr val="F06449"/>
          </a:solidFill>
          <a:ln w="12700">
            <a:solidFill>
              <a:srgbClr val="243B6B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9646920" y="43891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Cierre</a:t>
            </a:r>
            <a:endParaRPr lang="en-US" sz="1150" dirty="0"/>
          </a:p>
        </p:txBody>
      </p:sp>
      <p:sp>
        <p:nvSpPr>
          <p:cNvPr id="42" name="Text 36"/>
          <p:cNvSpPr txBox="1"/>
          <p:nvPr/>
        </p:nvSpPr>
        <p:spPr>
          <a:xfrm>
            <a:off x="9509760" y="49377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en el entorno de prueba y documentación final.</a:t>
            </a:r>
            <a:endParaRPr lang="en-US" sz="1050" dirty="0"/>
          </a:p>
        </p:txBody>
      </p:sp>
      <p:sp>
        <p:nvSpPr>
          <p:cNvPr id="43" name="Shape 37"/>
          <p:cNvSpPr/>
          <p:nvPr/>
        </p:nvSpPr>
        <p:spPr>
          <a:xfrm>
            <a:off x="548640" y="5715000"/>
            <a:ext cx="11064240" cy="548640"/>
          </a:xfrm>
          <a:prstGeom prst="roundRect">
            <a:avLst>
              <a:gd name="adj" fmla="val 20000"/>
            </a:avLst>
          </a:prstGeom>
          <a:solidFill>
            <a:srgbClr val="F0EEFF"/>
          </a:solidFill>
          <a:ln w="9525">
            <a:solidFill>
              <a:srgbClr val="DDE1EB"/>
            </a:solidFill>
            <a:prstDash val="solid"/>
          </a:ln>
        </p:spPr>
      </p:sp>
      <p:sp>
        <p:nvSpPr>
          <p:cNvPr id="44" name="Text 38"/>
          <p:cNvSpPr txBox="1"/>
          <p:nvPr/>
        </p:nvSpPr>
        <p:spPr>
          <a:xfrm>
            <a:off x="822960" y="57150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3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inicio de cada sprint dejamos por escrito qué queda dentro y qué queda fuera: así controlamos que el alcance no crezca.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C6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y responsabilidades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Relwo · Proyecto APT · Fase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86968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Nayareth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66160" cy="39319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DE1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737360"/>
            <a:ext cx="822960" cy="822960"/>
          </a:xfrm>
          <a:prstGeom prst="ellipse">
            <a:avLst/>
          </a:prstGeom>
          <a:solidFill>
            <a:srgbClr val="243B6B"/>
          </a:solidFill>
          <a:ln w="12700">
            <a:solidFill>
              <a:srgbClr val="243B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97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72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Mauricio Poblete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063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43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 técnico y coordinación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52044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0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y modelo de datos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0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y API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0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del pago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0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y seguimiento de los sprints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97680" y="1463040"/>
            <a:ext cx="3566160" cy="39319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DE1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1737360"/>
            <a:ext cx="822960" cy="822960"/>
          </a:xfrm>
          <a:prstGeom prst="ellipse">
            <a:avLst/>
          </a:prstGeom>
          <a:solidFill>
            <a:srgbClr val="7C6EE6"/>
          </a:solidFill>
          <a:ln w="12700">
            <a:solidFill>
              <a:srgbClr val="7C6E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0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2697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72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Tania Sáez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3063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7C6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interfaces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352044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0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móvil en Flutter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0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administración en Angular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0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Pantallas a partir del prototipo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0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con la API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46720" y="1463040"/>
            <a:ext cx="3566160" cy="39319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DE1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21040" y="1737360"/>
            <a:ext cx="822960" cy="822960"/>
          </a:xfrm>
          <a:prstGeom prst="ellipse">
            <a:avLst/>
          </a:prstGeom>
          <a:solidFill>
            <a:srgbClr val="F06449"/>
          </a:solidFill>
          <a:ln w="12700">
            <a:solidFill>
              <a:srgbClr val="F0644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21040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2697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72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Nayareth Suárez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321040" y="3063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06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y documentación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352044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0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y ejecución del plan de pruebas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0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de calidad junto al líder técnico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0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y seguimiento de hallazgos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0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del proyecto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577840"/>
            <a:ext cx="11064240" cy="685800"/>
          </a:xfrm>
          <a:prstGeom prst="roundRect">
            <a:avLst>
              <a:gd name="adj" fmla="val 16000"/>
            </a:avLst>
          </a:prstGeom>
          <a:solidFill>
            <a:srgbClr val="F0EEFF"/>
          </a:solidFill>
          <a:ln w="9525">
            <a:solidFill>
              <a:srgbClr val="DDE1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5650992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5793638"/>
            <a:ext cx="263347" cy="263347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1508760" y="557784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3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participamos en la planificación, en las revisiones de cada sprint y en las decisiones de alcance.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C6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TRABAJO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 Gantt: 18 semanas en tres fases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Relwo · Proyecto APT · Fase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86968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Nayareth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931920" y="1371600"/>
            <a:ext cx="1664208" cy="274320"/>
          </a:xfrm>
          <a:prstGeom prst="roundRect">
            <a:avLst>
              <a:gd name="adj" fmla="val 16667"/>
            </a:avLst>
          </a:prstGeom>
          <a:solidFill>
            <a:srgbClr val="172442"/>
          </a:solidFill>
          <a:ln w="12700">
            <a:solidFill>
              <a:srgbClr val="17244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931920" y="13716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Definición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32704" y="1371600"/>
            <a:ext cx="5065776" cy="274320"/>
          </a:xfrm>
          <a:prstGeom prst="roundRect">
            <a:avLst>
              <a:gd name="adj" fmla="val 16667"/>
            </a:avLst>
          </a:prstGeom>
          <a:solidFill>
            <a:srgbClr val="243B6B"/>
          </a:solidFill>
          <a:ln w="12700">
            <a:solidFill>
              <a:srgbClr val="17244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32704" y="1371600"/>
            <a:ext cx="5065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Desarrollo y ejecución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0735056" y="1371600"/>
            <a:ext cx="813816" cy="274320"/>
          </a:xfrm>
          <a:prstGeom prst="roundRect">
            <a:avLst>
              <a:gd name="adj" fmla="val 16667"/>
            </a:avLst>
          </a:prstGeom>
          <a:solidFill>
            <a:srgbClr val="172442"/>
          </a:solidFill>
          <a:ln w="12700">
            <a:solidFill>
              <a:srgbClr val="17244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735056" y="1371600"/>
            <a:ext cx="813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Cierre y evaluación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3931920" y="1691640"/>
            <a:ext cx="4251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931920" y="1965960"/>
            <a:ext cx="0" cy="3621024"/>
          </a:xfrm>
          <a:prstGeom prst="line">
            <a:avLst/>
          </a:prstGeom>
          <a:noFill/>
          <a:ln w="6350">
            <a:solidFill>
              <a:srgbClr val="DDE1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357116" y="1691640"/>
            <a:ext cx="4251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357116" y="1965960"/>
            <a:ext cx="0" cy="3621024"/>
          </a:xfrm>
          <a:prstGeom prst="line">
            <a:avLst/>
          </a:prstGeom>
          <a:noFill/>
          <a:ln w="6350">
            <a:solidFill>
              <a:srgbClr val="DDE1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82312" y="1691640"/>
            <a:ext cx="4251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82312" y="1965960"/>
            <a:ext cx="0" cy="3621024"/>
          </a:xfrm>
          <a:prstGeom prst="line">
            <a:avLst/>
          </a:prstGeom>
          <a:noFill/>
          <a:ln w="6350">
            <a:solidFill>
              <a:srgbClr val="DDE1E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07508" y="1691640"/>
            <a:ext cx="4251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207508" y="1965960"/>
            <a:ext cx="0" cy="3621024"/>
          </a:xfrm>
          <a:prstGeom prst="line">
            <a:avLst/>
          </a:prstGeom>
          <a:noFill/>
          <a:ln w="6350">
            <a:solidFill>
              <a:srgbClr val="DDE1E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32704" y="1691640"/>
            <a:ext cx="4251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632704" y="1965960"/>
            <a:ext cx="0" cy="3621024"/>
          </a:xfrm>
          <a:prstGeom prst="line">
            <a:avLst/>
          </a:prstGeom>
          <a:noFill/>
          <a:ln w="6350">
            <a:solidFill>
              <a:srgbClr val="DDE1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057900" y="1691640"/>
            <a:ext cx="4251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57900" y="1965960"/>
            <a:ext cx="0" cy="3621024"/>
          </a:xfrm>
          <a:prstGeom prst="line">
            <a:avLst/>
          </a:prstGeom>
          <a:noFill/>
          <a:ln w="6350">
            <a:solidFill>
              <a:srgbClr val="DDE1E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83096" y="1691640"/>
            <a:ext cx="4251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83096" y="1965960"/>
            <a:ext cx="0" cy="3621024"/>
          </a:xfrm>
          <a:prstGeom prst="line">
            <a:avLst/>
          </a:prstGeom>
          <a:noFill/>
          <a:ln w="6350">
            <a:solidFill>
              <a:srgbClr val="DDE1E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908292" y="1691640"/>
            <a:ext cx="4251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908292" y="1965960"/>
            <a:ext cx="0" cy="3621024"/>
          </a:xfrm>
          <a:prstGeom prst="line">
            <a:avLst/>
          </a:prstGeom>
          <a:noFill/>
          <a:ln w="6350">
            <a:solidFill>
              <a:srgbClr val="DDE1E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33488" y="1691640"/>
            <a:ext cx="4251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333488" y="1965960"/>
            <a:ext cx="0" cy="3621024"/>
          </a:xfrm>
          <a:prstGeom prst="line">
            <a:avLst/>
          </a:prstGeom>
          <a:noFill/>
          <a:ln w="6350">
            <a:solidFill>
              <a:srgbClr val="DDE1E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58684" y="1691640"/>
            <a:ext cx="4251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758684" y="1965960"/>
            <a:ext cx="0" cy="3621024"/>
          </a:xfrm>
          <a:prstGeom prst="line">
            <a:avLst/>
          </a:prstGeom>
          <a:noFill/>
          <a:ln w="6350">
            <a:solidFill>
              <a:srgbClr val="DDE1E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183880" y="1691640"/>
            <a:ext cx="4251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183880" y="1965960"/>
            <a:ext cx="0" cy="3621024"/>
          </a:xfrm>
          <a:prstGeom prst="line">
            <a:avLst/>
          </a:prstGeom>
          <a:noFill/>
          <a:ln w="6350">
            <a:solidFill>
              <a:srgbClr val="DDE1E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609076" y="1691640"/>
            <a:ext cx="4251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609076" y="1965960"/>
            <a:ext cx="0" cy="3621024"/>
          </a:xfrm>
          <a:prstGeom prst="line">
            <a:avLst/>
          </a:prstGeom>
          <a:noFill/>
          <a:ln w="6350">
            <a:solidFill>
              <a:srgbClr val="DDE1E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034272" y="1691640"/>
            <a:ext cx="4251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9034272" y="1965960"/>
            <a:ext cx="0" cy="3621024"/>
          </a:xfrm>
          <a:prstGeom prst="line">
            <a:avLst/>
          </a:prstGeom>
          <a:noFill/>
          <a:ln w="6350">
            <a:solidFill>
              <a:srgbClr val="DDE1E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459468" y="1691640"/>
            <a:ext cx="4251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9459468" y="1965960"/>
            <a:ext cx="0" cy="3621024"/>
          </a:xfrm>
          <a:prstGeom prst="line">
            <a:avLst/>
          </a:prstGeom>
          <a:noFill/>
          <a:ln w="6350">
            <a:solidFill>
              <a:srgbClr val="DDE1E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884664" y="1691640"/>
            <a:ext cx="4251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9884664" y="1965960"/>
            <a:ext cx="0" cy="3621024"/>
          </a:xfrm>
          <a:prstGeom prst="line">
            <a:avLst/>
          </a:prstGeom>
          <a:noFill/>
          <a:ln w="6350">
            <a:solidFill>
              <a:srgbClr val="DDE1E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0309860" y="1691640"/>
            <a:ext cx="4251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0309860" y="1965960"/>
            <a:ext cx="0" cy="3621024"/>
          </a:xfrm>
          <a:prstGeom prst="line">
            <a:avLst/>
          </a:prstGeom>
          <a:noFill/>
          <a:ln w="6350">
            <a:solidFill>
              <a:srgbClr val="DDE1EB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0735056" y="1691640"/>
            <a:ext cx="4251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0735056" y="1965960"/>
            <a:ext cx="0" cy="3621024"/>
          </a:xfrm>
          <a:prstGeom prst="line">
            <a:avLst/>
          </a:prstGeom>
          <a:noFill/>
          <a:ln w="6350">
            <a:solidFill>
              <a:srgbClr val="DDE1EB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1160252" y="1691640"/>
            <a:ext cx="4251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1160252" y="1965960"/>
            <a:ext cx="0" cy="3621024"/>
          </a:xfrm>
          <a:prstGeom prst="line">
            <a:avLst/>
          </a:prstGeom>
          <a:noFill/>
          <a:ln w="6350">
            <a:solidFill>
              <a:srgbClr val="DDE1EB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3017520" y="169164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48640" y="1965960"/>
            <a:ext cx="11064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40080" y="1965960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0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Levantamiento y definición de requerimientos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959352" y="2029968"/>
            <a:ext cx="795528" cy="201168"/>
          </a:xfrm>
          <a:prstGeom prst="roundRect">
            <a:avLst>
              <a:gd name="adj" fmla="val 22727"/>
            </a:avLst>
          </a:prstGeom>
          <a:solidFill>
            <a:srgbClr val="16856B"/>
          </a:solidFill>
          <a:ln w="12700">
            <a:solidFill>
              <a:srgbClr val="16856B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40080" y="229514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0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del entorno de trabajo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959352" y="2359152"/>
            <a:ext cx="370332" cy="201168"/>
          </a:xfrm>
          <a:prstGeom prst="roundRect">
            <a:avLst>
              <a:gd name="adj" fmla="val 22727"/>
            </a:avLst>
          </a:prstGeom>
          <a:solidFill>
            <a:srgbClr val="243B6B"/>
          </a:solidFill>
          <a:ln w="12700">
            <a:solidFill>
              <a:srgbClr val="243B6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48640" y="2624328"/>
            <a:ext cx="11064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40080" y="262432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0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la arquitectura y del modelo de datos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809744" y="2688336"/>
            <a:ext cx="795528" cy="201168"/>
          </a:xfrm>
          <a:prstGeom prst="roundRect">
            <a:avLst>
              <a:gd name="adj" fmla="val 22727"/>
            </a:avLst>
          </a:prstGeom>
          <a:solidFill>
            <a:srgbClr val="243B6B"/>
          </a:solidFill>
          <a:ln w="12700">
            <a:solidFill>
              <a:srgbClr val="243B6B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640080" y="29535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0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la interfaz y prototipo navegable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809744" y="3017520"/>
            <a:ext cx="795528" cy="201168"/>
          </a:xfrm>
          <a:prstGeom prst="roundRect">
            <a:avLst>
              <a:gd name="adj" fmla="val 22727"/>
            </a:avLst>
          </a:prstGeom>
          <a:solidFill>
            <a:srgbClr val="7C6EE6"/>
          </a:solidFill>
          <a:ln w="12700">
            <a:solidFill>
              <a:srgbClr val="7C6EE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48640" y="3282696"/>
            <a:ext cx="11064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640080" y="328269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0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 del backend y de la base de datos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5660136" y="3346704"/>
            <a:ext cx="1645920" cy="201168"/>
          </a:xfrm>
          <a:prstGeom prst="roundRect">
            <a:avLst>
              <a:gd name="adj" fmla="val 22727"/>
            </a:avLst>
          </a:prstGeom>
          <a:solidFill>
            <a:srgbClr val="243B6B"/>
          </a:solidFill>
          <a:ln w="12700">
            <a:solidFill>
              <a:srgbClr val="243B6B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640080" y="3611880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0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la app móvil y del panel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5660136" y="3675888"/>
            <a:ext cx="2071116" cy="201168"/>
          </a:xfrm>
          <a:prstGeom prst="roundRect">
            <a:avLst>
              <a:gd name="adj" fmla="val 22727"/>
            </a:avLst>
          </a:prstGeom>
          <a:solidFill>
            <a:srgbClr val="7C6EE6"/>
          </a:solidFill>
          <a:ln w="12700">
            <a:solidFill>
              <a:srgbClr val="7C6EE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48640" y="3941064"/>
            <a:ext cx="11064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640080" y="3941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0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del pago dentro de la plataforma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7360920" y="4005072"/>
            <a:ext cx="795528" cy="201168"/>
          </a:xfrm>
          <a:prstGeom prst="roundRect">
            <a:avLst>
              <a:gd name="adj" fmla="val 22727"/>
            </a:avLst>
          </a:prstGeom>
          <a:solidFill>
            <a:srgbClr val="243B6B"/>
          </a:solidFill>
          <a:ln w="12700">
            <a:solidFill>
              <a:srgbClr val="243B6B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640080" y="427024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0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y ejecución del plan de pruebas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7360920" y="4334256"/>
            <a:ext cx="1645920" cy="201168"/>
          </a:xfrm>
          <a:prstGeom prst="roundRect">
            <a:avLst>
              <a:gd name="adj" fmla="val 22727"/>
            </a:avLst>
          </a:prstGeom>
          <a:solidFill>
            <a:srgbClr val="F06449"/>
          </a:solidFill>
          <a:ln w="12700">
            <a:solidFill>
              <a:srgbClr val="F06449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912096" y="4334256"/>
            <a:ext cx="795528" cy="201168"/>
          </a:xfrm>
          <a:prstGeom prst="roundRect">
            <a:avLst>
              <a:gd name="adj" fmla="val 22727"/>
            </a:avLst>
          </a:prstGeom>
          <a:solidFill>
            <a:srgbClr val="F06449"/>
          </a:solidFill>
          <a:ln w="12700">
            <a:solidFill>
              <a:srgbClr val="F06449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48640" y="4599432"/>
            <a:ext cx="11064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640080" y="459943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0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Corrección de hallazgos y ajustes del producto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9061704" y="4663440"/>
            <a:ext cx="795528" cy="201168"/>
          </a:xfrm>
          <a:prstGeom prst="roundRect">
            <a:avLst>
              <a:gd name="adj" fmla="val 22727"/>
            </a:avLst>
          </a:prstGeom>
          <a:solidFill>
            <a:srgbClr val="16856B"/>
          </a:solidFill>
          <a:ln w="12700">
            <a:solidFill>
              <a:srgbClr val="16856B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640080" y="49286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0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y seguimiento de los sprints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3959352" y="4992624"/>
            <a:ext cx="6748272" cy="201168"/>
          </a:xfrm>
          <a:prstGeom prst="roundRect">
            <a:avLst>
              <a:gd name="adj" fmla="val 22727"/>
            </a:avLst>
          </a:prstGeom>
          <a:solidFill>
            <a:srgbClr val="16856B"/>
          </a:solidFill>
          <a:ln w="12700">
            <a:solidFill>
              <a:srgbClr val="16856B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48640" y="5257800"/>
            <a:ext cx="11064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640080" y="5257800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0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en entorno de prueba y cierre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10762488" y="5321808"/>
            <a:ext cx="795528" cy="201168"/>
          </a:xfrm>
          <a:prstGeom prst="roundRect">
            <a:avLst>
              <a:gd name="adj" fmla="val 22727"/>
            </a:avLst>
          </a:prstGeom>
          <a:solidFill>
            <a:srgbClr val="16856B"/>
          </a:solidFill>
          <a:ln w="12700">
            <a:solidFill>
              <a:srgbClr val="16856B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40080" y="5852160"/>
            <a:ext cx="320040" cy="182880"/>
          </a:xfrm>
          <a:prstGeom prst="roundRect">
            <a:avLst>
              <a:gd name="adj" fmla="val 20000"/>
            </a:avLst>
          </a:prstGeom>
          <a:solidFill>
            <a:srgbClr val="243B6B"/>
          </a:solidFill>
          <a:ln w="12700">
            <a:solidFill>
              <a:srgbClr val="243B6B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1051560" y="58155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0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Mauricio Poblete</a:t>
            </a: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3017520" y="5852160"/>
            <a:ext cx="320040" cy="182880"/>
          </a:xfrm>
          <a:prstGeom prst="roundRect">
            <a:avLst>
              <a:gd name="adj" fmla="val 20000"/>
            </a:avLst>
          </a:prstGeom>
          <a:solidFill>
            <a:srgbClr val="7C6EE6"/>
          </a:solidFill>
          <a:ln w="12700">
            <a:solidFill>
              <a:srgbClr val="7C6EE6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3429000" y="58155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0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Tania Sáez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5394960" y="5852160"/>
            <a:ext cx="320040" cy="182880"/>
          </a:xfrm>
          <a:prstGeom prst="roundRect">
            <a:avLst>
              <a:gd name="adj" fmla="val 20000"/>
            </a:avLst>
          </a:prstGeom>
          <a:solidFill>
            <a:srgbClr val="F06449"/>
          </a:solidFill>
          <a:ln w="12700">
            <a:solidFill>
              <a:srgbClr val="F06449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5806440" y="58155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0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Nayareth Suárez</a:t>
            </a:r>
            <a:endParaRPr lang="en-US" sz="1050" dirty="0"/>
          </a:p>
        </p:txBody>
      </p:sp>
      <p:sp>
        <p:nvSpPr>
          <p:cNvPr id="84" name="Shape 82"/>
          <p:cNvSpPr/>
          <p:nvPr/>
        </p:nvSpPr>
        <p:spPr>
          <a:xfrm>
            <a:off x="7772400" y="5852160"/>
            <a:ext cx="320040" cy="182880"/>
          </a:xfrm>
          <a:prstGeom prst="roundRect">
            <a:avLst>
              <a:gd name="adj" fmla="val 20000"/>
            </a:avLst>
          </a:prstGeom>
          <a:solidFill>
            <a:srgbClr val="16856B"/>
          </a:solidFill>
          <a:ln w="12700">
            <a:solidFill>
              <a:srgbClr val="16856B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8183880" y="58155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0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conjunto</a:t>
            </a:r>
            <a:endParaRPr lang="en-US" sz="1050" dirty="0"/>
          </a:p>
        </p:txBody>
      </p:sp>
      <p:sp>
        <p:nvSpPr>
          <p:cNvPr id="86" name="Text 84"/>
          <p:cNvSpPr txBox="1"/>
          <p:nvPr/>
        </p:nvSpPr>
        <p:spPr>
          <a:xfrm>
            <a:off x="640080" y="61081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semanas 15 y 16 se reservan para probar en un teléfono físico; las 17 y 18 tienen holgura para imprevistos del cierre académico.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C6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entregaremos en el avance y en el cierre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Relwo · Proyecto APT · Fase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86968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Nayareth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12064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9525">
            <a:solidFill>
              <a:srgbClr val="DDE1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691640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7C6EE6"/>
          </a:solidFill>
          <a:ln w="12700">
            <a:solidFill>
              <a:srgbClr val="7C6E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691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2240280"/>
            <a:ext cx="457200" cy="457200"/>
          </a:xfrm>
          <a:prstGeom prst="ellipse">
            <a:avLst/>
          </a:prstGeom>
          <a:solidFill>
            <a:srgbClr val="F0EEFF"/>
          </a:solidFill>
          <a:ln w="12700">
            <a:solidFill>
              <a:srgbClr val="F0EEFF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3591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417320" y="22128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72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de documentación en GitHub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1417320" y="248716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del proyecto, requerimientos, arquitectura, modelo de datos y artefactos de los sprints, con trazabilidad de qué se agregó, cuándo y por quién.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22960" y="3200400"/>
            <a:ext cx="457200" cy="457200"/>
          </a:xfrm>
          <a:prstGeom prst="ellipse">
            <a:avLst/>
          </a:prstGeom>
          <a:solidFill>
            <a:srgbClr val="F0EEFF"/>
          </a:solidFill>
          <a:ln w="12700">
            <a:solidFill>
              <a:srgbClr val="F0EEFF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3319272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417320" y="31729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72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navegable de la aplicación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1417320" y="344728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Pantallas enlazadas del recorrido completo del cliente y del maestro. Ya publicado en el repositorio.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822960" y="4160520"/>
            <a:ext cx="457200" cy="457200"/>
          </a:xfrm>
          <a:prstGeom prst="ellipse">
            <a:avLst/>
          </a:prstGeom>
          <a:solidFill>
            <a:srgbClr val="F0EEFF"/>
          </a:solidFill>
          <a:ln w="12700">
            <a:solidFill>
              <a:srgbClr val="F0EEFF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" y="4279392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417320" y="41330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72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de avance de la app y del panel web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1417320" y="440740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Recorrido principal navegable contra la API, con datos de prueba.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822960" y="5120640"/>
            <a:ext cx="457200" cy="457200"/>
          </a:xfrm>
          <a:prstGeom prst="ellipse">
            <a:avLst/>
          </a:prstGeom>
          <a:solidFill>
            <a:srgbClr val="F0EEFF"/>
          </a:solidFill>
          <a:ln w="12700">
            <a:solidFill>
              <a:srgbClr val="F0EEFF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" y="5239512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417320" y="50932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72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pruebas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1417320" y="536752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diseñados sobre el recorrido completo del servicio y el cálculo de los montos.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5943600" y="1463040"/>
            <a:ext cx="566928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9525">
            <a:solidFill>
              <a:srgbClr val="DDE1EB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6217920" y="1691640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F06449"/>
          </a:solidFill>
          <a:ln w="12700">
            <a:solidFill>
              <a:srgbClr val="F06449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6217920" y="1691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6217920" y="2240280"/>
            <a:ext cx="457200" cy="457200"/>
          </a:xfrm>
          <a:prstGeom prst="ellipse">
            <a:avLst/>
          </a:prstGeom>
          <a:solidFill>
            <a:srgbClr val="FDE8E3"/>
          </a:solidFill>
          <a:ln w="12700">
            <a:solidFill>
              <a:srgbClr val="FDE8E3"/>
            </a:solidFill>
            <a:prstDash val="solid"/>
          </a:ln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2359152"/>
            <a:ext cx="219456" cy="21945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6812280" y="22128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72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móvil</a:t>
            </a:r>
            <a:endParaRPr lang="en-US" sz="1250" dirty="0"/>
          </a:p>
        </p:txBody>
      </p:sp>
      <p:sp>
        <p:nvSpPr>
          <p:cNvPr id="31" name="Text 24"/>
          <p:cNvSpPr txBox="1"/>
          <p:nvPr/>
        </p:nvSpPr>
        <p:spPr>
          <a:xfrm>
            <a:off x="6812280" y="24871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y maestro, con el recorrido completo funcionando y probada en un teléfono real.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6217920" y="3008376"/>
            <a:ext cx="457200" cy="457200"/>
          </a:xfrm>
          <a:prstGeom prst="ellipse">
            <a:avLst/>
          </a:prstGeom>
          <a:solidFill>
            <a:srgbClr val="FDE8E3"/>
          </a:solidFill>
          <a:ln w="12700">
            <a:solidFill>
              <a:srgbClr val="FDE8E3"/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792" y="3127248"/>
            <a:ext cx="219456" cy="219456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6812280" y="29809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72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web de administración</a:t>
            </a:r>
            <a:endParaRPr lang="en-US" sz="1250" dirty="0"/>
          </a:p>
        </p:txBody>
      </p:sp>
      <p:sp>
        <p:nvSpPr>
          <p:cNvPr id="35" name="Text 27"/>
          <p:cNvSpPr txBox="1"/>
          <p:nvPr/>
        </p:nvSpPr>
        <p:spPr>
          <a:xfrm>
            <a:off x="6812280" y="325526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Desplegado en el entorno de prueba, operando registros, comunas y servicios.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6217920" y="3776472"/>
            <a:ext cx="457200" cy="457200"/>
          </a:xfrm>
          <a:prstGeom prst="ellipse">
            <a:avLst/>
          </a:prstGeom>
          <a:solidFill>
            <a:srgbClr val="FDE8E3"/>
          </a:solidFill>
          <a:ln w="12700">
            <a:solidFill>
              <a:srgbClr val="FDE8E3"/>
            </a:solidFill>
            <a:prstDash val="solid"/>
          </a:ln>
        </p:spPr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6792" y="3895344"/>
            <a:ext cx="219456" cy="219456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6812280" y="3749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72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pruebas ejecutado</a:t>
            </a:r>
            <a:endParaRPr lang="en-US" sz="1250" dirty="0"/>
          </a:p>
        </p:txBody>
      </p:sp>
      <p:sp>
        <p:nvSpPr>
          <p:cNvPr id="39" name="Text 30"/>
          <p:cNvSpPr txBox="1"/>
          <p:nvPr/>
        </p:nvSpPr>
        <p:spPr>
          <a:xfrm>
            <a:off x="6812280" y="4023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Casos, resultados, hallazgos registrados y su corrección.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6217920" y="4544568"/>
            <a:ext cx="457200" cy="457200"/>
          </a:xfrm>
          <a:prstGeom prst="ellipse">
            <a:avLst/>
          </a:prstGeom>
          <a:solidFill>
            <a:srgbClr val="FDE8E3"/>
          </a:solidFill>
          <a:ln w="12700">
            <a:solidFill>
              <a:srgbClr val="FDE8E3"/>
            </a:solidFill>
            <a:prstDash val="solid"/>
          </a:ln>
        </p:spPr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6792" y="4663440"/>
            <a:ext cx="219456" cy="219456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6812280" y="45171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72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usuario y documentación</a:t>
            </a:r>
            <a:endParaRPr lang="en-US" sz="1250" dirty="0"/>
          </a:p>
        </p:txBody>
      </p:sp>
      <p:sp>
        <p:nvSpPr>
          <p:cNvPr id="43" name="Text 33"/>
          <p:cNvSpPr txBox="1"/>
          <p:nvPr/>
        </p:nvSpPr>
        <p:spPr>
          <a:xfrm>
            <a:off x="6812280" y="479145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para cliente y maestro; arquitectura, modelo de datos y resultados del proyecto.</a:t>
            </a:r>
            <a:endParaRPr lang="en-US" sz="1000" dirty="0"/>
          </a:p>
        </p:txBody>
      </p:sp>
      <p:sp>
        <p:nvSpPr>
          <p:cNvPr id="44" name="Shape 34"/>
          <p:cNvSpPr/>
          <p:nvPr/>
        </p:nvSpPr>
        <p:spPr>
          <a:xfrm>
            <a:off x="6217920" y="5312664"/>
            <a:ext cx="457200" cy="457200"/>
          </a:xfrm>
          <a:prstGeom prst="ellipse">
            <a:avLst/>
          </a:prstGeom>
          <a:solidFill>
            <a:srgbClr val="FDE8E3"/>
          </a:solidFill>
          <a:ln w="12700">
            <a:solidFill>
              <a:srgbClr val="FDE8E3"/>
            </a:solidFill>
            <a:prstDash val="solid"/>
          </a:ln>
        </p:spPr>
      </p:sp>
      <p:pic>
        <p:nvPicPr>
          <p:cNvPr id="45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36792" y="5431536"/>
            <a:ext cx="219456" cy="219456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6812280" y="52852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72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del proyecto final</a:t>
            </a:r>
            <a:endParaRPr lang="en-US" sz="1250" dirty="0"/>
          </a:p>
        </p:txBody>
      </p:sp>
      <p:sp>
        <p:nvSpPr>
          <p:cNvPr id="47" name="Text 36"/>
          <p:cNvSpPr txBox="1"/>
          <p:nvPr/>
        </p:nvSpPr>
        <p:spPr>
          <a:xfrm>
            <a:off x="6812280" y="555955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del flujo de punta a punta y cierre del proyecto.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41648" y="914400"/>
            <a:ext cx="4114800" cy="4114800"/>
          </a:xfrm>
          <a:prstGeom prst="roundRect">
            <a:avLst>
              <a:gd name="adj" fmla="val 5556"/>
            </a:avLst>
          </a:prstGeom>
          <a:solidFill>
            <a:srgbClr val="172442"/>
          </a:solidFill>
          <a:ln w="12700">
            <a:solidFill>
              <a:srgbClr val="172442"/>
            </a:solidFill>
            <a:prstDash val="solid"/>
          </a:ln>
        </p:spPr>
      </p:sp>
      <p:pic>
        <p:nvPicPr>
          <p:cNvPr id="3" name="Image 0" descr="/Users/mauriciops/Proyectos/relwo-capstone/Fase 1/Evidencias grupales/Mockup navegable/assets/logo_relw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1688" y="1234440"/>
            <a:ext cx="3474720" cy="3474720"/>
          </a:xfrm>
          <a:prstGeom prst="ellipse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303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72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Muchas gracias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2123</Words>
  <Application>Microsoft Macintosh PowerPoint</Application>
  <PresentationFormat>Panorámica</PresentationFormat>
  <Paragraphs>297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Relwo · Proyecto APT · Fase 1</dc:title>
  <dc:subject>PptxGenJS Presentation</dc:subject>
  <dc:creator>Equipo Relwo</dc:creator>
  <cp:lastModifiedBy>MauricioPS</cp:lastModifiedBy>
  <cp:revision>2</cp:revision>
  <dcterms:created xsi:type="dcterms:W3CDTF">2026-09-12T13:55:11Z</dcterms:created>
  <dcterms:modified xsi:type="dcterms:W3CDTF">2026-09-12T13:56:41Z</dcterms:modified>
</cp:coreProperties>
</file>