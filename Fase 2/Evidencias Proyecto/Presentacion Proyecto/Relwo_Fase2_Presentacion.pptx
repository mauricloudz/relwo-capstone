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67085"/>
                </a:solidFill>
                <a:latin typeface="+mn-lt"/>
              </a:defRPr>
            </a:pPr>
            <a:r>
              <a:rPr sz="1100" b="0" i="0" u="none" strike="noStrike">
                <a:solidFill>
                  <a:srgbClr val="667085"/>
                </a:solidFill>
                <a:latin typeface="+mn-lt"/>
              </a:rPr>
              <a:t>Puntos de historia por sprint, según las actas de revisión</a:t>
            </a:r>
          </a:p>
        </c:rich>
      </c:tx>
      <c:layout/>
      <c:overlay val="0"/>
    </c:title>
    <c:autoTitleDeleted val="0"/>
    <c:plotArea>
      <c:layout/>
      <c:barChart>
        <c:barDir val="col"/>
        <c:grouping val="clustered"/>
        <c:varyColors val="0"/>
        <c:ser>
          <c:idx val="0"/>
          <c:order val="0"/>
          <c:tx>
            <c:strRef>
              <c:f>Sheet1!$B$1</c:f>
              <c:strCache>
                <c:ptCount val="1"/>
                <c:pt idx="0">
                  <c:v>Comprometido</c:v>
                </c:pt>
              </c:strCache>
            </c:strRef>
          </c:tx>
          <c:spPr>
            <a:solidFill>
              <a:srgbClr val="243B6B"/>
            </a:solidFill>
            <a:effectLst/>
          </c:spPr>
          <c:invertIfNegative val="0"/>
          <c:dLbls>
            <c:numFmt formatCode="#,##0" sourceLinked="0"/>
            <c:txPr>
              <a:bodyPr/>
              <a:lstStyle/>
              <a:p>
                <a:pPr>
                  <a:defRPr b="0" i="0" strike="noStrike" sz="900" u="none">
                    <a:solidFill>
                      <a:srgbClr val="667085"/>
                    </a:solidFill>
                    <a:latin typeface="+mn-lt"/>
                  </a:defRPr>
                </a:pPr>
              </a:p>
            </c:txPr>
            <c:showLegendKey val="0"/>
            <c:showVal val="1"/>
            <c:showCatName val="0"/>
            <c:showSerName val="0"/>
            <c:showPercent val="0"/>
            <c:showBubbleSize val="0"/>
            <c:showLeaderLines val="0"/>
          </c:dLbls>
          <c:cat>
            <c:multiLvlStrRef>
              <c:f>Sheet1!$A$2:$A$8</c:f>
              <c:multiLvlStrCache>
                <c:ptCount val="7"/>
                <c:lvl>
                  <c:pt idx="0">
                    <c:v>Sprint 1</c:v>
                  </c:pt>
                  <c:pt idx="1">
                    <c:v>Sprint 2</c:v>
                  </c:pt>
                  <c:pt idx="2">
                    <c:v>Sprint 3</c:v>
                  </c:pt>
                  <c:pt idx="3">
                    <c:v>Sprint 4</c:v>
                  </c:pt>
                  <c:pt idx="4">
                    <c:v>Sprint 5</c:v>
                  </c:pt>
                  <c:pt idx="5">
                    <c:v>Sprint 6</c:v>
                  </c:pt>
                  <c:pt idx="6">
                    <c:v>Sprint 7</c:v>
                  </c:pt>
                </c:lvl>
              </c:multiLvlStrCache>
            </c:multiLvlStrRef>
          </c:cat>
          <c:val>
            <c:numRef>
              <c:f>Sheet1!$B$2:$B$8</c:f>
              <c:numCache>
                <c:formatCode>General</c:formatCode>
                <c:ptCount val="7"/>
                <c:pt idx="0">
                  <c:v>15</c:v>
                </c:pt>
                <c:pt idx="1">
                  <c:v>41</c:v>
                </c:pt>
                <c:pt idx="2">
                  <c:v>70</c:v>
                </c:pt>
                <c:pt idx="3">
                  <c:v>42</c:v>
                </c:pt>
                <c:pt idx="4">
                  <c:v>65</c:v>
                </c:pt>
                <c:pt idx="5">
                  <c:v>108</c:v>
                </c:pt>
                <c:pt idx="6">
                  <c:v>71</c:v>
                </c:pt>
              </c:numCache>
            </c:numRef>
          </c:val>
        </c:ser>
        <c:ser>
          <c:idx val="1"/>
          <c:order val="1"/>
          <c:tx>
            <c:strRef>
              <c:f>Sheet1!$C$1</c:f>
              <c:strCache>
                <c:ptCount val="1"/>
                <c:pt idx="0">
                  <c:v>Entregado del compromiso</c:v>
                </c:pt>
              </c:strCache>
            </c:strRef>
          </c:tx>
          <c:spPr>
            <a:solidFill>
              <a:srgbClr val="7C6EE6"/>
            </a:solidFill>
            <a:effectLst/>
          </c:spPr>
          <c:invertIfNegative val="0"/>
          <c:dLbls>
            <c:numFmt formatCode="#,##0" sourceLinked="0"/>
            <c:txPr>
              <a:bodyPr/>
              <a:lstStyle/>
              <a:p>
                <a:pPr>
                  <a:defRPr b="0" i="0" strike="noStrike" sz="900" u="none">
                    <a:solidFill>
                      <a:srgbClr val="667085"/>
                    </a:solidFill>
                    <a:latin typeface="+mn-lt"/>
                  </a:defRPr>
                </a:pPr>
              </a:p>
            </c:txPr>
            <c:showLegendKey val="0"/>
            <c:showVal val="1"/>
            <c:showCatName val="0"/>
            <c:showSerName val="0"/>
            <c:showPercent val="0"/>
            <c:showBubbleSize val="0"/>
            <c:showLeaderLines val="0"/>
          </c:dLbls>
          <c:cat>
            <c:multiLvlStrRef>
              <c:f>Sheet1!$A$2:$A$8</c:f>
              <c:multiLvlStrCache>
                <c:ptCount val="7"/>
                <c:lvl>
                  <c:pt idx="0">
                    <c:v>Sprint 1</c:v>
                  </c:pt>
                  <c:pt idx="1">
                    <c:v>Sprint 2</c:v>
                  </c:pt>
                  <c:pt idx="2">
                    <c:v>Sprint 3</c:v>
                  </c:pt>
                  <c:pt idx="3">
                    <c:v>Sprint 4</c:v>
                  </c:pt>
                  <c:pt idx="4">
                    <c:v>Sprint 5</c:v>
                  </c:pt>
                  <c:pt idx="5">
                    <c:v>Sprint 6</c:v>
                  </c:pt>
                  <c:pt idx="6">
                    <c:v>Sprint 7</c:v>
                  </c:pt>
                </c:lvl>
              </c:multiLvlStrCache>
            </c:multiLvlStrRef>
          </c:cat>
          <c:val>
            <c:numRef>
              <c:f>Sheet1!$C$2:$C$8</c:f>
              <c:numCache>
                <c:formatCode>General</c:formatCode>
                <c:ptCount val="7"/>
                <c:pt idx="0">
                  <c:v>15</c:v>
                </c:pt>
                <c:pt idx="1">
                  <c:v>41</c:v>
                </c:pt>
                <c:pt idx="2">
                  <c:v>50</c:v>
                </c:pt>
                <c:pt idx="3">
                  <c:v>42</c:v>
                </c:pt>
                <c:pt idx="4">
                  <c:v>65</c:v>
                </c:pt>
                <c:pt idx="5">
                  <c:v>95</c:v>
                </c:pt>
                <c:pt idx="6">
                  <c:v>71</c:v>
                </c:pt>
              </c:numCache>
            </c:numRef>
          </c:val>
        </c:ser>
        <c:ser>
          <c:idx val="2"/>
          <c:order val="2"/>
          <c:tx>
            <c:strRef>
              <c:f>Sheet1!$D$1</c:f>
              <c:strCache>
                <c:ptCount val="1"/>
                <c:pt idx="0">
                  <c:v>Reserva adicional entregada</c:v>
                </c:pt>
              </c:strCache>
            </c:strRef>
          </c:tx>
          <c:spPr>
            <a:solidFill>
              <a:srgbClr val="F06449"/>
            </a:solidFill>
            <a:effectLst/>
          </c:spPr>
          <c:invertIfNegative val="0"/>
          <c:dLbls>
            <c:numFmt formatCode="#,##0" sourceLinked="0"/>
            <c:txPr>
              <a:bodyPr/>
              <a:lstStyle/>
              <a:p>
                <a:pPr>
                  <a:defRPr b="0" i="0" strike="noStrike" sz="900" u="none">
                    <a:solidFill>
                      <a:srgbClr val="667085"/>
                    </a:solidFill>
                    <a:latin typeface="+mn-lt"/>
                  </a:defRPr>
                </a:pPr>
              </a:p>
            </c:txPr>
            <c:showLegendKey val="0"/>
            <c:showVal val="1"/>
            <c:showCatName val="0"/>
            <c:showSerName val="0"/>
            <c:showPercent val="0"/>
            <c:showBubbleSize val="0"/>
            <c:showLeaderLines val="0"/>
          </c:dLbls>
          <c:cat>
            <c:multiLvlStrRef>
              <c:f>Sheet1!$A$2:$A$8</c:f>
              <c:multiLvlStrCache>
                <c:ptCount val="7"/>
                <c:lvl>
                  <c:pt idx="0">
                    <c:v>Sprint 1</c:v>
                  </c:pt>
                  <c:pt idx="1">
                    <c:v>Sprint 2</c:v>
                  </c:pt>
                  <c:pt idx="2">
                    <c:v>Sprint 3</c:v>
                  </c:pt>
                  <c:pt idx="3">
                    <c:v>Sprint 4</c:v>
                  </c:pt>
                  <c:pt idx="4">
                    <c:v>Sprint 5</c:v>
                  </c:pt>
                  <c:pt idx="5">
                    <c:v>Sprint 6</c:v>
                  </c:pt>
                  <c:pt idx="6">
                    <c:v>Sprint 7</c:v>
                  </c:pt>
                </c:lvl>
              </c:multiLvlStrCache>
            </c:multiLvlStrRef>
          </c:cat>
          <c:val>
            <c:numRef>
              <c:f>Sheet1!$D$2:$D$8</c:f>
              <c:numCache>
                <c:formatCode>General</c:formatCode>
                <c:ptCount val="7"/>
                <c:pt idx="0">
                  <c:v>0</c:v>
                </c:pt>
                <c:pt idx="1">
                  <c:v>0</c:v>
                </c:pt>
                <c:pt idx="2">
                  <c:v>0</c:v>
                </c:pt>
                <c:pt idx="3">
                  <c:v>0</c:v>
                </c:pt>
                <c:pt idx="4">
                  <c:v>80</c:v>
                </c:pt>
                <c:pt idx="5">
                  <c:v>183</c:v>
                </c:pt>
                <c:pt idx="6">
                  <c:v>11</c:v>
                </c:pt>
              </c:numCache>
            </c:numRef>
          </c:val>
        </c:ser>
        <c:dLbls>
          <c:numFmt formatCode="#,##0" sourceLinked="0"/>
          <c:txPr>
            <a:bodyPr/>
            <a:lstStyle/>
            <a:p>
              <a:pPr>
                <a:defRPr b="0" i="0" strike="noStrike" sz="900" u="none">
                  <a:solidFill>
                    <a:srgbClr val="66708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67085"/>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DE1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670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6708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Mauricio abre: qué es Relwo en una frase, los tres servicios y las tres promesas. Son unos quince minutos; en el centro hay una demostración con el sistema funcionando de verdad. Pide no leer las láminas buscando detalle: lo importante lo vamos diciendo nosotros.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Imaginen esto. Es domingo en la tarde, están en la cocina y la llave de paso empieza a gotear. Primero un poco; después, bastante. No es una emergencia de bomberos, pero tampoco puede esperar al lunes. (Pausa breve.)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preguntamos a la familia, al vecino, al grupo del edificio, y terminamos llamando al conocido de un conocido. Costo, confianza y llegada: tres dudas cada vez que algo se rompe en la casa. Relwo nace para responder esas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en dos lados (hogar y maestro) y el alcance geográfico: Gran Santiago, 40 comunas visibles, 4 operativas al inicio: Las Condes, Ñuñoa, Vitacura y Santiago. Esto no cambió desde la Fase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cabe en tres palabras. Pides: cuentas lo que necesitas. Los maestros que calzan con lo que pediste te ofertan. Y tú eliges. Relwo no es una guía de teléfonos con estrellas.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Tania: los tres pasos. Recalcar la decisión de diseño más importante del producto: elegir una oferta no cobra nada; hay un solo cobro por servicio, después del diagnóstico en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garantías: custodia del dinero (fuera de las cuentas de la empresa, lo que además mantiene al proyecto fuera de lo que regula la Ley Fintech), identidad por capas con Sello RELWO, código de cierre de tres dígitos y evaluación a ciegas en ambas direcciones.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a la izquierda el teléfono del cliente, a la derecha el del maestro; servidor en la nube. 1) Cliente publica con foto y dirección. 2) Maestro oferta dos cifras. 3) La oferta aparece en vivo y el cliente la elige sin pagar. 4) Maestro pulsa «Voy en camino». 5) El cliente lo ve venir por las calles con rango de hora. Cerrar la demo ahí: el cobro y el código ya se explicaron. Si algo falla, pasar a capturas sin improvisar.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Nayareth: dónde estamos. Siete de nueve sprints, 192 cambios revisados, cerca de 4.800 pruebas automáticas y 55 tablas. Tres productos funcionando juntos en un entorno de prueba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siete objetivos específicos de la Fase 1 se mantienen. Cumplimos los tres primeros; los otros cuatro están en curso con avance alto. Lo que cambió fue cómo y quién hace cada parte, no los objetivos.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Tania: Scrum con sus cuatro eventos y los tres ajustes que hicimos sobre la marcha: sprints más largos, funcionalidades completas en vez de capas, y tres vías de trabajo con revisión cruzada de cada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compara lo comprometido con lo entregado en puntos de historia. La reserva son unidades que entraron al sprint además del compromiso. La velocidad no es comparable entre sprints: cambió la duración, el reparto y las herramientas de apoyo.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reales de la Fase 2: la app pasó a Mauricio porque avanza con el servidor; Tania se concentró en la torre de control y el diseño; Nayareth se incorporó al desarrollo con las métricas el 5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la arquitectura en una imagen. A la izquierda lo que usan las personas; al centro el servidor, donde se calculan los montos y se cambian los estados; a la derecha la base de datos y los servicios externos, cada uno detrás de una puerta intercambiable. Aquí respondo las preguntas técnicas.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tiene 55 tablas en seis dominios. Las reglas del negocio viven en la propia base: estados que no se pueden saltar, auditoría que no se puede modificar y permisos limitados para la aplicación. En la carpeta Base de datos están los scripts, el MER, el MERE, el modelo relacional y el diccionario.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catorce pasos del flujo central funcionan de punta a punta en el entorno de prueba. Además del flujo: postventa (evaluación, reclamos, mensajería, soporte) y confianza (aprobación, verificación por capas, licencia SEC, privacidad de la ubicación).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Tania: qué puede hacer hoy el equipo de operaciones desde la torre de control. Todo lo que es dato del negocio (plazos, topes, valores) se edita desde aquí sin tocar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lugar de probar al final con una planilla, cada cambio pasa por cerca de 4.800 pruebas automáticas y por la revisión de otra persona. Además recorremos el flujo en emulador y en un teléfono real. Al mirar en pantalla se encontraron defectos que las pruebas automáticas no veían.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Tania: lo que nos facilitó el trabajo, lo que nos costó y cómo lo ajustamos. Honestidad: la carga concentrada en una persona es la tensión principal del equipo y se mitiga repartiendo unidades acotadas.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8: revisión de aceptación con el cliente a fines de octubre. Sprint 9: margen para lo que depende de terceros, en especial la pasarela de pago real. Fase 3: pruebas finales en teléfono, cierre, manual y presentación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Volvamos a la llave de paso que gotea un domingo en la tarde. Ya no hay que llamar al conocido de un conocido. Sabes cuánto vas a pagar antes de pagar. Sabes quién es. Y lo ves llegar. (Silencio de dos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Nayareth cierra y agradece. Quedamos atentos a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244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K">
    <p:bg>
      <p:bgPr>
        <a:solidFill>
          <a:srgbClr val="00021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2.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mauriciops-Proyectos-relwo-capstone/1a8b5f2b-d3d9-4b63-bfed-da79668ca276/scratchpad/pptx-build/assets/logo.jpeg">    </p:cNvPr>
          <p:cNvPicPr>
            <a:picLocks noChangeAspect="1"/>
          </p:cNvPicPr>
          <p:nvPr/>
        </p:nvPicPr>
        <p:blipFill>
          <a:blip r:embed="rId1"/>
          <a:stretch>
            <a:fillRect/>
          </a:stretch>
        </p:blipFill>
        <p:spPr>
          <a:xfrm>
            <a:off x="457200" y="1005840"/>
            <a:ext cx="4846320" cy="4846320"/>
          </a:xfrm>
          <a:prstGeom prst="rect">
            <a:avLst/>
          </a:prstGeom>
        </p:spPr>
      </p:pic>
      <p:sp>
        <p:nvSpPr>
          <p:cNvPr id="3" name="Text 0"/>
          <p:cNvSpPr txBox="1"/>
          <p:nvPr/>
        </p:nvSpPr>
        <p:spPr>
          <a:xfrm>
            <a:off x="5852160" y="1234440"/>
            <a:ext cx="5760720" cy="914400"/>
          </a:xfrm>
          <a:prstGeom prst="rect">
            <a:avLst/>
          </a:prstGeom>
          <a:noFill/>
          <a:ln/>
        </p:spPr>
        <p:txBody>
          <a:bodyPr wrap="square" lIns="0" tIns="0" rIns="0" bIns="0" rtlCol="0" anchor="t"/>
          <a:lstStyle/>
          <a:p>
            <a:pPr indent="0" marL="0">
              <a:buNone/>
            </a:pPr>
            <a:r>
              <a:rPr lang="en-US" sz="5400" b="1" dirty="0">
                <a:solidFill>
                  <a:srgbClr val="FFFFFF"/>
                </a:solidFill>
              </a:rPr>
              <a:t>Relwo</a:t>
            </a:r>
            <a:endParaRPr lang="en-US" sz="5400" dirty="0"/>
          </a:p>
        </p:txBody>
      </p:sp>
      <p:sp>
        <p:nvSpPr>
          <p:cNvPr id="4" name="Text 1"/>
          <p:cNvSpPr txBox="1"/>
          <p:nvPr/>
        </p:nvSpPr>
        <p:spPr>
          <a:xfrm>
            <a:off x="5852160" y="2148840"/>
            <a:ext cx="5760720" cy="457200"/>
          </a:xfrm>
          <a:prstGeom prst="rect">
            <a:avLst/>
          </a:prstGeom>
          <a:noFill/>
          <a:ln/>
        </p:spPr>
        <p:txBody>
          <a:bodyPr wrap="square" lIns="0" tIns="0" rIns="0" bIns="0" rtlCol="0" anchor="t"/>
          <a:lstStyle/>
          <a:p>
            <a:pPr indent="0" marL="0">
              <a:buNone/>
            </a:pPr>
            <a:r>
              <a:rPr lang="en-US" sz="2200" dirty="0">
                <a:solidFill>
                  <a:srgbClr val="A9B4CC"/>
                </a:solidFill>
              </a:rPr>
              <a:t>Trabajo confiable a domicilio</a:t>
            </a:r>
            <a:endParaRPr lang="en-US" sz="2200" dirty="0"/>
          </a:p>
        </p:txBody>
      </p:sp>
      <p:sp>
        <p:nvSpPr>
          <p:cNvPr id="5" name="Text 2"/>
          <p:cNvSpPr txBox="1"/>
          <p:nvPr/>
        </p:nvSpPr>
        <p:spPr>
          <a:xfrm>
            <a:off x="5852160" y="2788920"/>
            <a:ext cx="5760720" cy="914400"/>
          </a:xfrm>
          <a:prstGeom prst="rect">
            <a:avLst/>
          </a:prstGeom>
          <a:noFill/>
          <a:ln/>
        </p:spPr>
        <p:txBody>
          <a:bodyPr wrap="square" lIns="0" tIns="0" rIns="0" bIns="0" rtlCol="0" anchor="t"/>
          <a:lstStyle/>
          <a:p>
            <a:pPr indent="0" marL="0">
              <a:lnSpc>
                <a:spcPct val="115000"/>
              </a:lnSpc>
              <a:buNone/>
            </a:pPr>
            <a:r>
              <a:rPr lang="en-US" sz="1400" dirty="0">
                <a:solidFill>
                  <a:srgbClr val="FFFFFF"/>
                </a:solidFill>
              </a:rPr>
              <a:t>Fase 2 · Desarrollo y ejecución. Presentación de avance al cierre del Sprint 7: la app, la torre de control y el servidor funcionan de punta a punta en un entorno de prueba en la nube.</a:t>
            </a:r>
            <a:endParaRPr lang="en-US" sz="1400" dirty="0"/>
          </a:p>
        </p:txBody>
      </p:sp>
      <p:sp>
        <p:nvSpPr>
          <p:cNvPr id="6" name="Shape 3"/>
          <p:cNvSpPr/>
          <p:nvPr/>
        </p:nvSpPr>
        <p:spPr>
          <a:xfrm>
            <a:off x="5852160" y="3931920"/>
            <a:ext cx="1828800" cy="347472"/>
          </a:xfrm>
          <a:prstGeom prst="roundRect">
            <a:avLst>
              <a:gd name="adj" fmla="val 44737"/>
            </a:avLst>
          </a:prstGeom>
          <a:solidFill>
            <a:srgbClr val="243B6B"/>
          </a:solidFill>
          <a:ln w="12700">
            <a:solidFill>
              <a:srgbClr val="243B6B"/>
            </a:solidFill>
            <a:prstDash val="solid"/>
          </a:ln>
        </p:spPr>
      </p:sp>
      <p:sp>
        <p:nvSpPr>
          <p:cNvPr id="7" name="Text 4"/>
          <p:cNvSpPr txBox="1"/>
          <p:nvPr/>
        </p:nvSpPr>
        <p:spPr>
          <a:xfrm>
            <a:off x="5852160" y="3931920"/>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rPr>
              <a:t>Ofertas de maestros</a:t>
            </a:r>
            <a:endParaRPr lang="en-US" sz="1100" dirty="0"/>
          </a:p>
        </p:txBody>
      </p:sp>
      <p:sp>
        <p:nvSpPr>
          <p:cNvPr id="8" name="Shape 5"/>
          <p:cNvSpPr/>
          <p:nvPr/>
        </p:nvSpPr>
        <p:spPr>
          <a:xfrm>
            <a:off x="7772400" y="3931920"/>
            <a:ext cx="1828800" cy="347472"/>
          </a:xfrm>
          <a:prstGeom prst="roundRect">
            <a:avLst>
              <a:gd name="adj" fmla="val 44737"/>
            </a:avLst>
          </a:prstGeom>
          <a:solidFill>
            <a:srgbClr val="243B6B"/>
          </a:solidFill>
          <a:ln w="12700">
            <a:solidFill>
              <a:srgbClr val="243B6B"/>
            </a:solidFill>
            <a:prstDash val="solid"/>
          </a:ln>
        </p:spPr>
      </p:sp>
      <p:sp>
        <p:nvSpPr>
          <p:cNvPr id="9" name="Text 6"/>
          <p:cNvSpPr txBox="1"/>
          <p:nvPr/>
        </p:nvSpPr>
        <p:spPr>
          <a:xfrm>
            <a:off x="7772400" y="3931920"/>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rPr>
              <a:t>Precio aprobado antes</a:t>
            </a:r>
            <a:endParaRPr lang="en-US" sz="1100" dirty="0"/>
          </a:p>
        </p:txBody>
      </p:sp>
      <p:sp>
        <p:nvSpPr>
          <p:cNvPr id="10" name="Shape 7"/>
          <p:cNvSpPr/>
          <p:nvPr/>
        </p:nvSpPr>
        <p:spPr>
          <a:xfrm>
            <a:off x="9692640" y="3931920"/>
            <a:ext cx="1828800" cy="347472"/>
          </a:xfrm>
          <a:prstGeom prst="roundRect">
            <a:avLst>
              <a:gd name="adj" fmla="val 44737"/>
            </a:avLst>
          </a:prstGeom>
          <a:solidFill>
            <a:srgbClr val="243B6B"/>
          </a:solidFill>
          <a:ln w="12700">
            <a:solidFill>
              <a:srgbClr val="243B6B"/>
            </a:solidFill>
            <a:prstDash val="solid"/>
          </a:ln>
        </p:spPr>
      </p:sp>
      <p:sp>
        <p:nvSpPr>
          <p:cNvPr id="11" name="Text 8"/>
          <p:cNvSpPr txBox="1"/>
          <p:nvPr/>
        </p:nvSpPr>
        <p:spPr>
          <a:xfrm>
            <a:off x="9692640" y="3931920"/>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rPr>
              <a:t>Pago protegido</a:t>
            </a:r>
            <a:endParaRPr lang="en-US" sz="1100" dirty="0"/>
          </a:p>
        </p:txBody>
      </p:sp>
      <p:sp>
        <p:nvSpPr>
          <p:cNvPr id="12" name="Text 9"/>
          <p:cNvSpPr txBox="1"/>
          <p:nvPr/>
        </p:nvSpPr>
        <p:spPr>
          <a:xfrm>
            <a:off x="5852160" y="4434840"/>
            <a:ext cx="5760720" cy="320040"/>
          </a:xfrm>
          <a:prstGeom prst="rect">
            <a:avLst/>
          </a:prstGeom>
          <a:noFill/>
          <a:ln/>
        </p:spPr>
        <p:txBody>
          <a:bodyPr wrap="square" lIns="0" tIns="0" rIns="0" bIns="0" rtlCol="0" anchor="t"/>
          <a:lstStyle/>
          <a:p>
            <a:pPr indent="0" marL="0">
              <a:buNone/>
            </a:pPr>
            <a:r>
              <a:rPr lang="en-US" sz="1200" dirty="0">
                <a:solidFill>
                  <a:srgbClr val="A9B4CC"/>
                </a:solidFill>
              </a:rPr>
              <a:t>Limpieza del hogar · Gasfitería · Cerrajería</a:t>
            </a:r>
            <a:endParaRPr lang="en-US" sz="1200" dirty="0"/>
          </a:p>
        </p:txBody>
      </p:sp>
      <p:sp>
        <p:nvSpPr>
          <p:cNvPr id="13" name="Text 10"/>
          <p:cNvSpPr txBox="1"/>
          <p:nvPr/>
        </p:nvSpPr>
        <p:spPr>
          <a:xfrm>
            <a:off x="5852160" y="5257800"/>
            <a:ext cx="5760720" cy="274320"/>
          </a:xfrm>
          <a:prstGeom prst="rect">
            <a:avLst/>
          </a:prstGeom>
          <a:noFill/>
          <a:ln/>
        </p:spPr>
        <p:txBody>
          <a:bodyPr wrap="square" lIns="0" tIns="0" rIns="0" bIns="0" rtlCol="0" anchor="t"/>
          <a:lstStyle/>
          <a:p>
            <a:pPr indent="0" marL="0">
              <a:buNone/>
            </a:pPr>
            <a:r>
              <a:rPr lang="en-US" sz="1150" dirty="0">
                <a:solidFill>
                  <a:srgbClr val="A9B4CC"/>
                </a:solidFill>
              </a:rPr>
              <a:t>Proyecto APT · Ingeniería en Informática · Duoc UC, sede Plaza Norte</a:t>
            </a:r>
            <a:endParaRPr lang="en-US" sz="1150" dirty="0"/>
          </a:p>
        </p:txBody>
      </p:sp>
      <p:sp>
        <p:nvSpPr>
          <p:cNvPr id="14" name="Text 11"/>
          <p:cNvSpPr txBox="1"/>
          <p:nvPr/>
        </p:nvSpPr>
        <p:spPr>
          <a:xfrm>
            <a:off x="5852160" y="5532120"/>
            <a:ext cx="5760720" cy="274320"/>
          </a:xfrm>
          <a:prstGeom prst="rect">
            <a:avLst/>
          </a:prstGeom>
          <a:noFill/>
          <a:ln/>
        </p:spPr>
        <p:txBody>
          <a:bodyPr wrap="square" lIns="0" tIns="0" rIns="0" bIns="0" rtlCol="0" anchor="t"/>
          <a:lstStyle/>
          <a:p>
            <a:pPr indent="0" marL="0">
              <a:buNone/>
            </a:pPr>
            <a:r>
              <a:rPr lang="en-US" sz="1300" b="1" dirty="0">
                <a:solidFill>
                  <a:srgbClr val="FFFFFF"/>
                </a:solidFill>
              </a:rPr>
              <a:t>Mauricio Poblete · Tania Sáez · Nayareth Suárez</a:t>
            </a:r>
            <a:endParaRPr lang="en-US" sz="1300" dirty="0"/>
          </a:p>
        </p:txBody>
      </p:sp>
      <p:sp>
        <p:nvSpPr>
          <p:cNvPr id="15" name="Text 12"/>
          <p:cNvSpPr txBox="1"/>
          <p:nvPr/>
        </p:nvSpPr>
        <p:spPr>
          <a:xfrm>
            <a:off x="5852160" y="5852160"/>
            <a:ext cx="5760720" cy="274320"/>
          </a:xfrm>
          <a:prstGeom prst="rect">
            <a:avLst/>
          </a:prstGeom>
          <a:noFill/>
          <a:ln/>
        </p:spPr>
        <p:txBody>
          <a:bodyPr wrap="square" lIns="0" tIns="0" rIns="0" bIns="0" rtlCol="0" anchor="t"/>
          <a:lstStyle/>
          <a:p>
            <a:pPr indent="0" marL="0">
              <a:buNone/>
            </a:pPr>
            <a:r>
              <a:rPr lang="en-US" sz="1100" dirty="0">
                <a:solidFill>
                  <a:srgbClr val="A9B4CC"/>
                </a:solidFill>
              </a:rPr>
              <a:t>Presentación de avance · Portafolio de Título · octubre de 2026</a:t>
            </a:r>
            <a:endParaRPr lang="en-US" sz="1100" dirty="0"/>
          </a:p>
        </p:txBody>
      </p:sp>
      <p:sp>
        <p:nvSpPr>
          <p:cNvPr id="16" name="Text 13"/>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A9B4CC"/>
                </a:solidFill>
              </a:rPr>
              <a:t>Relwo · Proyecto APT · Fase 2</a:t>
            </a:r>
            <a:endParaRPr lang="en-US" sz="900" dirty="0"/>
          </a:p>
        </p:txBody>
      </p:sp>
      <p:sp>
        <p:nvSpPr>
          <p:cNvPr id="17" name="Text 14"/>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A9B4CC"/>
                </a:solidFill>
              </a:rPr>
              <a:t>Mauricio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7315200" cy="274320"/>
          </a:xfrm>
          <a:prstGeom prst="rect">
            <a:avLst/>
          </a:prstGeom>
          <a:noFill/>
          <a:ln/>
        </p:spPr>
        <p:txBody>
          <a:bodyPr wrap="square" lIns="0" tIns="0" rIns="0" bIns="0" rtlCol="0" anchor="t"/>
          <a:lstStyle/>
          <a:p>
            <a:pPr indent="0" marL="0">
              <a:buNone/>
            </a:pPr>
            <a:r>
              <a:rPr lang="en-US" sz="1100" b="1" spc="200" kern="0" dirty="0">
                <a:solidFill>
                  <a:srgbClr val="F06449"/>
                </a:solidFill>
              </a:rPr>
              <a:t>EL PROBLEMA</a:t>
            </a:r>
            <a:endParaRPr lang="en-US" sz="1100" dirty="0"/>
          </a:p>
        </p:txBody>
      </p:sp>
      <p:sp>
        <p:nvSpPr>
          <p:cNvPr id="3" name="Text 1"/>
          <p:cNvSpPr txBox="1"/>
          <p:nvPr/>
        </p:nvSpPr>
        <p:spPr>
          <a:xfrm>
            <a:off x="548640" y="2377440"/>
            <a:ext cx="11064240" cy="1280160"/>
          </a:xfrm>
          <a:prstGeom prst="rect">
            <a:avLst/>
          </a:prstGeom>
          <a:noFill/>
          <a:ln/>
        </p:spPr>
        <p:txBody>
          <a:bodyPr wrap="square" lIns="0" tIns="0" rIns="0" bIns="0" rtlCol="0" anchor="t"/>
          <a:lstStyle/>
          <a:p>
            <a:pPr indent="0" marL="0">
              <a:buNone/>
            </a:pPr>
            <a:r>
              <a:rPr lang="en-US" sz="6000" b="1" dirty="0">
                <a:solidFill>
                  <a:srgbClr val="FFFFFF"/>
                </a:solidFill>
              </a:rPr>
              <a:t>Se rompió la llave de paso.</a:t>
            </a:r>
            <a:endParaRPr lang="en-US" sz="6000" dirty="0"/>
          </a:p>
        </p:txBody>
      </p:sp>
      <p:sp>
        <p:nvSpPr>
          <p:cNvPr id="4" name="Text 2"/>
          <p:cNvSpPr txBox="1"/>
          <p:nvPr/>
        </p:nvSpPr>
        <p:spPr>
          <a:xfrm>
            <a:off x="548640" y="3840480"/>
            <a:ext cx="9144000" cy="731520"/>
          </a:xfrm>
          <a:prstGeom prst="rect">
            <a:avLst/>
          </a:prstGeom>
          <a:noFill/>
          <a:ln/>
        </p:spPr>
        <p:txBody>
          <a:bodyPr wrap="square" lIns="0" tIns="0" rIns="0" bIns="0" rtlCol="0" anchor="t"/>
          <a:lstStyle/>
          <a:p>
            <a:pPr indent="0" marL="0">
              <a:buNone/>
            </a:pPr>
            <a:r>
              <a:rPr lang="en-US" sz="2000" dirty="0">
                <a:solidFill>
                  <a:srgbClr val="A9B4CC"/>
                </a:solidFill>
              </a:rPr>
              <a:t>Es domingo en la tarde. No es una emergencia de bomberos, pero tampoco puede esperar al lunes.</a:t>
            </a:r>
            <a:endParaRPr lang="en-US" sz="2000" dirty="0"/>
          </a:p>
        </p:txBody>
      </p:sp>
      <p:sp>
        <p:nvSpPr>
          <p:cNvPr id="5" name="Text 3"/>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A9B4CC"/>
                </a:solidFill>
              </a:rPr>
              <a:t>Relwo · Proyecto APT · Fase 2</a:t>
            </a:r>
            <a:endParaRPr lang="en-US" sz="900" dirty="0"/>
          </a:p>
        </p:txBody>
      </p:sp>
      <p:sp>
        <p:nvSpPr>
          <p:cNvPr id="6" name="Text 4"/>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A9B4CC"/>
                </a:solidFill>
              </a:rPr>
              <a:t>Mauricio</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640080"/>
            <a:ext cx="11064240" cy="914400"/>
          </a:xfrm>
          <a:prstGeom prst="rect">
            <a:avLst/>
          </a:prstGeom>
          <a:noFill/>
          <a:ln/>
        </p:spPr>
        <p:txBody>
          <a:bodyPr wrap="square" lIns="0" tIns="0" rIns="0" bIns="0" rtlCol="0" anchor="t"/>
          <a:lstStyle/>
          <a:p>
            <a:pPr indent="0" marL="0">
              <a:buNone/>
            </a:pPr>
            <a:r>
              <a:rPr lang="en-US" sz="4800" b="1" dirty="0">
                <a:solidFill>
                  <a:srgbClr val="F06449"/>
                </a:solidFill>
              </a:rPr>
              <a:t>¿A quién llamas?</a:t>
            </a:r>
            <a:endParaRPr lang="en-US" sz="4800" dirty="0"/>
          </a:p>
        </p:txBody>
      </p:sp>
      <p:sp>
        <p:nvSpPr>
          <p:cNvPr id="3" name="Text 1"/>
          <p:cNvSpPr txBox="1"/>
          <p:nvPr/>
        </p:nvSpPr>
        <p:spPr>
          <a:xfrm>
            <a:off x="548640" y="1554480"/>
            <a:ext cx="10058400" cy="548640"/>
          </a:xfrm>
          <a:prstGeom prst="rect">
            <a:avLst/>
          </a:prstGeom>
          <a:noFill/>
          <a:ln/>
        </p:spPr>
        <p:txBody>
          <a:bodyPr wrap="square" lIns="0" tIns="0" rIns="0" bIns="0" rtlCol="0" anchor="t"/>
          <a:lstStyle/>
          <a:p>
            <a:pPr indent="0" marL="0">
              <a:buNone/>
            </a:pPr>
            <a:r>
              <a:rPr lang="en-US" sz="1800" dirty="0">
                <a:solidFill>
                  <a:srgbClr val="A9B4CC"/>
                </a:solidFill>
              </a:rPr>
              <a:t>La mayoría termina llamando al conocido de un conocido. Y en ese momento no sabe tres cosas.</a:t>
            </a:r>
            <a:endParaRPr lang="en-US" sz="1800" dirty="0"/>
          </a:p>
        </p:txBody>
      </p:sp>
      <p:sp>
        <p:nvSpPr>
          <p:cNvPr id="4" name="Shape 2"/>
          <p:cNvSpPr/>
          <p:nvPr/>
        </p:nvSpPr>
        <p:spPr>
          <a:xfrm>
            <a:off x="548640" y="2468880"/>
            <a:ext cx="3566160" cy="3200400"/>
          </a:xfrm>
          <a:prstGeom prst="roundRect">
            <a:avLst>
              <a:gd name="adj" fmla="val 4000"/>
            </a:avLst>
          </a:prstGeom>
          <a:solidFill>
            <a:srgbClr val="243B6B"/>
          </a:solidFill>
          <a:ln w="12700">
            <a:solidFill>
              <a:srgbClr val="243B6B"/>
            </a:solidFill>
            <a:prstDash val="solid"/>
          </a:ln>
        </p:spPr>
      </p:sp>
      <p:sp>
        <p:nvSpPr>
          <p:cNvPr id="5" name="Text 3"/>
          <p:cNvSpPr txBox="1"/>
          <p:nvPr/>
        </p:nvSpPr>
        <p:spPr>
          <a:xfrm>
            <a:off x="822960" y="2697480"/>
            <a:ext cx="3017520" cy="274320"/>
          </a:xfrm>
          <a:prstGeom prst="rect">
            <a:avLst/>
          </a:prstGeom>
          <a:noFill/>
          <a:ln/>
        </p:spPr>
        <p:txBody>
          <a:bodyPr wrap="square" lIns="0" tIns="0" rIns="0" bIns="0" rtlCol="0" anchor="t"/>
          <a:lstStyle/>
          <a:p>
            <a:pPr indent="0" marL="0">
              <a:buNone/>
            </a:pPr>
            <a:r>
              <a:rPr lang="en-US" sz="1100" b="1" spc="200" kern="0" dirty="0">
                <a:solidFill>
                  <a:srgbClr val="A9B4CC"/>
                </a:solidFill>
              </a:rPr>
              <a:t>UNO</a:t>
            </a:r>
            <a:endParaRPr lang="en-US" sz="1100" dirty="0"/>
          </a:p>
        </p:txBody>
      </p:sp>
      <p:sp>
        <p:nvSpPr>
          <p:cNvPr id="6" name="Text 4"/>
          <p:cNvSpPr txBox="1"/>
          <p:nvPr/>
        </p:nvSpPr>
        <p:spPr>
          <a:xfrm>
            <a:off x="822960" y="3017520"/>
            <a:ext cx="3017520" cy="1097280"/>
          </a:xfrm>
          <a:prstGeom prst="rect">
            <a:avLst/>
          </a:prstGeom>
          <a:noFill/>
          <a:ln/>
        </p:spPr>
        <p:txBody>
          <a:bodyPr wrap="square" lIns="0" tIns="0" rIns="0" bIns="0" rtlCol="0" anchor="t"/>
          <a:lstStyle/>
          <a:p>
            <a:pPr indent="0" marL="0">
              <a:buNone/>
            </a:pPr>
            <a:r>
              <a:rPr lang="en-US" sz="2400" b="1" dirty="0">
                <a:solidFill>
                  <a:srgbClr val="FFFFFF"/>
                </a:solidFill>
              </a:rPr>
              <a:t>No sabes cuánto va a costar.</a:t>
            </a:r>
            <a:endParaRPr lang="en-US" sz="2400" dirty="0"/>
          </a:p>
        </p:txBody>
      </p:sp>
      <p:sp>
        <p:nvSpPr>
          <p:cNvPr id="7" name="Text 5"/>
          <p:cNvSpPr txBox="1"/>
          <p:nvPr/>
        </p:nvSpPr>
        <p:spPr>
          <a:xfrm>
            <a:off x="822960" y="4297680"/>
            <a:ext cx="3017520" cy="1188720"/>
          </a:xfrm>
          <a:prstGeom prst="rect">
            <a:avLst/>
          </a:prstGeom>
          <a:noFill/>
          <a:ln/>
        </p:spPr>
        <p:txBody>
          <a:bodyPr wrap="square" lIns="0" tIns="0" rIns="0" bIns="0" rtlCol="0" anchor="t"/>
          <a:lstStyle/>
          <a:p>
            <a:pPr indent="0" marL="0">
              <a:lnSpc>
                <a:spcPct val="115000"/>
              </a:lnSpc>
              <a:buNone/>
            </a:pPr>
            <a:r>
              <a:rPr lang="en-US" sz="1350" dirty="0">
                <a:solidFill>
                  <a:srgbClr val="A9B4CC"/>
                </a:solidFill>
              </a:rPr>
              <a:t>El precio aparece cuando el maestro ya está en la casa, y ahí es difícil decir que no.</a:t>
            </a:r>
            <a:endParaRPr lang="en-US" sz="1350" dirty="0"/>
          </a:p>
        </p:txBody>
      </p:sp>
      <p:sp>
        <p:nvSpPr>
          <p:cNvPr id="8" name="Shape 6"/>
          <p:cNvSpPr/>
          <p:nvPr/>
        </p:nvSpPr>
        <p:spPr>
          <a:xfrm>
            <a:off x="4297680" y="2468880"/>
            <a:ext cx="3566160" cy="3200400"/>
          </a:xfrm>
          <a:prstGeom prst="roundRect">
            <a:avLst>
              <a:gd name="adj" fmla="val 4000"/>
            </a:avLst>
          </a:prstGeom>
          <a:solidFill>
            <a:srgbClr val="243B6B"/>
          </a:solidFill>
          <a:ln w="12700">
            <a:solidFill>
              <a:srgbClr val="243B6B"/>
            </a:solidFill>
            <a:prstDash val="solid"/>
          </a:ln>
        </p:spPr>
      </p:sp>
      <p:sp>
        <p:nvSpPr>
          <p:cNvPr id="9" name="Text 7"/>
          <p:cNvSpPr txBox="1"/>
          <p:nvPr/>
        </p:nvSpPr>
        <p:spPr>
          <a:xfrm>
            <a:off x="4572000" y="2697480"/>
            <a:ext cx="3017520" cy="274320"/>
          </a:xfrm>
          <a:prstGeom prst="rect">
            <a:avLst/>
          </a:prstGeom>
          <a:noFill/>
          <a:ln/>
        </p:spPr>
        <p:txBody>
          <a:bodyPr wrap="square" lIns="0" tIns="0" rIns="0" bIns="0" rtlCol="0" anchor="t"/>
          <a:lstStyle/>
          <a:p>
            <a:pPr indent="0" marL="0">
              <a:buNone/>
            </a:pPr>
            <a:r>
              <a:rPr lang="en-US" sz="1100" b="1" spc="200" kern="0" dirty="0">
                <a:solidFill>
                  <a:srgbClr val="A9B4CC"/>
                </a:solidFill>
              </a:rPr>
              <a:t>DOS</a:t>
            </a:r>
            <a:endParaRPr lang="en-US" sz="1100" dirty="0"/>
          </a:p>
        </p:txBody>
      </p:sp>
      <p:sp>
        <p:nvSpPr>
          <p:cNvPr id="10" name="Text 8"/>
          <p:cNvSpPr txBox="1"/>
          <p:nvPr/>
        </p:nvSpPr>
        <p:spPr>
          <a:xfrm>
            <a:off x="4572000" y="3017520"/>
            <a:ext cx="3017520" cy="1097280"/>
          </a:xfrm>
          <a:prstGeom prst="rect">
            <a:avLst/>
          </a:prstGeom>
          <a:noFill/>
          <a:ln/>
        </p:spPr>
        <p:txBody>
          <a:bodyPr wrap="square" lIns="0" tIns="0" rIns="0" bIns="0" rtlCol="0" anchor="t"/>
          <a:lstStyle/>
          <a:p>
            <a:pPr indent="0" marL="0">
              <a:buNone/>
            </a:pPr>
            <a:r>
              <a:rPr lang="en-US" sz="2400" b="1" dirty="0">
                <a:solidFill>
                  <a:srgbClr val="FFFFFF"/>
                </a:solidFill>
              </a:rPr>
              <a:t>No sabes si es confiable.</a:t>
            </a:r>
            <a:endParaRPr lang="en-US" sz="2400" dirty="0"/>
          </a:p>
        </p:txBody>
      </p:sp>
      <p:sp>
        <p:nvSpPr>
          <p:cNvPr id="11" name="Text 9"/>
          <p:cNvSpPr txBox="1"/>
          <p:nvPr/>
        </p:nvSpPr>
        <p:spPr>
          <a:xfrm>
            <a:off x="4572000" y="4297680"/>
            <a:ext cx="3017520" cy="1188720"/>
          </a:xfrm>
          <a:prstGeom prst="rect">
            <a:avLst/>
          </a:prstGeom>
          <a:noFill/>
          <a:ln/>
        </p:spPr>
        <p:txBody>
          <a:bodyPr wrap="square" lIns="0" tIns="0" rIns="0" bIns="0" rtlCol="0" anchor="t"/>
          <a:lstStyle/>
          <a:p>
            <a:pPr indent="0" marL="0">
              <a:lnSpc>
                <a:spcPct val="115000"/>
              </a:lnSpc>
              <a:buNone/>
            </a:pPr>
            <a:r>
              <a:rPr lang="en-US" sz="1350" dirty="0">
                <a:solidFill>
                  <a:srgbClr val="A9B4CC"/>
                </a:solidFill>
              </a:rPr>
              <a:t>Le abres la puerta de tu casa a alguien de quien sabes, como mucho, un nombre y un número.</a:t>
            </a:r>
            <a:endParaRPr lang="en-US" sz="1350" dirty="0"/>
          </a:p>
        </p:txBody>
      </p:sp>
      <p:sp>
        <p:nvSpPr>
          <p:cNvPr id="12" name="Shape 10"/>
          <p:cNvSpPr/>
          <p:nvPr/>
        </p:nvSpPr>
        <p:spPr>
          <a:xfrm>
            <a:off x="8046720" y="2468880"/>
            <a:ext cx="3566160" cy="3200400"/>
          </a:xfrm>
          <a:prstGeom prst="roundRect">
            <a:avLst>
              <a:gd name="adj" fmla="val 4000"/>
            </a:avLst>
          </a:prstGeom>
          <a:solidFill>
            <a:srgbClr val="243B6B"/>
          </a:solidFill>
          <a:ln w="12700">
            <a:solidFill>
              <a:srgbClr val="243B6B"/>
            </a:solidFill>
            <a:prstDash val="solid"/>
          </a:ln>
        </p:spPr>
      </p:sp>
      <p:sp>
        <p:nvSpPr>
          <p:cNvPr id="13" name="Text 11"/>
          <p:cNvSpPr txBox="1"/>
          <p:nvPr/>
        </p:nvSpPr>
        <p:spPr>
          <a:xfrm>
            <a:off x="8321040" y="2697480"/>
            <a:ext cx="3017520" cy="274320"/>
          </a:xfrm>
          <a:prstGeom prst="rect">
            <a:avLst/>
          </a:prstGeom>
          <a:noFill/>
          <a:ln/>
        </p:spPr>
        <p:txBody>
          <a:bodyPr wrap="square" lIns="0" tIns="0" rIns="0" bIns="0" rtlCol="0" anchor="t"/>
          <a:lstStyle/>
          <a:p>
            <a:pPr indent="0" marL="0">
              <a:buNone/>
            </a:pPr>
            <a:r>
              <a:rPr lang="en-US" sz="1100" b="1" spc="200" kern="0" dirty="0">
                <a:solidFill>
                  <a:srgbClr val="A9B4CC"/>
                </a:solidFill>
              </a:rPr>
              <a:t>TRES</a:t>
            </a:r>
            <a:endParaRPr lang="en-US" sz="1100" dirty="0"/>
          </a:p>
        </p:txBody>
      </p:sp>
      <p:sp>
        <p:nvSpPr>
          <p:cNvPr id="14" name="Text 12"/>
          <p:cNvSpPr txBox="1"/>
          <p:nvPr/>
        </p:nvSpPr>
        <p:spPr>
          <a:xfrm>
            <a:off x="8321040" y="3017520"/>
            <a:ext cx="3017520" cy="1097280"/>
          </a:xfrm>
          <a:prstGeom prst="rect">
            <a:avLst/>
          </a:prstGeom>
          <a:noFill/>
          <a:ln/>
        </p:spPr>
        <p:txBody>
          <a:bodyPr wrap="square" lIns="0" tIns="0" rIns="0" bIns="0" rtlCol="0" anchor="t"/>
          <a:lstStyle/>
          <a:p>
            <a:pPr indent="0" marL="0">
              <a:buNone/>
            </a:pPr>
            <a:r>
              <a:rPr lang="en-US" sz="2400" b="1" dirty="0">
                <a:solidFill>
                  <a:srgbClr val="FFFFFF"/>
                </a:solidFill>
              </a:rPr>
              <a:t>No sabes si va a llegar.</a:t>
            </a:r>
            <a:endParaRPr lang="en-US" sz="2400" dirty="0"/>
          </a:p>
        </p:txBody>
      </p:sp>
      <p:sp>
        <p:nvSpPr>
          <p:cNvPr id="15" name="Text 13"/>
          <p:cNvSpPr txBox="1"/>
          <p:nvPr/>
        </p:nvSpPr>
        <p:spPr>
          <a:xfrm>
            <a:off x="8321040" y="4297680"/>
            <a:ext cx="3017520" cy="1188720"/>
          </a:xfrm>
          <a:prstGeom prst="rect">
            <a:avLst/>
          </a:prstGeom>
          <a:noFill/>
          <a:ln/>
        </p:spPr>
        <p:txBody>
          <a:bodyPr wrap="square" lIns="0" tIns="0" rIns="0" bIns="0" rtlCol="0" anchor="t"/>
          <a:lstStyle/>
          <a:p>
            <a:pPr indent="0" marL="0">
              <a:lnSpc>
                <a:spcPct val="115000"/>
              </a:lnSpc>
              <a:buNone/>
            </a:pPr>
            <a:r>
              <a:rPr lang="en-US" sz="1350" dirty="0">
                <a:solidFill>
                  <a:srgbClr val="A9B4CC"/>
                </a:solidFill>
              </a:rPr>
              <a:t>«Voy para allá» puede significar veinte minutos o nunca.</a:t>
            </a:r>
            <a:endParaRPr lang="en-US" sz="1350" dirty="0"/>
          </a:p>
        </p:txBody>
      </p:sp>
      <p:sp>
        <p:nvSpPr>
          <p:cNvPr id="16" name="Text 14"/>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A9B4CC"/>
                </a:solidFill>
              </a:rPr>
              <a:t>Relwo · Proyecto APT · Fase 2</a:t>
            </a:r>
            <a:endParaRPr lang="en-US" sz="900" dirty="0"/>
          </a:p>
        </p:txBody>
      </p:sp>
      <p:sp>
        <p:nvSpPr>
          <p:cNvPr id="17" name="Text 15"/>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A9B4CC"/>
                </a:solidFill>
              </a:rPr>
              <a:t>Mauricio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FUNDAMENTACIÓN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Contratar un servicio a domicilio sigue siendo informal</a:t>
            </a:r>
            <a:endParaRPr lang="en-US" sz="3000" dirty="0"/>
          </a:p>
        </p:txBody>
      </p:sp>
      <p:sp>
        <p:nvSpPr>
          <p:cNvPr id="4" name="Shape 2"/>
          <p:cNvSpPr/>
          <p:nvPr/>
        </p:nvSpPr>
        <p:spPr>
          <a:xfrm>
            <a:off x="548640" y="1508760"/>
            <a:ext cx="5394960" cy="3017520"/>
          </a:xfrm>
          <a:prstGeom prst="roundRect">
            <a:avLst>
              <a:gd name="adj" fmla="val 3636"/>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5" name="Shape 3"/>
          <p:cNvSpPr/>
          <p:nvPr/>
        </p:nvSpPr>
        <p:spPr>
          <a:xfrm>
            <a:off x="822960" y="1737360"/>
            <a:ext cx="548640" cy="548640"/>
          </a:xfrm>
          <a:prstGeom prst="ellipse">
            <a:avLst/>
          </a:prstGeom>
          <a:solidFill>
            <a:srgbClr val="F0EEFF"/>
          </a:solidFill>
          <a:ln w="12700">
            <a:solidFill>
              <a:srgbClr val="F0EEFF"/>
            </a:solidFill>
            <a:prstDash val="solid"/>
          </a:ln>
        </p:spPr>
      </p:sp>
      <p:pic>
        <p:nvPicPr>
          <p:cNvPr id="6" name="Image 0" descr="/private/tmp/claude-501/-Users-mauriciops-Proyectos-relwo-capstone/1a8b5f2b-d3d9-4b63-bfed-da79668ca276/scratchpad/pptx-build/assets/image5.png">    </p:cNvPr>
          <p:cNvPicPr>
            <a:picLocks noChangeAspect="1"/>
          </p:cNvPicPr>
          <p:nvPr/>
        </p:nvPicPr>
        <p:blipFill>
          <a:blip r:embed="rId1"/>
          <a:stretch>
            <a:fillRect/>
          </a:stretch>
        </p:blipFill>
        <p:spPr>
          <a:xfrm>
            <a:off x="965606" y="1880006"/>
            <a:ext cx="263347" cy="263347"/>
          </a:xfrm>
          <a:prstGeom prst="rect">
            <a:avLst/>
          </a:prstGeom>
        </p:spPr>
      </p:pic>
      <p:sp>
        <p:nvSpPr>
          <p:cNvPr id="7" name="Text 4"/>
          <p:cNvSpPr txBox="1"/>
          <p:nvPr/>
        </p:nvSpPr>
        <p:spPr>
          <a:xfrm>
            <a:off x="1508760" y="1810512"/>
            <a:ext cx="4114800" cy="411480"/>
          </a:xfrm>
          <a:prstGeom prst="rect">
            <a:avLst/>
          </a:prstGeom>
          <a:noFill/>
          <a:ln/>
        </p:spPr>
        <p:txBody>
          <a:bodyPr wrap="square" lIns="0" tIns="0" rIns="0" bIns="0" rtlCol="0" anchor="t"/>
          <a:lstStyle/>
          <a:p>
            <a:pPr indent="0" marL="0">
              <a:buNone/>
            </a:pPr>
            <a:r>
              <a:rPr lang="en-US" sz="1800" b="1" dirty="0">
                <a:solidFill>
                  <a:srgbClr val="172442"/>
                </a:solidFill>
              </a:rPr>
              <a:t>Para el hogar</a:t>
            </a:r>
            <a:endParaRPr lang="en-US" sz="1800" dirty="0"/>
          </a:p>
        </p:txBody>
      </p:sp>
      <p:sp>
        <p:nvSpPr>
          <p:cNvPr id="8" name="Text 5"/>
          <p:cNvSpPr txBox="1"/>
          <p:nvPr/>
        </p:nvSpPr>
        <p:spPr>
          <a:xfrm>
            <a:off x="822960" y="2423160"/>
            <a:ext cx="4846320" cy="2011680"/>
          </a:xfrm>
          <a:prstGeom prst="rect">
            <a:avLst/>
          </a:prstGeom>
          <a:noFill/>
          <a:ln/>
        </p:spPr>
        <p:txBody>
          <a:bodyPr wrap="square" lIns="0" tIns="0" rIns="0" bIns="0" rtlCol="0" anchor="t"/>
          <a:lstStyle/>
          <a:p>
            <a:pPr marL="152400" indent="-152400">
              <a:spcAft>
                <a:spcPts val="600"/>
              </a:spcAft>
              <a:buSzPct val="100000"/>
              <a:buChar char="•"/>
            </a:pPr>
            <a:r>
              <a:rPr lang="en-US" sz="1350" dirty="0">
                <a:solidFill>
                  <a:srgbClr val="202636"/>
                </a:solidFill>
              </a:rPr>
              <a:t>Se busca por recomendación, redes sociales o avisos clasificados.</a:t>
            </a:r>
            <a:endParaRPr lang="en-US" sz="1350" dirty="0"/>
          </a:p>
          <a:p>
            <a:pPr marL="152400" indent="-152400">
              <a:spcAft>
                <a:spcPts val="600"/>
              </a:spcAft>
              <a:buSzPct val="100000"/>
              <a:buChar char="•"/>
            </a:pPr>
            <a:r>
              <a:rPr lang="en-US" sz="1350" dirty="0">
                <a:solidFill>
                  <a:srgbClr val="202636"/>
                </a:solidFill>
              </a:rPr>
              <a:t>No hay forma de verificar quién llegará al domicilio.</a:t>
            </a:r>
            <a:endParaRPr lang="en-US" sz="1350" dirty="0"/>
          </a:p>
          <a:p>
            <a:pPr marL="152400" indent="-152400">
              <a:spcAft>
                <a:spcPts val="600"/>
              </a:spcAft>
              <a:buSzPct val="100000"/>
              <a:buChar char="•"/>
            </a:pPr>
            <a:r>
              <a:rPr lang="en-US" sz="1350" dirty="0">
                <a:solidFill>
                  <a:srgbClr val="202636"/>
                </a:solidFill>
              </a:rPr>
              <a:t>El precio se conversa por mensajería y el pago se hace en efectivo o transferencia.</a:t>
            </a:r>
            <a:endParaRPr lang="en-US" sz="1350" dirty="0"/>
          </a:p>
          <a:p>
            <a:pPr marL="152400" indent="-152400">
              <a:spcAft>
                <a:spcPts val="600"/>
              </a:spcAft>
              <a:buSzPct val="100000"/>
              <a:buChar char="•"/>
            </a:pPr>
            <a:r>
              <a:rPr lang="en-US" sz="1350" dirty="0">
                <a:solidFill>
                  <a:srgbClr val="202636"/>
                </a:solidFill>
              </a:rPr>
              <a:t>Sin respaldo si el trabajo queda mal hecho o no se realiza.</a:t>
            </a:r>
            <a:endParaRPr lang="en-US" sz="1350" dirty="0"/>
          </a:p>
        </p:txBody>
      </p:sp>
      <p:sp>
        <p:nvSpPr>
          <p:cNvPr id="9" name="Shape 6"/>
          <p:cNvSpPr/>
          <p:nvPr/>
        </p:nvSpPr>
        <p:spPr>
          <a:xfrm>
            <a:off x="6217920" y="1508760"/>
            <a:ext cx="5394960" cy="3017520"/>
          </a:xfrm>
          <a:prstGeom prst="roundRect">
            <a:avLst>
              <a:gd name="adj" fmla="val 3636"/>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0" name="Shape 7"/>
          <p:cNvSpPr/>
          <p:nvPr/>
        </p:nvSpPr>
        <p:spPr>
          <a:xfrm>
            <a:off x="6492240" y="1737360"/>
            <a:ext cx="548640" cy="548640"/>
          </a:xfrm>
          <a:prstGeom prst="ellipse">
            <a:avLst/>
          </a:prstGeom>
          <a:solidFill>
            <a:srgbClr val="F0EEFF"/>
          </a:solidFill>
          <a:ln w="12700">
            <a:solidFill>
              <a:srgbClr val="F0EEFF"/>
            </a:solidFill>
            <a:prstDash val="solid"/>
          </a:ln>
        </p:spPr>
      </p:sp>
      <p:pic>
        <p:nvPicPr>
          <p:cNvPr id="11" name="Image 1" descr="/private/tmp/claude-501/-Users-mauriciops-Proyectos-relwo-capstone/1a8b5f2b-d3d9-4b63-bfed-da79668ca276/scratchpad/pptx-build/assets/image6.png">    </p:cNvPr>
          <p:cNvPicPr>
            <a:picLocks noChangeAspect="1"/>
          </p:cNvPicPr>
          <p:nvPr/>
        </p:nvPicPr>
        <p:blipFill>
          <a:blip r:embed="rId2"/>
          <a:stretch>
            <a:fillRect/>
          </a:stretch>
        </p:blipFill>
        <p:spPr>
          <a:xfrm>
            <a:off x="6634886" y="1880006"/>
            <a:ext cx="263347" cy="263347"/>
          </a:xfrm>
          <a:prstGeom prst="rect">
            <a:avLst/>
          </a:prstGeom>
        </p:spPr>
      </p:pic>
      <p:sp>
        <p:nvSpPr>
          <p:cNvPr id="12" name="Text 8"/>
          <p:cNvSpPr txBox="1"/>
          <p:nvPr/>
        </p:nvSpPr>
        <p:spPr>
          <a:xfrm>
            <a:off x="7178040" y="1810512"/>
            <a:ext cx="4114800" cy="411480"/>
          </a:xfrm>
          <a:prstGeom prst="rect">
            <a:avLst/>
          </a:prstGeom>
          <a:noFill/>
          <a:ln/>
        </p:spPr>
        <p:txBody>
          <a:bodyPr wrap="square" lIns="0" tIns="0" rIns="0" bIns="0" rtlCol="0" anchor="t"/>
          <a:lstStyle/>
          <a:p>
            <a:pPr indent="0" marL="0">
              <a:buNone/>
            </a:pPr>
            <a:r>
              <a:rPr lang="en-US" sz="1800" b="1" dirty="0">
                <a:solidFill>
                  <a:srgbClr val="172442"/>
                </a:solidFill>
              </a:rPr>
              <a:t>Para el maestro independiente</a:t>
            </a:r>
            <a:endParaRPr lang="en-US" sz="1800" dirty="0"/>
          </a:p>
        </p:txBody>
      </p:sp>
      <p:sp>
        <p:nvSpPr>
          <p:cNvPr id="13" name="Text 9"/>
          <p:cNvSpPr txBox="1"/>
          <p:nvPr/>
        </p:nvSpPr>
        <p:spPr>
          <a:xfrm>
            <a:off x="6492240" y="2423160"/>
            <a:ext cx="4846320" cy="2011680"/>
          </a:xfrm>
          <a:prstGeom prst="rect">
            <a:avLst/>
          </a:prstGeom>
          <a:noFill/>
          <a:ln/>
        </p:spPr>
        <p:txBody>
          <a:bodyPr wrap="square" lIns="0" tIns="0" rIns="0" bIns="0" rtlCol="0" anchor="t"/>
          <a:lstStyle/>
          <a:p>
            <a:pPr marL="152400" indent="-152400">
              <a:spcAft>
                <a:spcPts val="600"/>
              </a:spcAft>
              <a:buSzPct val="100000"/>
              <a:buChar char="•"/>
            </a:pPr>
            <a:r>
              <a:rPr lang="en-US" sz="1350" dirty="0">
                <a:solidFill>
                  <a:srgbClr val="202636"/>
                </a:solidFill>
              </a:rPr>
              <a:t>Depende de que lo recomienden para conseguir trabajo.</a:t>
            </a:r>
            <a:endParaRPr lang="en-US" sz="1350" dirty="0"/>
          </a:p>
          <a:p>
            <a:pPr marL="152400" indent="-152400">
              <a:spcAft>
                <a:spcPts val="600"/>
              </a:spcAft>
              <a:buSzPct val="100000"/>
              <a:buChar char="•"/>
            </a:pPr>
            <a:r>
              <a:rPr lang="en-US" sz="1350" dirty="0">
                <a:solidFill>
                  <a:srgbClr val="202636"/>
                </a:solidFill>
              </a:rPr>
              <a:t>No tiene un canal estable donde encontrar clientes.</a:t>
            </a:r>
            <a:endParaRPr lang="en-US" sz="1350" dirty="0"/>
          </a:p>
          <a:p>
            <a:pPr marL="152400" indent="-152400">
              <a:spcAft>
                <a:spcPts val="600"/>
              </a:spcAft>
              <a:buSzPct val="100000"/>
              <a:buChar char="•"/>
            </a:pPr>
            <a:r>
              <a:rPr lang="en-US" sz="1350" dirty="0">
                <a:solidFill>
                  <a:srgbClr val="202636"/>
                </a:solidFill>
              </a:rPr>
              <a:t>No tiene garantía de que le van a pagar al terminar.</a:t>
            </a:r>
            <a:endParaRPr lang="en-US" sz="1350" dirty="0"/>
          </a:p>
          <a:p>
            <a:pPr marL="152400" indent="-152400">
              <a:spcAft>
                <a:spcPts val="600"/>
              </a:spcAft>
              <a:buSzPct val="100000"/>
              <a:buChar char="•"/>
            </a:pPr>
            <a:r>
              <a:rPr lang="en-US" sz="1350" dirty="0">
                <a:solidFill>
                  <a:srgbClr val="202636"/>
                </a:solidFill>
              </a:rPr>
              <a:t>Su reputación no se acumula en ningún lugar visible.</a:t>
            </a:r>
            <a:endParaRPr lang="en-US" sz="1350" dirty="0"/>
          </a:p>
        </p:txBody>
      </p:sp>
      <p:sp>
        <p:nvSpPr>
          <p:cNvPr id="14" name="Shape 10"/>
          <p:cNvSpPr/>
          <p:nvPr/>
        </p:nvSpPr>
        <p:spPr>
          <a:xfrm>
            <a:off x="548640" y="4800600"/>
            <a:ext cx="2651760" cy="1280160"/>
          </a:xfrm>
          <a:prstGeom prst="roundRect">
            <a:avLst>
              <a:gd name="adj" fmla="val 7143"/>
            </a:avLst>
          </a:prstGeom>
          <a:solidFill>
            <a:srgbClr val="F0EEFF"/>
          </a:solidFill>
          <a:ln w="12700">
            <a:solidFill>
              <a:srgbClr val="F0EEFF"/>
            </a:solidFill>
            <a:prstDash val="solid"/>
          </a:ln>
        </p:spPr>
      </p:sp>
      <p:sp>
        <p:nvSpPr>
          <p:cNvPr id="15" name="Text 11"/>
          <p:cNvSpPr txBox="1"/>
          <p:nvPr/>
        </p:nvSpPr>
        <p:spPr>
          <a:xfrm>
            <a:off x="777240" y="4937760"/>
            <a:ext cx="2194560" cy="548640"/>
          </a:xfrm>
          <a:prstGeom prst="rect">
            <a:avLst/>
          </a:prstGeom>
          <a:noFill/>
          <a:ln/>
        </p:spPr>
        <p:txBody>
          <a:bodyPr wrap="square" lIns="0" tIns="0" rIns="0" bIns="0" rtlCol="0" anchor="t"/>
          <a:lstStyle/>
          <a:p>
            <a:pPr indent="0" marL="0">
              <a:buNone/>
            </a:pPr>
            <a:r>
              <a:rPr lang="en-US" sz="2200" b="1" dirty="0">
                <a:solidFill>
                  <a:srgbClr val="243B6B"/>
                </a:solidFill>
              </a:rPr>
              <a:t>Gran Santiago</a:t>
            </a:r>
            <a:endParaRPr lang="en-US" sz="2200" dirty="0"/>
          </a:p>
        </p:txBody>
      </p:sp>
      <p:sp>
        <p:nvSpPr>
          <p:cNvPr id="16" name="Text 12"/>
          <p:cNvSpPr txBox="1"/>
          <p:nvPr/>
        </p:nvSpPr>
        <p:spPr>
          <a:xfrm>
            <a:off x="777240" y="5513832"/>
            <a:ext cx="2194560" cy="502920"/>
          </a:xfrm>
          <a:prstGeom prst="rect">
            <a:avLst/>
          </a:prstGeom>
          <a:noFill/>
          <a:ln/>
        </p:spPr>
        <p:txBody>
          <a:bodyPr wrap="square" lIns="0" tIns="0" rIns="0" bIns="0" rtlCol="0" anchor="t"/>
          <a:lstStyle/>
          <a:p>
            <a:pPr indent="0" marL="0">
              <a:buNone/>
            </a:pPr>
            <a:r>
              <a:rPr lang="en-US" sz="1150" dirty="0">
                <a:solidFill>
                  <a:srgbClr val="667085"/>
                </a:solidFill>
              </a:rPr>
              <a:t>ámbito de la situación</a:t>
            </a:r>
            <a:endParaRPr lang="en-US" sz="1150" dirty="0"/>
          </a:p>
        </p:txBody>
      </p:sp>
      <p:sp>
        <p:nvSpPr>
          <p:cNvPr id="17" name="Shape 13"/>
          <p:cNvSpPr/>
          <p:nvPr/>
        </p:nvSpPr>
        <p:spPr>
          <a:xfrm>
            <a:off x="3337560" y="4800600"/>
            <a:ext cx="2651760" cy="1280160"/>
          </a:xfrm>
          <a:prstGeom prst="roundRect">
            <a:avLst>
              <a:gd name="adj" fmla="val 7143"/>
            </a:avLst>
          </a:prstGeom>
          <a:solidFill>
            <a:srgbClr val="F0EEFF"/>
          </a:solidFill>
          <a:ln w="12700">
            <a:solidFill>
              <a:srgbClr val="F0EEFF"/>
            </a:solidFill>
            <a:prstDash val="solid"/>
          </a:ln>
        </p:spPr>
      </p:sp>
      <p:sp>
        <p:nvSpPr>
          <p:cNvPr id="18" name="Text 14"/>
          <p:cNvSpPr txBox="1"/>
          <p:nvPr/>
        </p:nvSpPr>
        <p:spPr>
          <a:xfrm>
            <a:off x="3566160" y="4937760"/>
            <a:ext cx="2194560" cy="548640"/>
          </a:xfrm>
          <a:prstGeom prst="rect">
            <a:avLst/>
          </a:prstGeom>
          <a:noFill/>
          <a:ln/>
        </p:spPr>
        <p:txBody>
          <a:bodyPr wrap="square" lIns="0" tIns="0" rIns="0" bIns="0" rtlCol="0" anchor="t"/>
          <a:lstStyle/>
          <a:p>
            <a:pPr indent="0" marL="0">
              <a:buNone/>
            </a:pPr>
            <a:r>
              <a:rPr lang="en-US" sz="2200" b="1" dirty="0">
                <a:solidFill>
                  <a:srgbClr val="243B6B"/>
                </a:solidFill>
              </a:rPr>
              <a:t>40 comunas</a:t>
            </a:r>
            <a:endParaRPr lang="en-US" sz="2200" dirty="0"/>
          </a:p>
        </p:txBody>
      </p:sp>
      <p:sp>
        <p:nvSpPr>
          <p:cNvPr id="19" name="Text 15"/>
          <p:cNvSpPr txBox="1"/>
          <p:nvPr/>
        </p:nvSpPr>
        <p:spPr>
          <a:xfrm>
            <a:off x="3566160" y="5513832"/>
            <a:ext cx="2194560" cy="502920"/>
          </a:xfrm>
          <a:prstGeom prst="rect">
            <a:avLst/>
          </a:prstGeom>
          <a:noFill/>
          <a:ln/>
        </p:spPr>
        <p:txBody>
          <a:bodyPr wrap="square" lIns="0" tIns="0" rIns="0" bIns="0" rtlCol="0" anchor="t"/>
          <a:lstStyle/>
          <a:p>
            <a:pPr indent="0" marL="0">
              <a:buNone/>
            </a:pPr>
            <a:r>
              <a:rPr lang="en-US" sz="1150" dirty="0">
                <a:solidFill>
                  <a:srgbClr val="667085"/>
                </a:solidFill>
              </a:rPr>
              <a:t>cobertura visible</a:t>
            </a:r>
            <a:endParaRPr lang="en-US" sz="1150" dirty="0"/>
          </a:p>
        </p:txBody>
      </p:sp>
      <p:sp>
        <p:nvSpPr>
          <p:cNvPr id="20" name="Shape 16"/>
          <p:cNvSpPr/>
          <p:nvPr/>
        </p:nvSpPr>
        <p:spPr>
          <a:xfrm>
            <a:off x="6126480" y="4800600"/>
            <a:ext cx="2651760" cy="1280160"/>
          </a:xfrm>
          <a:prstGeom prst="roundRect">
            <a:avLst>
              <a:gd name="adj" fmla="val 7143"/>
            </a:avLst>
          </a:prstGeom>
          <a:solidFill>
            <a:srgbClr val="F0EEFF"/>
          </a:solidFill>
          <a:ln w="12700">
            <a:solidFill>
              <a:srgbClr val="F0EEFF"/>
            </a:solidFill>
            <a:prstDash val="solid"/>
          </a:ln>
        </p:spPr>
      </p:sp>
      <p:sp>
        <p:nvSpPr>
          <p:cNvPr id="21" name="Text 17"/>
          <p:cNvSpPr txBox="1"/>
          <p:nvPr/>
        </p:nvSpPr>
        <p:spPr>
          <a:xfrm>
            <a:off x="6355080" y="4937760"/>
            <a:ext cx="2194560" cy="548640"/>
          </a:xfrm>
          <a:prstGeom prst="rect">
            <a:avLst/>
          </a:prstGeom>
          <a:noFill/>
          <a:ln/>
        </p:spPr>
        <p:txBody>
          <a:bodyPr wrap="square" lIns="0" tIns="0" rIns="0" bIns="0" rtlCol="0" anchor="t"/>
          <a:lstStyle/>
          <a:p>
            <a:pPr indent="0" marL="0">
              <a:buNone/>
            </a:pPr>
            <a:r>
              <a:rPr lang="en-US" sz="2200" b="1" dirty="0">
                <a:solidFill>
                  <a:srgbClr val="243B6B"/>
                </a:solidFill>
              </a:rPr>
              <a:t>4 comunas</a:t>
            </a:r>
            <a:endParaRPr lang="en-US" sz="2200" dirty="0"/>
          </a:p>
        </p:txBody>
      </p:sp>
      <p:sp>
        <p:nvSpPr>
          <p:cNvPr id="22" name="Text 18"/>
          <p:cNvSpPr txBox="1"/>
          <p:nvPr/>
        </p:nvSpPr>
        <p:spPr>
          <a:xfrm>
            <a:off x="6355080" y="5513832"/>
            <a:ext cx="2194560" cy="502920"/>
          </a:xfrm>
          <a:prstGeom prst="rect">
            <a:avLst/>
          </a:prstGeom>
          <a:noFill/>
          <a:ln/>
        </p:spPr>
        <p:txBody>
          <a:bodyPr wrap="square" lIns="0" tIns="0" rIns="0" bIns="0" rtlCol="0" anchor="t"/>
          <a:lstStyle/>
          <a:p>
            <a:pPr indent="0" marL="0">
              <a:buNone/>
            </a:pPr>
            <a:r>
              <a:rPr lang="en-US" sz="1150" dirty="0">
                <a:solidFill>
                  <a:srgbClr val="667085"/>
                </a:solidFill>
              </a:rPr>
              <a:t>puesta en marcha inicial</a:t>
            </a:r>
            <a:endParaRPr lang="en-US" sz="1150" dirty="0"/>
          </a:p>
        </p:txBody>
      </p:sp>
      <p:sp>
        <p:nvSpPr>
          <p:cNvPr id="23" name="Shape 19"/>
          <p:cNvSpPr/>
          <p:nvPr/>
        </p:nvSpPr>
        <p:spPr>
          <a:xfrm>
            <a:off x="8915400" y="4800600"/>
            <a:ext cx="2651760" cy="1280160"/>
          </a:xfrm>
          <a:prstGeom prst="roundRect">
            <a:avLst>
              <a:gd name="adj" fmla="val 7143"/>
            </a:avLst>
          </a:prstGeom>
          <a:solidFill>
            <a:srgbClr val="F0EEFF"/>
          </a:solidFill>
          <a:ln w="12700">
            <a:solidFill>
              <a:srgbClr val="F0EEFF"/>
            </a:solidFill>
            <a:prstDash val="solid"/>
          </a:ln>
        </p:spPr>
      </p:sp>
      <p:sp>
        <p:nvSpPr>
          <p:cNvPr id="24" name="Text 20"/>
          <p:cNvSpPr txBox="1"/>
          <p:nvPr/>
        </p:nvSpPr>
        <p:spPr>
          <a:xfrm>
            <a:off x="9144000" y="4937760"/>
            <a:ext cx="2194560" cy="548640"/>
          </a:xfrm>
          <a:prstGeom prst="rect">
            <a:avLst/>
          </a:prstGeom>
          <a:noFill/>
          <a:ln/>
        </p:spPr>
        <p:txBody>
          <a:bodyPr wrap="square" lIns="0" tIns="0" rIns="0" bIns="0" rtlCol="0" anchor="t"/>
          <a:lstStyle/>
          <a:p>
            <a:pPr indent="0" marL="0">
              <a:buNone/>
            </a:pPr>
            <a:r>
              <a:rPr lang="en-US" sz="2200" b="1" dirty="0">
                <a:solidFill>
                  <a:srgbClr val="243B6B"/>
                </a:solidFill>
              </a:rPr>
              <a:t>3 servicios</a:t>
            </a:r>
            <a:endParaRPr lang="en-US" sz="2200" dirty="0"/>
          </a:p>
        </p:txBody>
      </p:sp>
      <p:sp>
        <p:nvSpPr>
          <p:cNvPr id="25" name="Text 21"/>
          <p:cNvSpPr txBox="1"/>
          <p:nvPr/>
        </p:nvSpPr>
        <p:spPr>
          <a:xfrm>
            <a:off x="9144000" y="5513832"/>
            <a:ext cx="2194560" cy="502920"/>
          </a:xfrm>
          <a:prstGeom prst="rect">
            <a:avLst/>
          </a:prstGeom>
          <a:noFill/>
          <a:ln/>
        </p:spPr>
        <p:txBody>
          <a:bodyPr wrap="square" lIns="0" tIns="0" rIns="0" bIns="0" rtlCol="0" anchor="t"/>
          <a:lstStyle/>
          <a:p>
            <a:pPr indent="0" marL="0">
              <a:buNone/>
            </a:pPr>
            <a:r>
              <a:rPr lang="en-US" sz="1150" dirty="0">
                <a:solidFill>
                  <a:srgbClr val="667085"/>
                </a:solidFill>
              </a:rPr>
              <a:t>limpieza, gasfitería y cerrajería</a:t>
            </a:r>
            <a:endParaRPr lang="en-US" sz="1150" dirty="0"/>
          </a:p>
        </p:txBody>
      </p:sp>
      <p:sp>
        <p:nvSpPr>
          <p:cNvPr id="26" name="Text 22"/>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27" name="Text 23"/>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Mauricio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t"/>
          <a:lstStyle/>
          <a:p>
            <a:pPr indent="0" marL="0">
              <a:buNone/>
            </a:pPr>
            <a:r>
              <a:rPr lang="en-US" sz="1100" b="1" spc="200" kern="0" dirty="0">
                <a:solidFill>
                  <a:srgbClr val="F06449"/>
                </a:solidFill>
              </a:rPr>
              <a:t>LA IDEA</a:t>
            </a:r>
            <a:endParaRPr lang="en-US" sz="1100" dirty="0"/>
          </a:p>
        </p:txBody>
      </p:sp>
      <p:sp>
        <p:nvSpPr>
          <p:cNvPr id="3" name="Text 1"/>
          <p:cNvSpPr txBox="1"/>
          <p:nvPr/>
        </p:nvSpPr>
        <p:spPr>
          <a:xfrm>
            <a:off x="548640" y="1280160"/>
            <a:ext cx="5486400" cy="1371600"/>
          </a:xfrm>
          <a:prstGeom prst="rect">
            <a:avLst/>
          </a:prstGeom>
          <a:noFill/>
          <a:ln/>
        </p:spPr>
        <p:txBody>
          <a:bodyPr wrap="square" lIns="0" tIns="0" rIns="0" bIns="0" rtlCol="0" anchor="t"/>
          <a:lstStyle/>
          <a:p>
            <a:pPr indent="0" marL="0">
              <a:buNone/>
            </a:pPr>
            <a:r>
              <a:rPr lang="en-US" sz="8000" b="1" dirty="0">
                <a:solidFill>
                  <a:srgbClr val="FFFFFF"/>
                </a:solidFill>
              </a:rPr>
              <a:t>Pides.</a:t>
            </a:r>
            <a:endParaRPr lang="en-US" sz="8000" dirty="0"/>
          </a:p>
        </p:txBody>
      </p:sp>
      <p:sp>
        <p:nvSpPr>
          <p:cNvPr id="4" name="Text 2"/>
          <p:cNvSpPr txBox="1"/>
          <p:nvPr/>
        </p:nvSpPr>
        <p:spPr>
          <a:xfrm>
            <a:off x="548640" y="2651760"/>
            <a:ext cx="5486400" cy="1371600"/>
          </a:xfrm>
          <a:prstGeom prst="rect">
            <a:avLst/>
          </a:prstGeom>
          <a:noFill/>
          <a:ln/>
        </p:spPr>
        <p:txBody>
          <a:bodyPr wrap="square" lIns="0" tIns="0" rIns="0" bIns="0" rtlCol="0" anchor="t"/>
          <a:lstStyle/>
          <a:p>
            <a:pPr indent="0" marL="0">
              <a:buNone/>
            </a:pPr>
            <a:r>
              <a:rPr lang="en-US" sz="8000" b="1" dirty="0">
                <a:solidFill>
                  <a:srgbClr val="F06449"/>
                </a:solidFill>
              </a:rPr>
              <a:t>Ofertan.</a:t>
            </a:r>
            <a:endParaRPr lang="en-US" sz="8000" dirty="0"/>
          </a:p>
        </p:txBody>
      </p:sp>
      <p:sp>
        <p:nvSpPr>
          <p:cNvPr id="5" name="Text 3"/>
          <p:cNvSpPr txBox="1"/>
          <p:nvPr/>
        </p:nvSpPr>
        <p:spPr>
          <a:xfrm>
            <a:off x="548640" y="4023360"/>
            <a:ext cx="5486400" cy="1371600"/>
          </a:xfrm>
          <a:prstGeom prst="rect">
            <a:avLst/>
          </a:prstGeom>
          <a:noFill/>
          <a:ln/>
        </p:spPr>
        <p:txBody>
          <a:bodyPr wrap="square" lIns="0" tIns="0" rIns="0" bIns="0" rtlCol="0" anchor="t"/>
          <a:lstStyle/>
          <a:p>
            <a:pPr indent="0" marL="0">
              <a:buNone/>
            </a:pPr>
            <a:r>
              <a:rPr lang="en-US" sz="8000" b="1" dirty="0">
                <a:solidFill>
                  <a:srgbClr val="6CC644"/>
                </a:solidFill>
              </a:rPr>
              <a:t>Eliges.</a:t>
            </a:r>
            <a:endParaRPr lang="en-US" sz="8000" dirty="0"/>
          </a:p>
        </p:txBody>
      </p:sp>
      <p:sp>
        <p:nvSpPr>
          <p:cNvPr id="6" name="Shape 4"/>
          <p:cNvSpPr/>
          <p:nvPr/>
        </p:nvSpPr>
        <p:spPr>
          <a:xfrm>
            <a:off x="6675120" y="2103120"/>
            <a:ext cx="4937760" cy="2743200"/>
          </a:xfrm>
          <a:prstGeom prst="roundRect">
            <a:avLst>
              <a:gd name="adj" fmla="val 4667"/>
            </a:avLst>
          </a:prstGeom>
          <a:solidFill>
            <a:srgbClr val="243B6B"/>
          </a:solidFill>
          <a:ln w="12700">
            <a:solidFill>
              <a:srgbClr val="243B6B"/>
            </a:solidFill>
            <a:prstDash val="solid"/>
          </a:ln>
        </p:spPr>
      </p:sp>
      <p:sp>
        <p:nvSpPr>
          <p:cNvPr id="7" name="Text 5"/>
          <p:cNvSpPr txBox="1"/>
          <p:nvPr/>
        </p:nvSpPr>
        <p:spPr>
          <a:xfrm>
            <a:off x="6949440" y="2331720"/>
            <a:ext cx="4389120" cy="457200"/>
          </a:xfrm>
          <a:prstGeom prst="rect">
            <a:avLst/>
          </a:prstGeom>
          <a:noFill/>
          <a:ln/>
        </p:spPr>
        <p:txBody>
          <a:bodyPr wrap="square" lIns="0" tIns="0" rIns="0" bIns="0" rtlCol="0" anchor="t"/>
          <a:lstStyle/>
          <a:p>
            <a:pPr indent="0" marL="0">
              <a:buNone/>
            </a:pPr>
            <a:r>
              <a:rPr lang="en-US" sz="2000" b="1" dirty="0">
                <a:solidFill>
                  <a:srgbClr val="FFFFFF"/>
                </a:solidFill>
              </a:rPr>
              <a:t>No es un directorio.</a:t>
            </a:r>
            <a:endParaRPr lang="en-US" sz="2000" dirty="0"/>
          </a:p>
        </p:txBody>
      </p:sp>
      <p:sp>
        <p:nvSpPr>
          <p:cNvPr id="8" name="Text 6"/>
          <p:cNvSpPr txBox="1"/>
          <p:nvPr/>
        </p:nvSpPr>
        <p:spPr>
          <a:xfrm>
            <a:off x="6949440" y="2834640"/>
            <a:ext cx="4389120" cy="1920240"/>
          </a:xfrm>
          <a:prstGeom prst="rect">
            <a:avLst/>
          </a:prstGeom>
          <a:noFill/>
          <a:ln/>
        </p:spPr>
        <p:txBody>
          <a:bodyPr wrap="square" lIns="0" tIns="0" rIns="0" bIns="0" rtlCol="0" anchor="t"/>
          <a:lstStyle/>
          <a:p>
            <a:pPr indent="0" marL="0">
              <a:lnSpc>
                <a:spcPct val="115000"/>
              </a:lnSpc>
              <a:buNone/>
            </a:pPr>
            <a:r>
              <a:rPr lang="en-US" sz="1350" dirty="0">
                <a:solidFill>
                  <a:srgbClr val="A9B4CC"/>
                </a:solidFill>
              </a:rPr>
              <a:t>No te pasas la tarde revisando perfiles y llamando a uno por uno. Tu solicitud le llega solo a los maestros cuyo oficio y comuna calzan con lo que pediste, y ellos vienen a ti con una oferta concreta. En Chile a quien hace estos trabajos le decimos «maestro»: es la palabra que usamos en toda la app.</a:t>
            </a:r>
            <a:endParaRPr lang="en-US" sz="1350" dirty="0"/>
          </a:p>
        </p:txBody>
      </p:sp>
      <p:sp>
        <p:nvSpPr>
          <p:cNvPr id="9" name="Text 7"/>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A9B4CC"/>
                </a:solidFill>
              </a:rPr>
              <a:t>Relwo · Proyecto APT · Fase 2</a:t>
            </a:r>
            <a:endParaRPr lang="en-US" sz="900" dirty="0"/>
          </a:p>
        </p:txBody>
      </p:sp>
      <p:sp>
        <p:nvSpPr>
          <p:cNvPr id="10" name="Text 8"/>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A9B4CC"/>
                </a:solidFill>
              </a:rPr>
              <a:t>Mauricio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CÓMO FUNCIONA</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Tres pasos y un solo cobro</a:t>
            </a:r>
            <a:endParaRPr lang="en-US" sz="3000" dirty="0"/>
          </a:p>
        </p:txBody>
      </p:sp>
      <p:sp>
        <p:nvSpPr>
          <p:cNvPr id="4" name="Shape 2"/>
          <p:cNvSpPr/>
          <p:nvPr/>
        </p:nvSpPr>
        <p:spPr>
          <a:xfrm>
            <a:off x="548640" y="1463040"/>
            <a:ext cx="3566160" cy="3611880"/>
          </a:xfrm>
          <a:prstGeom prst="roundRect">
            <a:avLst>
              <a:gd name="adj" fmla="val 3077"/>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5" name="Text 3"/>
          <p:cNvSpPr txBox="1"/>
          <p:nvPr/>
        </p:nvSpPr>
        <p:spPr>
          <a:xfrm>
            <a:off x="822960" y="1554480"/>
            <a:ext cx="914400" cy="822960"/>
          </a:xfrm>
          <a:prstGeom prst="rect">
            <a:avLst/>
          </a:prstGeom>
          <a:noFill/>
          <a:ln/>
        </p:spPr>
        <p:txBody>
          <a:bodyPr wrap="square" lIns="0" tIns="0" rIns="0" bIns="0" rtlCol="0" anchor="t"/>
          <a:lstStyle/>
          <a:p>
            <a:pPr indent="0" marL="0">
              <a:buNone/>
            </a:pPr>
            <a:r>
              <a:rPr lang="en-US" sz="5400" b="1" dirty="0">
                <a:solidFill>
                  <a:srgbClr val="F06449"/>
                </a:solidFill>
              </a:rPr>
              <a:t>1</a:t>
            </a:r>
            <a:endParaRPr lang="en-US" sz="5400" dirty="0"/>
          </a:p>
        </p:txBody>
      </p:sp>
      <p:sp>
        <p:nvSpPr>
          <p:cNvPr id="6" name="Text 4"/>
          <p:cNvSpPr txBox="1"/>
          <p:nvPr/>
        </p:nvSpPr>
        <p:spPr>
          <a:xfrm>
            <a:off x="822960" y="2377440"/>
            <a:ext cx="3017520" cy="640080"/>
          </a:xfrm>
          <a:prstGeom prst="rect">
            <a:avLst/>
          </a:prstGeom>
          <a:noFill/>
          <a:ln/>
        </p:spPr>
        <p:txBody>
          <a:bodyPr wrap="square" lIns="0" tIns="0" rIns="0" bIns="0" rtlCol="0" anchor="t"/>
          <a:lstStyle/>
          <a:p>
            <a:pPr indent="0" marL="0">
              <a:buNone/>
            </a:pPr>
            <a:r>
              <a:rPr lang="en-US" sz="1700" b="1" dirty="0">
                <a:solidFill>
                  <a:srgbClr val="172442"/>
                </a:solidFill>
              </a:rPr>
              <a:t>Cuentas tu problema</a:t>
            </a:r>
            <a:endParaRPr lang="en-US" sz="1700" dirty="0"/>
          </a:p>
        </p:txBody>
      </p:sp>
      <p:sp>
        <p:nvSpPr>
          <p:cNvPr id="7" name="Text 5"/>
          <p:cNvSpPr txBox="1"/>
          <p:nvPr/>
        </p:nvSpPr>
        <p:spPr>
          <a:xfrm>
            <a:off x="822960" y="3063240"/>
            <a:ext cx="3017520" cy="1920240"/>
          </a:xfrm>
          <a:prstGeom prst="rect">
            <a:avLst/>
          </a:prstGeom>
          <a:noFill/>
          <a:ln/>
        </p:spPr>
        <p:txBody>
          <a:bodyPr wrap="square" lIns="0" tIns="0" rIns="0" bIns="0" rtlCol="0" anchor="t"/>
          <a:lstStyle/>
          <a:p>
            <a:pPr indent="0" marL="0">
              <a:lnSpc>
                <a:spcPct val="112000"/>
              </a:lnSpc>
              <a:buNone/>
            </a:pPr>
            <a:r>
              <a:rPr lang="en-US" sz="1250" dirty="0">
                <a:solidFill>
                  <a:srgbClr val="202636"/>
                </a:solidFill>
              </a:rPr>
              <a:t>Eliges el servicio, describes qué pasa, agregas fotos y confirmas la dirección. La app no deja escribir teléfonos ni correos en la descripción: el trato queda dentro de la plataforma, donde podemos protegerte.</a:t>
            </a:r>
            <a:endParaRPr lang="en-US" sz="1250" dirty="0"/>
          </a:p>
        </p:txBody>
      </p:sp>
      <p:sp>
        <p:nvSpPr>
          <p:cNvPr id="8" name="Shape 6"/>
          <p:cNvSpPr/>
          <p:nvPr/>
        </p:nvSpPr>
        <p:spPr>
          <a:xfrm>
            <a:off x="4297680" y="1463040"/>
            <a:ext cx="3566160" cy="3611880"/>
          </a:xfrm>
          <a:prstGeom prst="roundRect">
            <a:avLst>
              <a:gd name="adj" fmla="val 3077"/>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9" name="Text 7"/>
          <p:cNvSpPr txBox="1"/>
          <p:nvPr/>
        </p:nvSpPr>
        <p:spPr>
          <a:xfrm>
            <a:off x="4572000" y="1554480"/>
            <a:ext cx="914400" cy="822960"/>
          </a:xfrm>
          <a:prstGeom prst="rect">
            <a:avLst/>
          </a:prstGeom>
          <a:noFill/>
          <a:ln/>
        </p:spPr>
        <p:txBody>
          <a:bodyPr wrap="square" lIns="0" tIns="0" rIns="0" bIns="0" rtlCol="0" anchor="t"/>
          <a:lstStyle/>
          <a:p>
            <a:pPr indent="0" marL="0">
              <a:buNone/>
            </a:pPr>
            <a:r>
              <a:rPr lang="en-US" sz="5400" b="1" dirty="0">
                <a:solidFill>
                  <a:srgbClr val="F06449"/>
                </a:solidFill>
              </a:rPr>
              <a:t>2</a:t>
            </a:r>
            <a:endParaRPr lang="en-US" sz="5400" dirty="0"/>
          </a:p>
        </p:txBody>
      </p:sp>
      <p:sp>
        <p:nvSpPr>
          <p:cNvPr id="10" name="Text 8"/>
          <p:cNvSpPr txBox="1"/>
          <p:nvPr/>
        </p:nvSpPr>
        <p:spPr>
          <a:xfrm>
            <a:off x="4572000" y="2377440"/>
            <a:ext cx="3017520" cy="640080"/>
          </a:xfrm>
          <a:prstGeom prst="rect">
            <a:avLst/>
          </a:prstGeom>
          <a:noFill/>
          <a:ln/>
        </p:spPr>
        <p:txBody>
          <a:bodyPr wrap="square" lIns="0" tIns="0" rIns="0" bIns="0" rtlCol="0" anchor="t"/>
          <a:lstStyle/>
          <a:p>
            <a:pPr indent="0" marL="0">
              <a:buNone/>
            </a:pPr>
            <a:r>
              <a:rPr lang="en-US" sz="1700" b="1" dirty="0">
                <a:solidFill>
                  <a:srgbClr val="172442"/>
                </a:solidFill>
              </a:rPr>
              <a:t>Llegan ofertas. Tú eliges</a:t>
            </a:r>
            <a:endParaRPr lang="en-US" sz="1700" dirty="0"/>
          </a:p>
        </p:txBody>
      </p:sp>
      <p:sp>
        <p:nvSpPr>
          <p:cNvPr id="11" name="Text 9"/>
          <p:cNvSpPr txBox="1"/>
          <p:nvPr/>
        </p:nvSpPr>
        <p:spPr>
          <a:xfrm>
            <a:off x="4572000" y="3063240"/>
            <a:ext cx="3017520" cy="1920240"/>
          </a:xfrm>
          <a:prstGeom prst="rect">
            <a:avLst/>
          </a:prstGeom>
          <a:noFill/>
          <a:ln/>
        </p:spPr>
        <p:txBody>
          <a:bodyPr wrap="square" lIns="0" tIns="0" rIns="0" bIns="0" rtlCol="0" anchor="t"/>
          <a:lstStyle/>
          <a:p>
            <a:pPr indent="0" marL="0">
              <a:lnSpc>
                <a:spcPct val="112000"/>
              </a:lnSpc>
              <a:buNone/>
            </a:pPr>
            <a:r>
              <a:rPr lang="en-US" sz="1250" dirty="0">
                <a:solidFill>
                  <a:srgbClr val="202636"/>
                </a:solidFill>
              </a:rPr>
              <a:t>Cada maestro interesado propone dos cifras: cuánto estima el trabajo y cuánto cobra por ir a verlo. Las ofertas aparecen en vivo con la calificación del maestro. Elegir agenda la visita y no cobra nada.</a:t>
            </a:r>
            <a:endParaRPr lang="en-US" sz="1250" dirty="0"/>
          </a:p>
        </p:txBody>
      </p:sp>
      <p:sp>
        <p:nvSpPr>
          <p:cNvPr id="12" name="Shape 10"/>
          <p:cNvSpPr/>
          <p:nvPr/>
        </p:nvSpPr>
        <p:spPr>
          <a:xfrm>
            <a:off x="8046720" y="1463040"/>
            <a:ext cx="3566160" cy="3611880"/>
          </a:xfrm>
          <a:prstGeom prst="roundRect">
            <a:avLst>
              <a:gd name="adj" fmla="val 3077"/>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3" name="Text 11"/>
          <p:cNvSpPr txBox="1"/>
          <p:nvPr/>
        </p:nvSpPr>
        <p:spPr>
          <a:xfrm>
            <a:off x="8321040" y="1554480"/>
            <a:ext cx="914400" cy="822960"/>
          </a:xfrm>
          <a:prstGeom prst="rect">
            <a:avLst/>
          </a:prstGeom>
          <a:noFill/>
          <a:ln/>
        </p:spPr>
        <p:txBody>
          <a:bodyPr wrap="square" lIns="0" tIns="0" rIns="0" bIns="0" rtlCol="0" anchor="t"/>
          <a:lstStyle/>
          <a:p>
            <a:pPr indent="0" marL="0">
              <a:buNone/>
            </a:pPr>
            <a:r>
              <a:rPr lang="en-US" sz="5400" b="1" dirty="0">
                <a:solidFill>
                  <a:srgbClr val="F06449"/>
                </a:solidFill>
              </a:rPr>
              <a:t>3</a:t>
            </a:r>
            <a:endParaRPr lang="en-US" sz="5400" dirty="0"/>
          </a:p>
        </p:txBody>
      </p:sp>
      <p:sp>
        <p:nvSpPr>
          <p:cNvPr id="14" name="Text 12"/>
          <p:cNvSpPr txBox="1"/>
          <p:nvPr/>
        </p:nvSpPr>
        <p:spPr>
          <a:xfrm>
            <a:off x="8321040" y="2377440"/>
            <a:ext cx="3017520" cy="640080"/>
          </a:xfrm>
          <a:prstGeom prst="rect">
            <a:avLst/>
          </a:prstGeom>
          <a:noFill/>
          <a:ln/>
        </p:spPr>
        <p:txBody>
          <a:bodyPr wrap="square" lIns="0" tIns="0" rIns="0" bIns="0" rtlCol="0" anchor="t"/>
          <a:lstStyle/>
          <a:p>
            <a:pPr indent="0" marL="0">
              <a:buNone/>
            </a:pPr>
            <a:r>
              <a:rPr lang="en-US" sz="1700" b="1" dirty="0">
                <a:solidFill>
                  <a:srgbClr val="172442"/>
                </a:solidFill>
              </a:rPr>
              <a:t>Cotiza en casa. Pagas una vez</a:t>
            </a:r>
            <a:endParaRPr lang="en-US" sz="1700" dirty="0"/>
          </a:p>
        </p:txBody>
      </p:sp>
      <p:sp>
        <p:nvSpPr>
          <p:cNvPr id="15" name="Text 13"/>
          <p:cNvSpPr txBox="1"/>
          <p:nvPr/>
        </p:nvSpPr>
        <p:spPr>
          <a:xfrm>
            <a:off x="8321040" y="3063240"/>
            <a:ext cx="3017520" cy="1920240"/>
          </a:xfrm>
          <a:prstGeom prst="rect">
            <a:avLst/>
          </a:prstGeom>
          <a:noFill/>
          <a:ln/>
        </p:spPr>
        <p:txBody>
          <a:bodyPr wrap="square" lIns="0" tIns="0" rIns="0" bIns="0" rtlCol="0" anchor="t"/>
          <a:lstStyle/>
          <a:p>
            <a:pPr indent="0" marL="0">
              <a:lnSpc>
                <a:spcPct val="112000"/>
              </a:lnSpc>
              <a:buNone/>
            </a:pPr>
            <a:r>
              <a:rPr lang="en-US" sz="1250" dirty="0">
                <a:solidFill>
                  <a:srgbClr val="202636"/>
                </a:solidFill>
              </a:rPr>
              <a:t>El maestro mira el problema y recién ahí cotiza el monto definitivo. Si aceptas, hay un solo cobro con la tarjeta registrada y el dinero queda protegido hasta que el trabajo termina. Si no aceptas, pagas solo la visita.</a:t>
            </a:r>
            <a:endParaRPr lang="en-US" sz="1250" dirty="0"/>
          </a:p>
        </p:txBody>
      </p:sp>
      <p:sp>
        <p:nvSpPr>
          <p:cNvPr id="16" name="Shape 14"/>
          <p:cNvSpPr/>
          <p:nvPr/>
        </p:nvSpPr>
        <p:spPr>
          <a:xfrm>
            <a:off x="548640" y="5303520"/>
            <a:ext cx="11064240" cy="822960"/>
          </a:xfrm>
          <a:prstGeom prst="roundRect">
            <a:avLst>
              <a:gd name="adj" fmla="val 13333"/>
            </a:avLst>
          </a:prstGeom>
          <a:solidFill>
            <a:srgbClr val="F0EEFF"/>
          </a:solidFill>
          <a:ln w="12700">
            <a:solidFill>
              <a:srgbClr val="F0EEFF"/>
            </a:solidFill>
            <a:prstDash val="solid"/>
          </a:ln>
        </p:spPr>
      </p:sp>
      <p:sp>
        <p:nvSpPr>
          <p:cNvPr id="17" name="Shape 15"/>
          <p:cNvSpPr/>
          <p:nvPr/>
        </p:nvSpPr>
        <p:spPr>
          <a:xfrm>
            <a:off x="777240" y="5440680"/>
            <a:ext cx="548640" cy="548640"/>
          </a:xfrm>
          <a:prstGeom prst="ellipse">
            <a:avLst/>
          </a:prstGeom>
          <a:solidFill>
            <a:srgbClr val="FFFFFF"/>
          </a:solidFill>
          <a:ln w="12700">
            <a:solidFill>
              <a:srgbClr val="FFFFFF"/>
            </a:solidFill>
            <a:prstDash val="solid"/>
          </a:ln>
        </p:spPr>
      </p:sp>
      <p:pic>
        <p:nvPicPr>
          <p:cNvPr id="18" name="Image 0" descr="/private/tmp/claude-501/-Users-mauriciops-Proyectos-relwo-capstone/1a8b5f2b-d3d9-4b63-bfed-da79668ca276/scratchpad/pptx-build/assets/image3.png">    </p:cNvPr>
          <p:cNvPicPr>
            <a:picLocks noChangeAspect="1"/>
          </p:cNvPicPr>
          <p:nvPr/>
        </p:nvPicPr>
        <p:blipFill>
          <a:blip r:embed="rId1"/>
          <a:stretch>
            <a:fillRect/>
          </a:stretch>
        </p:blipFill>
        <p:spPr>
          <a:xfrm>
            <a:off x="919886" y="5583326"/>
            <a:ext cx="263347" cy="263347"/>
          </a:xfrm>
          <a:prstGeom prst="rect">
            <a:avLst/>
          </a:prstGeom>
        </p:spPr>
      </p:pic>
      <p:sp>
        <p:nvSpPr>
          <p:cNvPr id="19" name="Text 16"/>
          <p:cNvSpPr txBox="1"/>
          <p:nvPr/>
        </p:nvSpPr>
        <p:spPr>
          <a:xfrm>
            <a:off x="1508760" y="5394960"/>
            <a:ext cx="3931920" cy="320040"/>
          </a:xfrm>
          <a:prstGeom prst="rect">
            <a:avLst/>
          </a:prstGeom>
          <a:noFill/>
          <a:ln/>
        </p:spPr>
        <p:txBody>
          <a:bodyPr wrap="square" lIns="0" tIns="0" rIns="0" bIns="0" rtlCol="0" anchor="t"/>
          <a:lstStyle/>
          <a:p>
            <a:pPr indent="0" marL="0">
              <a:buNone/>
            </a:pPr>
            <a:r>
              <a:rPr lang="en-US" sz="1400" b="1" dirty="0">
                <a:solidFill>
                  <a:srgbClr val="243B6B"/>
                </a:solidFill>
              </a:rPr>
              <a:t>Elegir una oferta no cobra nada.</a:t>
            </a:r>
            <a:endParaRPr lang="en-US" sz="1400" dirty="0"/>
          </a:p>
        </p:txBody>
      </p:sp>
      <p:sp>
        <p:nvSpPr>
          <p:cNvPr id="20" name="Text 17"/>
          <p:cNvSpPr txBox="1"/>
          <p:nvPr/>
        </p:nvSpPr>
        <p:spPr>
          <a:xfrm>
            <a:off x="1508760" y="5687568"/>
            <a:ext cx="9875520" cy="457200"/>
          </a:xfrm>
          <a:prstGeom prst="rect">
            <a:avLst/>
          </a:prstGeom>
          <a:noFill/>
          <a:ln/>
        </p:spPr>
        <p:txBody>
          <a:bodyPr wrap="square" lIns="0" tIns="0" rIns="0" bIns="0" rtlCol="0" anchor="t"/>
          <a:lstStyle/>
          <a:p>
            <a:pPr indent="0" marL="0">
              <a:buNone/>
            </a:pPr>
            <a:r>
              <a:rPr lang="en-US" sz="1150" dirty="0">
                <a:solidFill>
                  <a:srgbClr val="202636"/>
                </a:solidFill>
              </a:rPr>
              <a:t>Hay un solo cobro por servicio, y ocurre después de que el maestro vio el problema con sus propios ojos. Nadie paga a ciegas. Si el maestro declara que el trabajo lo supera, no pagas nada y la solicitud se vuelve a publicar con su diagnóstico.</a:t>
            </a:r>
            <a:endParaRPr lang="en-US" sz="1150" dirty="0"/>
          </a:p>
        </p:txBody>
      </p:sp>
      <p:sp>
        <p:nvSpPr>
          <p:cNvPr id="21" name="Text 18"/>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22" name="Text 19"/>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Tania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CUATRO GARANTÍAS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Lo que responde a las tres dudas del comienzo</a:t>
            </a:r>
            <a:endParaRPr lang="en-US" sz="3000" dirty="0"/>
          </a:p>
        </p:txBody>
      </p:sp>
      <p:sp>
        <p:nvSpPr>
          <p:cNvPr id="4" name="Shape 2"/>
          <p:cNvSpPr/>
          <p:nvPr/>
        </p:nvSpPr>
        <p:spPr>
          <a:xfrm>
            <a:off x="548640" y="1463040"/>
            <a:ext cx="5394960" cy="2240280"/>
          </a:xfrm>
          <a:prstGeom prst="roundRect">
            <a:avLst>
              <a:gd name="adj" fmla="val 4898"/>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5" name="Shape 3"/>
          <p:cNvSpPr/>
          <p:nvPr/>
        </p:nvSpPr>
        <p:spPr>
          <a:xfrm>
            <a:off x="822960" y="1691640"/>
            <a:ext cx="548640" cy="548640"/>
          </a:xfrm>
          <a:prstGeom prst="ellipse">
            <a:avLst/>
          </a:prstGeom>
          <a:solidFill>
            <a:srgbClr val="F0EEFF"/>
          </a:solidFill>
          <a:ln w="12700">
            <a:solidFill>
              <a:srgbClr val="F0EEFF"/>
            </a:solidFill>
            <a:prstDash val="solid"/>
          </a:ln>
        </p:spPr>
      </p:sp>
      <p:pic>
        <p:nvPicPr>
          <p:cNvPr id="6" name="Image 0" descr="/private/tmp/claude-501/-Users-mauriciops-Proyectos-relwo-capstone/1a8b5f2b-d3d9-4b63-bfed-da79668ca276/scratchpad/pptx-build/assets/image4.png">    </p:cNvPr>
          <p:cNvPicPr>
            <a:picLocks noChangeAspect="1"/>
          </p:cNvPicPr>
          <p:nvPr/>
        </p:nvPicPr>
        <p:blipFill>
          <a:blip r:embed="rId1"/>
          <a:stretch>
            <a:fillRect/>
          </a:stretch>
        </p:blipFill>
        <p:spPr>
          <a:xfrm>
            <a:off x="965606" y="1834286"/>
            <a:ext cx="263347" cy="263347"/>
          </a:xfrm>
          <a:prstGeom prst="rect">
            <a:avLst/>
          </a:prstGeom>
        </p:spPr>
      </p:pic>
      <p:sp>
        <p:nvSpPr>
          <p:cNvPr id="7" name="Text 4"/>
          <p:cNvSpPr txBox="1"/>
          <p:nvPr/>
        </p:nvSpPr>
        <p:spPr>
          <a:xfrm>
            <a:off x="1508760" y="1737360"/>
            <a:ext cx="4206240" cy="457200"/>
          </a:xfrm>
          <a:prstGeom prst="rect">
            <a:avLst/>
          </a:prstGeom>
          <a:noFill/>
          <a:ln/>
        </p:spPr>
        <p:txBody>
          <a:bodyPr wrap="square" lIns="0" tIns="0" rIns="0" bIns="0" rtlCol="0" anchor="t"/>
          <a:lstStyle/>
          <a:p>
            <a:pPr indent="0" marL="0">
              <a:buNone/>
            </a:pPr>
            <a:r>
              <a:rPr lang="en-US" sz="1600" b="1" dirty="0">
                <a:solidFill>
                  <a:srgbClr val="172442"/>
                </a:solidFill>
              </a:rPr>
              <a:t>Tu dinero nunca lo toca Relwo</a:t>
            </a:r>
            <a:endParaRPr lang="en-US" sz="1600" dirty="0"/>
          </a:p>
        </p:txBody>
      </p:sp>
      <p:sp>
        <p:nvSpPr>
          <p:cNvPr id="8" name="Text 5"/>
          <p:cNvSpPr txBox="1"/>
          <p:nvPr/>
        </p:nvSpPr>
        <p:spPr>
          <a:xfrm>
            <a:off x="822960" y="2331720"/>
            <a:ext cx="4846320" cy="1280160"/>
          </a:xfrm>
          <a:prstGeom prst="rect">
            <a:avLst/>
          </a:prstGeom>
          <a:noFill/>
          <a:ln/>
        </p:spPr>
        <p:txBody>
          <a:bodyPr wrap="square" lIns="0" tIns="0" rIns="0" bIns="0" rtlCol="0" anchor="t"/>
          <a:lstStyle/>
          <a:p>
            <a:pPr indent="0" marL="0">
              <a:lnSpc>
                <a:spcPct val="110000"/>
              </a:lnSpc>
              <a:buNone/>
            </a:pPr>
            <a:r>
              <a:rPr lang="en-US" sz="1200" dirty="0">
                <a:solidFill>
                  <a:srgbClr val="202636"/>
                </a:solidFill>
              </a:rPr>
              <a:t>Cuando apruebas el monto, el pago queda en custodia en el procesador de pagos, una entidad regulada. Se libera al maestro solo cuando el trabajo termina. Hoy funciona contra un simulador que se comporta igual; conectar el procesador real es lo que sigue.</a:t>
            </a:r>
            <a:endParaRPr lang="en-US" sz="1200" dirty="0"/>
          </a:p>
        </p:txBody>
      </p:sp>
      <p:sp>
        <p:nvSpPr>
          <p:cNvPr id="9" name="Shape 6"/>
          <p:cNvSpPr/>
          <p:nvPr/>
        </p:nvSpPr>
        <p:spPr>
          <a:xfrm>
            <a:off x="6217920" y="1463040"/>
            <a:ext cx="5394960" cy="2240280"/>
          </a:xfrm>
          <a:prstGeom prst="roundRect">
            <a:avLst>
              <a:gd name="adj" fmla="val 4898"/>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0" name="Shape 7"/>
          <p:cNvSpPr/>
          <p:nvPr/>
        </p:nvSpPr>
        <p:spPr>
          <a:xfrm>
            <a:off x="6492240" y="1691640"/>
            <a:ext cx="548640" cy="548640"/>
          </a:xfrm>
          <a:prstGeom prst="ellipse">
            <a:avLst/>
          </a:prstGeom>
          <a:solidFill>
            <a:srgbClr val="F0EEFF"/>
          </a:solidFill>
          <a:ln w="12700">
            <a:solidFill>
              <a:srgbClr val="F0EEFF"/>
            </a:solidFill>
            <a:prstDash val="solid"/>
          </a:ln>
        </p:spPr>
      </p:sp>
      <p:pic>
        <p:nvPicPr>
          <p:cNvPr id="11" name="Image 1" descr="/private/tmp/claude-501/-Users-mauriciops-Proyectos-relwo-capstone/1a8b5f2b-d3d9-4b63-bfed-da79668ca276/scratchpad/pptx-build/assets/image15.png">    </p:cNvPr>
          <p:cNvPicPr>
            <a:picLocks noChangeAspect="1"/>
          </p:cNvPicPr>
          <p:nvPr/>
        </p:nvPicPr>
        <p:blipFill>
          <a:blip r:embed="rId2"/>
          <a:stretch>
            <a:fillRect/>
          </a:stretch>
        </p:blipFill>
        <p:spPr>
          <a:xfrm>
            <a:off x="6634886" y="1834286"/>
            <a:ext cx="263347" cy="263347"/>
          </a:xfrm>
          <a:prstGeom prst="rect">
            <a:avLst/>
          </a:prstGeom>
        </p:spPr>
      </p:pic>
      <p:sp>
        <p:nvSpPr>
          <p:cNvPr id="12" name="Text 8"/>
          <p:cNvSpPr txBox="1"/>
          <p:nvPr/>
        </p:nvSpPr>
        <p:spPr>
          <a:xfrm>
            <a:off x="7178040" y="1737360"/>
            <a:ext cx="4206240" cy="457200"/>
          </a:xfrm>
          <a:prstGeom prst="rect">
            <a:avLst/>
          </a:prstGeom>
          <a:noFill/>
          <a:ln/>
        </p:spPr>
        <p:txBody>
          <a:bodyPr wrap="square" lIns="0" tIns="0" rIns="0" bIns="0" rtlCol="0" anchor="t"/>
          <a:lstStyle/>
          <a:p>
            <a:pPr indent="0" marL="0">
              <a:buNone/>
            </a:pPr>
            <a:r>
              <a:rPr lang="en-US" sz="1600" b="1" dirty="0">
                <a:solidFill>
                  <a:srgbClr val="172442"/>
                </a:solidFill>
              </a:rPr>
              <a:t>Identidad verificada, por capas</a:t>
            </a:r>
            <a:endParaRPr lang="en-US" sz="1600" dirty="0"/>
          </a:p>
        </p:txBody>
      </p:sp>
      <p:sp>
        <p:nvSpPr>
          <p:cNvPr id="13" name="Text 9"/>
          <p:cNvSpPr txBox="1"/>
          <p:nvPr/>
        </p:nvSpPr>
        <p:spPr>
          <a:xfrm>
            <a:off x="6492240" y="2331720"/>
            <a:ext cx="4846320" cy="1280160"/>
          </a:xfrm>
          <a:prstGeom prst="rect">
            <a:avLst/>
          </a:prstGeom>
          <a:noFill/>
          <a:ln/>
        </p:spPr>
        <p:txBody>
          <a:bodyPr wrap="square" lIns="0" tIns="0" rIns="0" bIns="0" rtlCol="0" anchor="t"/>
          <a:lstStyle/>
          <a:p>
            <a:pPr indent="0" marL="0">
              <a:lnSpc>
                <a:spcPct val="110000"/>
              </a:lnSpc>
              <a:buNone/>
            </a:pPr>
            <a:r>
              <a:rPr lang="en-US" sz="1200" dirty="0">
                <a:solidFill>
                  <a:srgbClr val="202636"/>
                </a:solidFill>
              </a:rPr>
              <a:t>Un maestro no entra solo porque se registró: quién es, sus antecedentes y, cuando el oficio lo exige, su certificación. La licencia de electricista se consulta desde nuestro servidor con el RUT. Quien cumple todas las capas recibe el Sello RELWO.</a:t>
            </a:r>
            <a:endParaRPr lang="en-US" sz="1200" dirty="0"/>
          </a:p>
        </p:txBody>
      </p:sp>
      <p:sp>
        <p:nvSpPr>
          <p:cNvPr id="14" name="Shape 10"/>
          <p:cNvSpPr/>
          <p:nvPr/>
        </p:nvSpPr>
        <p:spPr>
          <a:xfrm>
            <a:off x="548640" y="3886200"/>
            <a:ext cx="5394960" cy="2240280"/>
          </a:xfrm>
          <a:prstGeom prst="roundRect">
            <a:avLst>
              <a:gd name="adj" fmla="val 4898"/>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5" name="Shape 11"/>
          <p:cNvSpPr/>
          <p:nvPr/>
        </p:nvSpPr>
        <p:spPr>
          <a:xfrm>
            <a:off x="822960" y="4114800"/>
            <a:ext cx="548640" cy="548640"/>
          </a:xfrm>
          <a:prstGeom prst="ellipse">
            <a:avLst/>
          </a:prstGeom>
          <a:solidFill>
            <a:srgbClr val="F0EEFF"/>
          </a:solidFill>
          <a:ln w="12700">
            <a:solidFill>
              <a:srgbClr val="F0EEFF"/>
            </a:solidFill>
            <a:prstDash val="solid"/>
          </a:ln>
        </p:spPr>
      </p:sp>
      <p:pic>
        <p:nvPicPr>
          <p:cNvPr id="16" name="Image 2" descr="/private/tmp/claude-501/-Users-mauriciops-Proyectos-relwo-capstone/1a8b5f2b-d3d9-4b63-bfed-da79668ca276/scratchpad/pptx-build/assets/image3.png">    </p:cNvPr>
          <p:cNvPicPr>
            <a:picLocks noChangeAspect="1"/>
          </p:cNvPicPr>
          <p:nvPr/>
        </p:nvPicPr>
        <p:blipFill>
          <a:blip r:embed="rId3"/>
          <a:stretch>
            <a:fillRect/>
          </a:stretch>
        </p:blipFill>
        <p:spPr>
          <a:xfrm>
            <a:off x="965606" y="4257446"/>
            <a:ext cx="263347" cy="263347"/>
          </a:xfrm>
          <a:prstGeom prst="rect">
            <a:avLst/>
          </a:prstGeom>
        </p:spPr>
      </p:pic>
      <p:sp>
        <p:nvSpPr>
          <p:cNvPr id="17" name="Text 12"/>
          <p:cNvSpPr txBox="1"/>
          <p:nvPr/>
        </p:nvSpPr>
        <p:spPr>
          <a:xfrm>
            <a:off x="1508760" y="4160520"/>
            <a:ext cx="4206240" cy="457200"/>
          </a:xfrm>
          <a:prstGeom prst="rect">
            <a:avLst/>
          </a:prstGeom>
          <a:noFill/>
          <a:ln/>
        </p:spPr>
        <p:txBody>
          <a:bodyPr wrap="square" lIns="0" tIns="0" rIns="0" bIns="0" rtlCol="0" anchor="t"/>
          <a:lstStyle/>
          <a:p>
            <a:pPr indent="0" marL="0">
              <a:buNone/>
            </a:pPr>
            <a:r>
              <a:rPr lang="en-US" sz="1600" b="1" dirty="0">
                <a:solidFill>
                  <a:srgbClr val="172442"/>
                </a:solidFill>
              </a:rPr>
              <a:t>Solo el cliente tiene el código</a:t>
            </a:r>
            <a:endParaRPr lang="en-US" sz="1600" dirty="0"/>
          </a:p>
        </p:txBody>
      </p:sp>
      <p:sp>
        <p:nvSpPr>
          <p:cNvPr id="18" name="Text 13"/>
          <p:cNvSpPr txBox="1"/>
          <p:nvPr/>
        </p:nvSpPr>
        <p:spPr>
          <a:xfrm>
            <a:off x="822960" y="4754880"/>
            <a:ext cx="4846320" cy="1280160"/>
          </a:xfrm>
          <a:prstGeom prst="rect">
            <a:avLst/>
          </a:prstGeom>
          <a:noFill/>
          <a:ln/>
        </p:spPr>
        <p:txBody>
          <a:bodyPr wrap="square" lIns="0" tIns="0" rIns="0" bIns="0" rtlCol="0" anchor="t"/>
          <a:lstStyle/>
          <a:p>
            <a:pPr indent="0" marL="0">
              <a:lnSpc>
                <a:spcPct val="110000"/>
              </a:lnSpc>
              <a:buNone/>
            </a:pPr>
            <a:r>
              <a:rPr lang="en-US" sz="1200" dirty="0">
                <a:solidFill>
                  <a:srgbClr val="202636"/>
                </a:solidFill>
              </a:rPr>
              <a:t>El trabajo cierra con un código de tres dígitos que solo tiene el cliente. El maestro lo ingresa en su app y recién ahí se libera el pago. Tres intentos; si se equivoca más, se bloquea. Funciona aunque el cliente no sepa nada de tecnología.</a:t>
            </a:r>
            <a:endParaRPr lang="en-US" sz="1200" dirty="0"/>
          </a:p>
        </p:txBody>
      </p:sp>
      <p:sp>
        <p:nvSpPr>
          <p:cNvPr id="19" name="Shape 14"/>
          <p:cNvSpPr/>
          <p:nvPr/>
        </p:nvSpPr>
        <p:spPr>
          <a:xfrm>
            <a:off x="6217920" y="3886200"/>
            <a:ext cx="5394960" cy="2240280"/>
          </a:xfrm>
          <a:prstGeom prst="roundRect">
            <a:avLst>
              <a:gd name="adj" fmla="val 4898"/>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0" name="Shape 15"/>
          <p:cNvSpPr/>
          <p:nvPr/>
        </p:nvSpPr>
        <p:spPr>
          <a:xfrm>
            <a:off x="6492240" y="4114800"/>
            <a:ext cx="548640" cy="548640"/>
          </a:xfrm>
          <a:prstGeom prst="ellipse">
            <a:avLst/>
          </a:prstGeom>
          <a:solidFill>
            <a:srgbClr val="F0EEFF"/>
          </a:solidFill>
          <a:ln w="12700">
            <a:solidFill>
              <a:srgbClr val="F0EEFF"/>
            </a:solidFill>
            <a:prstDash val="solid"/>
          </a:ln>
        </p:spPr>
      </p:sp>
      <p:pic>
        <p:nvPicPr>
          <p:cNvPr id="21" name="Image 3" descr="/private/tmp/claude-501/-Users-mauriciops-Proyectos-relwo-capstone/1a8b5f2b-d3d9-4b63-bfed-da79668ca276/scratchpad/pptx-build/assets/image26.png">    </p:cNvPr>
          <p:cNvPicPr>
            <a:picLocks noChangeAspect="1"/>
          </p:cNvPicPr>
          <p:nvPr/>
        </p:nvPicPr>
        <p:blipFill>
          <a:blip r:embed="rId4"/>
          <a:stretch>
            <a:fillRect/>
          </a:stretch>
        </p:blipFill>
        <p:spPr>
          <a:xfrm>
            <a:off x="6634886" y="4257446"/>
            <a:ext cx="263347" cy="263347"/>
          </a:xfrm>
          <a:prstGeom prst="rect">
            <a:avLst/>
          </a:prstGeom>
        </p:spPr>
      </p:pic>
      <p:sp>
        <p:nvSpPr>
          <p:cNvPr id="22" name="Text 16"/>
          <p:cNvSpPr txBox="1"/>
          <p:nvPr/>
        </p:nvSpPr>
        <p:spPr>
          <a:xfrm>
            <a:off x="7178040" y="4160520"/>
            <a:ext cx="4206240" cy="457200"/>
          </a:xfrm>
          <a:prstGeom prst="rect">
            <a:avLst/>
          </a:prstGeom>
          <a:noFill/>
          <a:ln/>
        </p:spPr>
        <p:txBody>
          <a:bodyPr wrap="square" lIns="0" tIns="0" rIns="0" bIns="0" rtlCol="0" anchor="t"/>
          <a:lstStyle/>
          <a:p>
            <a:pPr indent="0" marL="0">
              <a:buNone/>
            </a:pPr>
            <a:r>
              <a:rPr lang="en-US" sz="1600" b="1" dirty="0">
                <a:solidFill>
                  <a:srgbClr val="172442"/>
                </a:solidFill>
              </a:rPr>
              <a:t>Evaluación a ciegas</a:t>
            </a:r>
            <a:endParaRPr lang="en-US" sz="1600" dirty="0"/>
          </a:p>
        </p:txBody>
      </p:sp>
      <p:sp>
        <p:nvSpPr>
          <p:cNvPr id="23" name="Text 17"/>
          <p:cNvSpPr txBox="1"/>
          <p:nvPr/>
        </p:nvSpPr>
        <p:spPr>
          <a:xfrm>
            <a:off x="6492240" y="4754880"/>
            <a:ext cx="4846320" cy="1280160"/>
          </a:xfrm>
          <a:prstGeom prst="rect">
            <a:avLst/>
          </a:prstGeom>
          <a:noFill/>
          <a:ln/>
        </p:spPr>
        <p:txBody>
          <a:bodyPr wrap="square" lIns="0" tIns="0" rIns="0" bIns="0" rtlCol="0" anchor="t"/>
          <a:lstStyle/>
          <a:p>
            <a:pPr indent="0" marL="0">
              <a:lnSpc>
                <a:spcPct val="110000"/>
              </a:lnSpc>
              <a:buNone/>
            </a:pPr>
            <a:r>
              <a:rPr lang="en-US" sz="1200" dirty="0">
                <a:solidFill>
                  <a:srgbClr val="202636"/>
                </a:solidFill>
              </a:rPr>
              <a:t>El cliente evalúa al maestro y el maestro al cliente. Ninguno ve lo que escribió el otro hasta que los dos evaluaron o vence el plazo. Nadie castiga ni premia por revancha, y la reputación se construye con opiniones honestas.</a:t>
            </a:r>
            <a:endParaRPr lang="en-US" sz="1200" dirty="0"/>
          </a:p>
        </p:txBody>
      </p:sp>
      <p:sp>
        <p:nvSpPr>
          <p:cNvPr id="24" name="Text 18"/>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25" name="Text 19"/>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Tania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DEMOSTRACIÓN EN VIVO</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Veámoslo funcionando</a:t>
            </a:r>
            <a:endParaRPr lang="en-US" sz="3000" dirty="0"/>
          </a:p>
        </p:txBody>
      </p:sp>
      <p:sp>
        <p:nvSpPr>
          <p:cNvPr id="4" name="Text 2"/>
          <p:cNvSpPr txBox="1"/>
          <p:nvPr/>
        </p:nvSpPr>
        <p:spPr>
          <a:xfrm>
            <a:off x="548640" y="1371600"/>
            <a:ext cx="6675120" cy="457200"/>
          </a:xfrm>
          <a:prstGeom prst="rect">
            <a:avLst/>
          </a:prstGeom>
          <a:noFill/>
          <a:ln/>
        </p:spPr>
        <p:txBody>
          <a:bodyPr wrap="square" lIns="0" tIns="0" rIns="0" bIns="0" rtlCol="0" anchor="t"/>
          <a:lstStyle/>
          <a:p>
            <a:pPr indent="0" marL="0">
              <a:buNone/>
            </a:pPr>
            <a:r>
              <a:rPr lang="en-US" sz="1350" dirty="0">
                <a:solidFill>
                  <a:srgbClr val="667085"/>
                </a:solidFill>
              </a:rPr>
              <a:t>Dos teléfonos y el servidor en la nube, sin simulaciones de pantalla. El guion de la demostración:</a:t>
            </a:r>
            <a:endParaRPr lang="en-US" sz="1350" dirty="0"/>
          </a:p>
        </p:txBody>
      </p:sp>
      <p:sp>
        <p:nvSpPr>
          <p:cNvPr id="5" name="Shape 3"/>
          <p:cNvSpPr/>
          <p:nvPr/>
        </p:nvSpPr>
        <p:spPr>
          <a:xfrm>
            <a:off x="548640" y="1965960"/>
            <a:ext cx="457200" cy="457200"/>
          </a:xfrm>
          <a:prstGeom prst="ellipse">
            <a:avLst/>
          </a:prstGeom>
          <a:solidFill>
            <a:srgbClr val="F06449"/>
          </a:solidFill>
          <a:ln w="12700">
            <a:solidFill>
              <a:srgbClr val="F06449"/>
            </a:solidFill>
            <a:prstDash val="solid"/>
          </a:ln>
        </p:spPr>
      </p:sp>
      <p:sp>
        <p:nvSpPr>
          <p:cNvPr id="6" name="Text 4"/>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Shape 5"/>
          <p:cNvSpPr/>
          <p:nvPr/>
        </p:nvSpPr>
        <p:spPr>
          <a:xfrm>
            <a:off x="1188720" y="2011680"/>
            <a:ext cx="1005840" cy="310896"/>
          </a:xfrm>
          <a:prstGeom prst="roundRect">
            <a:avLst>
              <a:gd name="adj" fmla="val 50000"/>
            </a:avLst>
          </a:prstGeom>
          <a:solidFill>
            <a:srgbClr val="F0EEFF"/>
          </a:solidFill>
          <a:ln w="12700">
            <a:solidFill>
              <a:srgbClr val="F0EEFF"/>
            </a:solidFill>
            <a:prstDash val="solid"/>
          </a:ln>
        </p:spPr>
      </p:sp>
      <p:sp>
        <p:nvSpPr>
          <p:cNvPr id="8" name="Text 6"/>
          <p:cNvSpPr txBox="1"/>
          <p:nvPr/>
        </p:nvSpPr>
        <p:spPr>
          <a:xfrm>
            <a:off x="1188720" y="2011680"/>
            <a:ext cx="1005840" cy="310896"/>
          </a:xfrm>
          <a:prstGeom prst="rect">
            <a:avLst/>
          </a:prstGeom>
          <a:noFill/>
          <a:ln/>
        </p:spPr>
        <p:txBody>
          <a:bodyPr wrap="square" lIns="0" tIns="0" rIns="0" bIns="0" rtlCol="0" anchor="ctr"/>
          <a:lstStyle/>
          <a:p>
            <a:pPr algn="ctr" indent="0" marL="0">
              <a:buNone/>
            </a:pPr>
            <a:r>
              <a:rPr lang="en-US" sz="1050" b="1" dirty="0">
                <a:solidFill>
                  <a:srgbClr val="243B6B"/>
                </a:solidFill>
              </a:rPr>
              <a:t>Cliente</a:t>
            </a:r>
            <a:endParaRPr lang="en-US" sz="1050" dirty="0"/>
          </a:p>
        </p:txBody>
      </p:sp>
      <p:sp>
        <p:nvSpPr>
          <p:cNvPr id="9" name="Text 7"/>
          <p:cNvSpPr txBox="1"/>
          <p:nvPr/>
        </p:nvSpPr>
        <p:spPr>
          <a:xfrm>
            <a:off x="2377440" y="1920240"/>
            <a:ext cx="4846320" cy="731520"/>
          </a:xfrm>
          <a:prstGeom prst="rect">
            <a:avLst/>
          </a:prstGeom>
          <a:noFill/>
          <a:ln/>
        </p:spPr>
        <p:txBody>
          <a:bodyPr wrap="square" lIns="0" tIns="0" rIns="0" bIns="0" rtlCol="0" anchor="t"/>
          <a:lstStyle/>
          <a:p>
            <a:pPr indent="0" marL="0">
              <a:lnSpc>
                <a:spcPct val="110000"/>
              </a:lnSpc>
              <a:buNone/>
            </a:pPr>
            <a:r>
              <a:rPr lang="en-US" sz="1250" dirty="0">
                <a:solidFill>
                  <a:srgbClr val="202636"/>
                </a:solidFill>
              </a:rPr>
              <a:t>Elige gasfitería, escribe «Gotea la llave de paso de la cocina», agrega una foto y confirma la dirección. La solicitud queda publicada.</a:t>
            </a:r>
            <a:endParaRPr lang="en-US" sz="1250" dirty="0"/>
          </a:p>
        </p:txBody>
      </p:sp>
      <p:sp>
        <p:nvSpPr>
          <p:cNvPr id="10" name="Shape 8"/>
          <p:cNvSpPr/>
          <p:nvPr/>
        </p:nvSpPr>
        <p:spPr>
          <a:xfrm>
            <a:off x="548640" y="2752344"/>
            <a:ext cx="457200" cy="457200"/>
          </a:xfrm>
          <a:prstGeom prst="ellipse">
            <a:avLst/>
          </a:prstGeom>
          <a:solidFill>
            <a:srgbClr val="F06449"/>
          </a:solidFill>
          <a:ln w="12700">
            <a:solidFill>
              <a:srgbClr val="F06449"/>
            </a:solidFill>
            <a:prstDash val="solid"/>
          </a:ln>
        </p:spPr>
      </p:sp>
      <p:sp>
        <p:nvSpPr>
          <p:cNvPr id="11" name="Text 9"/>
          <p:cNvSpPr txBox="1"/>
          <p:nvPr/>
        </p:nvSpPr>
        <p:spPr>
          <a:xfrm>
            <a:off x="548640" y="27523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Shape 10"/>
          <p:cNvSpPr/>
          <p:nvPr/>
        </p:nvSpPr>
        <p:spPr>
          <a:xfrm>
            <a:off x="1188720" y="2798064"/>
            <a:ext cx="1005840" cy="310896"/>
          </a:xfrm>
          <a:prstGeom prst="roundRect">
            <a:avLst>
              <a:gd name="adj" fmla="val 50000"/>
            </a:avLst>
          </a:prstGeom>
          <a:solidFill>
            <a:srgbClr val="E6F4F0"/>
          </a:solidFill>
          <a:ln w="12700">
            <a:solidFill>
              <a:srgbClr val="E6F4F0"/>
            </a:solidFill>
            <a:prstDash val="solid"/>
          </a:ln>
        </p:spPr>
      </p:sp>
      <p:sp>
        <p:nvSpPr>
          <p:cNvPr id="13" name="Text 11"/>
          <p:cNvSpPr txBox="1"/>
          <p:nvPr/>
        </p:nvSpPr>
        <p:spPr>
          <a:xfrm>
            <a:off x="1188720" y="2798064"/>
            <a:ext cx="1005840" cy="310896"/>
          </a:xfrm>
          <a:prstGeom prst="rect">
            <a:avLst/>
          </a:prstGeom>
          <a:noFill/>
          <a:ln/>
        </p:spPr>
        <p:txBody>
          <a:bodyPr wrap="square" lIns="0" tIns="0" rIns="0" bIns="0" rtlCol="0" anchor="ctr"/>
          <a:lstStyle/>
          <a:p>
            <a:pPr algn="ctr" indent="0" marL="0">
              <a:buNone/>
            </a:pPr>
            <a:r>
              <a:rPr lang="en-US" sz="1050" b="1" dirty="0">
                <a:solidFill>
                  <a:srgbClr val="16856B"/>
                </a:solidFill>
              </a:rPr>
              <a:t>Maestro</a:t>
            </a:r>
            <a:endParaRPr lang="en-US" sz="1050" dirty="0"/>
          </a:p>
        </p:txBody>
      </p:sp>
      <p:sp>
        <p:nvSpPr>
          <p:cNvPr id="14" name="Text 12"/>
          <p:cNvSpPr txBox="1"/>
          <p:nvPr/>
        </p:nvSpPr>
        <p:spPr>
          <a:xfrm>
            <a:off x="2377440" y="2706624"/>
            <a:ext cx="4846320" cy="731520"/>
          </a:xfrm>
          <a:prstGeom prst="rect">
            <a:avLst/>
          </a:prstGeom>
          <a:noFill/>
          <a:ln/>
        </p:spPr>
        <p:txBody>
          <a:bodyPr wrap="square" lIns="0" tIns="0" rIns="0" bIns="0" rtlCol="0" anchor="t"/>
          <a:lstStyle/>
          <a:p>
            <a:pPr indent="0" marL="0">
              <a:lnSpc>
                <a:spcPct val="110000"/>
              </a:lnSpc>
              <a:buNone/>
            </a:pPr>
            <a:r>
              <a:rPr lang="en-US" sz="1250" dirty="0">
                <a:solidFill>
                  <a:srgbClr val="202636"/>
                </a:solidFill>
              </a:rPr>
              <a:t>Recibe el aviso, abre la solicitud y oferta dos cifras: valor estimado y tarifa de visita. El resto lo calcula el servidor.</a:t>
            </a:r>
            <a:endParaRPr lang="en-US" sz="1250" dirty="0"/>
          </a:p>
        </p:txBody>
      </p:sp>
      <p:sp>
        <p:nvSpPr>
          <p:cNvPr id="15" name="Shape 13"/>
          <p:cNvSpPr/>
          <p:nvPr/>
        </p:nvSpPr>
        <p:spPr>
          <a:xfrm>
            <a:off x="548640" y="3538728"/>
            <a:ext cx="457200" cy="457200"/>
          </a:xfrm>
          <a:prstGeom prst="ellipse">
            <a:avLst/>
          </a:prstGeom>
          <a:solidFill>
            <a:srgbClr val="F06449"/>
          </a:solidFill>
          <a:ln w="12700">
            <a:solidFill>
              <a:srgbClr val="F06449"/>
            </a:solidFill>
            <a:prstDash val="solid"/>
          </a:ln>
        </p:spPr>
      </p:sp>
      <p:sp>
        <p:nvSpPr>
          <p:cNvPr id="16" name="Text 14"/>
          <p:cNvSpPr txBox="1"/>
          <p:nvPr/>
        </p:nvSpPr>
        <p:spPr>
          <a:xfrm>
            <a:off x="548640" y="35387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Shape 15"/>
          <p:cNvSpPr/>
          <p:nvPr/>
        </p:nvSpPr>
        <p:spPr>
          <a:xfrm>
            <a:off x="1188720" y="3584448"/>
            <a:ext cx="1005840" cy="310896"/>
          </a:xfrm>
          <a:prstGeom prst="roundRect">
            <a:avLst>
              <a:gd name="adj" fmla="val 50000"/>
            </a:avLst>
          </a:prstGeom>
          <a:solidFill>
            <a:srgbClr val="F0EEFF"/>
          </a:solidFill>
          <a:ln w="12700">
            <a:solidFill>
              <a:srgbClr val="F0EEFF"/>
            </a:solidFill>
            <a:prstDash val="solid"/>
          </a:ln>
        </p:spPr>
      </p:sp>
      <p:sp>
        <p:nvSpPr>
          <p:cNvPr id="18" name="Text 16"/>
          <p:cNvSpPr txBox="1"/>
          <p:nvPr/>
        </p:nvSpPr>
        <p:spPr>
          <a:xfrm>
            <a:off x="1188720" y="3584448"/>
            <a:ext cx="1005840" cy="310896"/>
          </a:xfrm>
          <a:prstGeom prst="rect">
            <a:avLst/>
          </a:prstGeom>
          <a:noFill/>
          <a:ln/>
        </p:spPr>
        <p:txBody>
          <a:bodyPr wrap="square" lIns="0" tIns="0" rIns="0" bIns="0" rtlCol="0" anchor="ctr"/>
          <a:lstStyle/>
          <a:p>
            <a:pPr algn="ctr" indent="0" marL="0">
              <a:buNone/>
            </a:pPr>
            <a:r>
              <a:rPr lang="en-US" sz="1050" b="1" dirty="0">
                <a:solidFill>
                  <a:srgbClr val="243B6B"/>
                </a:solidFill>
              </a:rPr>
              <a:t>Cliente</a:t>
            </a:r>
            <a:endParaRPr lang="en-US" sz="1050" dirty="0"/>
          </a:p>
        </p:txBody>
      </p:sp>
      <p:sp>
        <p:nvSpPr>
          <p:cNvPr id="19" name="Text 17"/>
          <p:cNvSpPr txBox="1"/>
          <p:nvPr/>
        </p:nvSpPr>
        <p:spPr>
          <a:xfrm>
            <a:off x="2377440" y="3493008"/>
            <a:ext cx="4846320" cy="731520"/>
          </a:xfrm>
          <a:prstGeom prst="rect">
            <a:avLst/>
          </a:prstGeom>
          <a:noFill/>
          <a:ln/>
        </p:spPr>
        <p:txBody>
          <a:bodyPr wrap="square" lIns="0" tIns="0" rIns="0" bIns="0" rtlCol="0" anchor="t"/>
          <a:lstStyle/>
          <a:p>
            <a:pPr indent="0" marL="0">
              <a:lnSpc>
                <a:spcPct val="110000"/>
              </a:lnSpc>
              <a:buNone/>
            </a:pPr>
            <a:r>
              <a:rPr lang="en-US" sz="1250" dirty="0">
                <a:solidFill>
                  <a:srgbClr val="202636"/>
                </a:solidFill>
              </a:rPr>
              <a:t>La oferta aparece sola, sin recargar. La elige: quedó agendado y no se cobró nada.</a:t>
            </a:r>
            <a:endParaRPr lang="en-US" sz="1250" dirty="0"/>
          </a:p>
        </p:txBody>
      </p:sp>
      <p:sp>
        <p:nvSpPr>
          <p:cNvPr id="20" name="Shape 18"/>
          <p:cNvSpPr/>
          <p:nvPr/>
        </p:nvSpPr>
        <p:spPr>
          <a:xfrm>
            <a:off x="548640" y="4325112"/>
            <a:ext cx="457200" cy="457200"/>
          </a:xfrm>
          <a:prstGeom prst="ellipse">
            <a:avLst/>
          </a:prstGeom>
          <a:solidFill>
            <a:srgbClr val="F06449"/>
          </a:solidFill>
          <a:ln w="12700">
            <a:solidFill>
              <a:srgbClr val="F06449"/>
            </a:solidFill>
            <a:prstDash val="solid"/>
          </a:ln>
        </p:spPr>
      </p:sp>
      <p:sp>
        <p:nvSpPr>
          <p:cNvPr id="21" name="Text 19"/>
          <p:cNvSpPr txBox="1"/>
          <p:nvPr/>
        </p:nvSpPr>
        <p:spPr>
          <a:xfrm>
            <a:off x="548640" y="43251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2" name="Shape 20"/>
          <p:cNvSpPr/>
          <p:nvPr/>
        </p:nvSpPr>
        <p:spPr>
          <a:xfrm>
            <a:off x="1188720" y="4370832"/>
            <a:ext cx="1005840" cy="310896"/>
          </a:xfrm>
          <a:prstGeom prst="roundRect">
            <a:avLst>
              <a:gd name="adj" fmla="val 50000"/>
            </a:avLst>
          </a:prstGeom>
          <a:solidFill>
            <a:srgbClr val="E6F4F0"/>
          </a:solidFill>
          <a:ln w="12700">
            <a:solidFill>
              <a:srgbClr val="E6F4F0"/>
            </a:solidFill>
            <a:prstDash val="solid"/>
          </a:ln>
        </p:spPr>
      </p:sp>
      <p:sp>
        <p:nvSpPr>
          <p:cNvPr id="23" name="Text 21"/>
          <p:cNvSpPr txBox="1"/>
          <p:nvPr/>
        </p:nvSpPr>
        <p:spPr>
          <a:xfrm>
            <a:off x="1188720" y="4370832"/>
            <a:ext cx="1005840" cy="310896"/>
          </a:xfrm>
          <a:prstGeom prst="rect">
            <a:avLst/>
          </a:prstGeom>
          <a:noFill/>
          <a:ln/>
        </p:spPr>
        <p:txBody>
          <a:bodyPr wrap="square" lIns="0" tIns="0" rIns="0" bIns="0" rtlCol="0" anchor="ctr"/>
          <a:lstStyle/>
          <a:p>
            <a:pPr algn="ctr" indent="0" marL="0">
              <a:buNone/>
            </a:pPr>
            <a:r>
              <a:rPr lang="en-US" sz="1050" b="1" dirty="0">
                <a:solidFill>
                  <a:srgbClr val="16856B"/>
                </a:solidFill>
              </a:rPr>
              <a:t>Maestro</a:t>
            </a:r>
            <a:endParaRPr lang="en-US" sz="1050" dirty="0"/>
          </a:p>
        </p:txBody>
      </p:sp>
      <p:sp>
        <p:nvSpPr>
          <p:cNvPr id="24" name="Text 22"/>
          <p:cNvSpPr txBox="1"/>
          <p:nvPr/>
        </p:nvSpPr>
        <p:spPr>
          <a:xfrm>
            <a:off x="2377440" y="4279392"/>
            <a:ext cx="4846320" cy="731520"/>
          </a:xfrm>
          <a:prstGeom prst="rect">
            <a:avLst/>
          </a:prstGeom>
          <a:noFill/>
          <a:ln/>
        </p:spPr>
        <p:txBody>
          <a:bodyPr wrap="square" lIns="0" tIns="0" rIns="0" bIns="0" rtlCol="0" anchor="t"/>
          <a:lstStyle/>
          <a:p>
            <a:pPr indent="0" marL="0">
              <a:lnSpc>
                <a:spcPct val="110000"/>
              </a:lnSpc>
              <a:buNone/>
            </a:pPr>
            <a:r>
              <a:rPr lang="en-US" sz="1250" dirty="0">
                <a:solidFill>
                  <a:srgbClr val="202636"/>
                </a:solidFill>
              </a:rPr>
              <a:t>Pulsa «Voy en camino».</a:t>
            </a:r>
            <a:endParaRPr lang="en-US" sz="1250" dirty="0"/>
          </a:p>
        </p:txBody>
      </p:sp>
      <p:sp>
        <p:nvSpPr>
          <p:cNvPr id="25" name="Shape 23"/>
          <p:cNvSpPr/>
          <p:nvPr/>
        </p:nvSpPr>
        <p:spPr>
          <a:xfrm>
            <a:off x="548640" y="5111496"/>
            <a:ext cx="457200" cy="457200"/>
          </a:xfrm>
          <a:prstGeom prst="ellipse">
            <a:avLst/>
          </a:prstGeom>
          <a:solidFill>
            <a:srgbClr val="F06449"/>
          </a:solidFill>
          <a:ln w="12700">
            <a:solidFill>
              <a:srgbClr val="F06449"/>
            </a:solidFill>
            <a:prstDash val="solid"/>
          </a:ln>
        </p:spPr>
      </p:sp>
      <p:sp>
        <p:nvSpPr>
          <p:cNvPr id="26" name="Text 24"/>
          <p:cNvSpPr txBox="1"/>
          <p:nvPr/>
        </p:nvSpPr>
        <p:spPr>
          <a:xfrm>
            <a:off x="548640" y="51114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7" name="Shape 25"/>
          <p:cNvSpPr/>
          <p:nvPr/>
        </p:nvSpPr>
        <p:spPr>
          <a:xfrm>
            <a:off x="1188720" y="5157216"/>
            <a:ext cx="1005840" cy="310896"/>
          </a:xfrm>
          <a:prstGeom prst="roundRect">
            <a:avLst>
              <a:gd name="adj" fmla="val 50000"/>
            </a:avLst>
          </a:prstGeom>
          <a:solidFill>
            <a:srgbClr val="F0EEFF"/>
          </a:solidFill>
          <a:ln w="12700">
            <a:solidFill>
              <a:srgbClr val="F0EEFF"/>
            </a:solidFill>
            <a:prstDash val="solid"/>
          </a:ln>
        </p:spPr>
      </p:sp>
      <p:sp>
        <p:nvSpPr>
          <p:cNvPr id="28" name="Text 26"/>
          <p:cNvSpPr txBox="1"/>
          <p:nvPr/>
        </p:nvSpPr>
        <p:spPr>
          <a:xfrm>
            <a:off x="1188720" y="5157216"/>
            <a:ext cx="1005840" cy="310896"/>
          </a:xfrm>
          <a:prstGeom prst="rect">
            <a:avLst/>
          </a:prstGeom>
          <a:noFill/>
          <a:ln/>
        </p:spPr>
        <p:txBody>
          <a:bodyPr wrap="square" lIns="0" tIns="0" rIns="0" bIns="0" rtlCol="0" anchor="ctr"/>
          <a:lstStyle/>
          <a:p>
            <a:pPr algn="ctr" indent="0" marL="0">
              <a:buNone/>
            </a:pPr>
            <a:r>
              <a:rPr lang="en-US" sz="1050" b="1" dirty="0">
                <a:solidFill>
                  <a:srgbClr val="243B6B"/>
                </a:solidFill>
              </a:rPr>
              <a:t>Cliente</a:t>
            </a:r>
            <a:endParaRPr lang="en-US" sz="1050" dirty="0"/>
          </a:p>
        </p:txBody>
      </p:sp>
      <p:sp>
        <p:nvSpPr>
          <p:cNvPr id="29" name="Text 27"/>
          <p:cNvSpPr txBox="1"/>
          <p:nvPr/>
        </p:nvSpPr>
        <p:spPr>
          <a:xfrm>
            <a:off x="2377440" y="5065776"/>
            <a:ext cx="4846320" cy="731520"/>
          </a:xfrm>
          <a:prstGeom prst="rect">
            <a:avLst/>
          </a:prstGeom>
          <a:noFill/>
          <a:ln/>
        </p:spPr>
        <p:txBody>
          <a:bodyPr wrap="square" lIns="0" tIns="0" rIns="0" bIns="0" rtlCol="0" anchor="t"/>
          <a:lstStyle/>
          <a:p>
            <a:pPr indent="0" marL="0">
              <a:lnSpc>
                <a:spcPct val="110000"/>
              </a:lnSpc>
              <a:buNone/>
            </a:pPr>
            <a:r>
              <a:rPr lang="en-US" sz="1250" dirty="0">
                <a:solidFill>
                  <a:srgbClr val="202636"/>
                </a:solidFill>
              </a:rPr>
              <a:t>Se abre el mapa y ve al maestro avanzar por las calles, con un rango de hora de llegada. Al llegar, su posición se borra.</a:t>
            </a:r>
            <a:endParaRPr lang="en-US" sz="1250" dirty="0"/>
          </a:p>
        </p:txBody>
      </p:sp>
      <p:sp>
        <p:nvSpPr>
          <p:cNvPr id="30" name="Shape 28"/>
          <p:cNvSpPr/>
          <p:nvPr/>
        </p:nvSpPr>
        <p:spPr>
          <a:xfrm>
            <a:off x="7589520" y="1600200"/>
            <a:ext cx="2011680" cy="4023360"/>
          </a:xfrm>
          <a:prstGeom prst="roundRect">
            <a:avLst>
              <a:gd name="adj" fmla="val 13636"/>
            </a:avLst>
          </a:prstGeom>
          <a:solidFill>
            <a:srgbClr val="172442"/>
          </a:solidFill>
          <a:ln w="12700">
            <a:solidFill>
              <a:srgbClr val="172442"/>
            </a:solidFill>
            <a:prstDash val="solid"/>
          </a:ln>
        </p:spPr>
      </p:sp>
      <p:sp>
        <p:nvSpPr>
          <p:cNvPr id="31" name="Shape 29"/>
          <p:cNvSpPr/>
          <p:nvPr/>
        </p:nvSpPr>
        <p:spPr>
          <a:xfrm>
            <a:off x="7699248" y="1783080"/>
            <a:ext cx="1792224" cy="3657600"/>
          </a:xfrm>
          <a:prstGeom prst="roundRect">
            <a:avLst>
              <a:gd name="adj" fmla="val 11224"/>
            </a:avLst>
          </a:prstGeom>
          <a:solidFill>
            <a:srgbClr val="FFFFFF"/>
          </a:solidFill>
          <a:ln w="12700">
            <a:solidFill>
              <a:srgbClr val="FFFFFF"/>
            </a:solidFill>
            <a:prstDash val="solid"/>
          </a:ln>
        </p:spPr>
      </p:sp>
      <p:sp>
        <p:nvSpPr>
          <p:cNvPr id="32" name="Shape 30"/>
          <p:cNvSpPr/>
          <p:nvPr/>
        </p:nvSpPr>
        <p:spPr>
          <a:xfrm>
            <a:off x="8321040" y="2331720"/>
            <a:ext cx="548640" cy="548640"/>
          </a:xfrm>
          <a:prstGeom prst="ellipse">
            <a:avLst/>
          </a:prstGeom>
          <a:solidFill>
            <a:srgbClr val="F0EEFF"/>
          </a:solidFill>
          <a:ln w="12700">
            <a:solidFill>
              <a:srgbClr val="F0EEFF"/>
            </a:solidFill>
            <a:prstDash val="solid"/>
          </a:ln>
        </p:spPr>
      </p:sp>
      <p:pic>
        <p:nvPicPr>
          <p:cNvPr id="33" name="Image 0" descr="/private/tmp/claude-501/-Users-mauriciops-Proyectos-relwo-capstone/1a8b5f2b-d3d9-4b63-bfed-da79668ca276/scratchpad/pptx-build/assets/image5.png">    </p:cNvPr>
          <p:cNvPicPr>
            <a:picLocks noChangeAspect="1"/>
          </p:cNvPicPr>
          <p:nvPr/>
        </p:nvPicPr>
        <p:blipFill>
          <a:blip r:embed="rId1"/>
          <a:stretch>
            <a:fillRect/>
          </a:stretch>
        </p:blipFill>
        <p:spPr>
          <a:xfrm>
            <a:off x="8463686" y="2474366"/>
            <a:ext cx="263347" cy="263347"/>
          </a:xfrm>
          <a:prstGeom prst="rect">
            <a:avLst/>
          </a:prstGeom>
        </p:spPr>
      </p:pic>
      <p:sp>
        <p:nvSpPr>
          <p:cNvPr id="34" name="Text 31"/>
          <p:cNvSpPr txBox="1"/>
          <p:nvPr/>
        </p:nvSpPr>
        <p:spPr>
          <a:xfrm>
            <a:off x="7772400" y="3017520"/>
            <a:ext cx="1645920" cy="594360"/>
          </a:xfrm>
          <a:prstGeom prst="rect">
            <a:avLst/>
          </a:prstGeom>
          <a:noFill/>
          <a:ln/>
        </p:spPr>
        <p:txBody>
          <a:bodyPr wrap="square" lIns="0" tIns="0" rIns="0" bIns="0" rtlCol="0" anchor="t"/>
          <a:lstStyle/>
          <a:p>
            <a:pPr algn="ctr" indent="0" marL="0">
              <a:buNone/>
            </a:pPr>
            <a:r>
              <a:rPr lang="en-US" sz="1300" b="1" dirty="0">
                <a:solidFill>
                  <a:srgbClr val="172442"/>
                </a:solidFill>
              </a:rPr>
              <a:t>Teléfono del cliente</a:t>
            </a:r>
            <a:endParaRPr lang="en-US" sz="1300" dirty="0"/>
          </a:p>
        </p:txBody>
      </p:sp>
      <p:sp>
        <p:nvSpPr>
          <p:cNvPr id="35" name="Text 32"/>
          <p:cNvSpPr txBox="1"/>
          <p:nvPr/>
        </p:nvSpPr>
        <p:spPr>
          <a:xfrm>
            <a:off x="7818120" y="3657600"/>
            <a:ext cx="1554480" cy="1554480"/>
          </a:xfrm>
          <a:prstGeom prst="rect">
            <a:avLst/>
          </a:prstGeom>
          <a:noFill/>
          <a:ln/>
        </p:spPr>
        <p:txBody>
          <a:bodyPr wrap="square" lIns="0" tIns="0" rIns="0" bIns="0" rtlCol="0" anchor="t"/>
          <a:lstStyle/>
          <a:p>
            <a:pPr algn="ctr" indent="0" marL="0">
              <a:lnSpc>
                <a:spcPct val="110000"/>
              </a:lnSpc>
              <a:buNone/>
            </a:pPr>
            <a:r>
              <a:rPr lang="en-US" sz="1050" dirty="0">
                <a:solidFill>
                  <a:srgbClr val="667085"/>
                </a:solidFill>
              </a:rPr>
              <a:t>Publica, compara ofertas, elige sin pagar y ve llegar al maestro.</a:t>
            </a:r>
            <a:endParaRPr lang="en-US" sz="1050" dirty="0"/>
          </a:p>
        </p:txBody>
      </p:sp>
      <p:sp>
        <p:nvSpPr>
          <p:cNvPr id="36" name="Shape 33"/>
          <p:cNvSpPr/>
          <p:nvPr/>
        </p:nvSpPr>
        <p:spPr>
          <a:xfrm>
            <a:off x="9692640" y="1600200"/>
            <a:ext cx="2011680" cy="4023360"/>
          </a:xfrm>
          <a:prstGeom prst="roundRect">
            <a:avLst>
              <a:gd name="adj" fmla="val 13636"/>
            </a:avLst>
          </a:prstGeom>
          <a:solidFill>
            <a:srgbClr val="172442"/>
          </a:solidFill>
          <a:ln w="12700">
            <a:solidFill>
              <a:srgbClr val="172442"/>
            </a:solidFill>
            <a:prstDash val="solid"/>
          </a:ln>
        </p:spPr>
      </p:sp>
      <p:sp>
        <p:nvSpPr>
          <p:cNvPr id="37" name="Shape 34"/>
          <p:cNvSpPr/>
          <p:nvPr/>
        </p:nvSpPr>
        <p:spPr>
          <a:xfrm>
            <a:off x="9802368" y="1783080"/>
            <a:ext cx="1792224" cy="3657600"/>
          </a:xfrm>
          <a:prstGeom prst="roundRect">
            <a:avLst>
              <a:gd name="adj" fmla="val 11224"/>
            </a:avLst>
          </a:prstGeom>
          <a:solidFill>
            <a:srgbClr val="FFFFFF"/>
          </a:solidFill>
          <a:ln w="12700">
            <a:solidFill>
              <a:srgbClr val="FFFFFF"/>
            </a:solidFill>
            <a:prstDash val="solid"/>
          </a:ln>
        </p:spPr>
      </p:sp>
      <p:sp>
        <p:nvSpPr>
          <p:cNvPr id="38" name="Shape 35"/>
          <p:cNvSpPr/>
          <p:nvPr/>
        </p:nvSpPr>
        <p:spPr>
          <a:xfrm>
            <a:off x="10424160" y="2331720"/>
            <a:ext cx="548640" cy="548640"/>
          </a:xfrm>
          <a:prstGeom prst="ellipse">
            <a:avLst/>
          </a:prstGeom>
          <a:solidFill>
            <a:srgbClr val="F0EEFF"/>
          </a:solidFill>
          <a:ln w="12700">
            <a:solidFill>
              <a:srgbClr val="F0EEFF"/>
            </a:solidFill>
            <a:prstDash val="solid"/>
          </a:ln>
        </p:spPr>
      </p:sp>
      <p:pic>
        <p:nvPicPr>
          <p:cNvPr id="39" name="Image 1" descr="/private/tmp/claude-501/-Users-mauriciops-Proyectos-relwo-capstone/1a8b5f2b-d3d9-4b63-bfed-da79668ca276/scratchpad/pptx-build/assets/image6.png">    </p:cNvPr>
          <p:cNvPicPr>
            <a:picLocks noChangeAspect="1"/>
          </p:cNvPicPr>
          <p:nvPr/>
        </p:nvPicPr>
        <p:blipFill>
          <a:blip r:embed="rId2"/>
          <a:stretch>
            <a:fillRect/>
          </a:stretch>
        </p:blipFill>
        <p:spPr>
          <a:xfrm>
            <a:off x="10566806" y="2474366"/>
            <a:ext cx="263347" cy="263347"/>
          </a:xfrm>
          <a:prstGeom prst="rect">
            <a:avLst/>
          </a:prstGeom>
        </p:spPr>
      </p:pic>
      <p:sp>
        <p:nvSpPr>
          <p:cNvPr id="40" name="Text 36"/>
          <p:cNvSpPr txBox="1"/>
          <p:nvPr/>
        </p:nvSpPr>
        <p:spPr>
          <a:xfrm>
            <a:off x="9875520" y="3017520"/>
            <a:ext cx="1645920" cy="594360"/>
          </a:xfrm>
          <a:prstGeom prst="rect">
            <a:avLst/>
          </a:prstGeom>
          <a:noFill/>
          <a:ln/>
        </p:spPr>
        <p:txBody>
          <a:bodyPr wrap="square" lIns="0" tIns="0" rIns="0" bIns="0" rtlCol="0" anchor="t"/>
          <a:lstStyle/>
          <a:p>
            <a:pPr algn="ctr" indent="0" marL="0">
              <a:buNone/>
            </a:pPr>
            <a:r>
              <a:rPr lang="en-US" sz="1300" b="1" dirty="0">
                <a:solidFill>
                  <a:srgbClr val="172442"/>
                </a:solidFill>
              </a:rPr>
              <a:t>Teléfono del maestro</a:t>
            </a:r>
            <a:endParaRPr lang="en-US" sz="1300" dirty="0"/>
          </a:p>
        </p:txBody>
      </p:sp>
      <p:sp>
        <p:nvSpPr>
          <p:cNvPr id="41" name="Text 37"/>
          <p:cNvSpPr txBox="1"/>
          <p:nvPr/>
        </p:nvSpPr>
        <p:spPr>
          <a:xfrm>
            <a:off x="9921240" y="3657600"/>
            <a:ext cx="1554480" cy="1554480"/>
          </a:xfrm>
          <a:prstGeom prst="rect">
            <a:avLst/>
          </a:prstGeom>
          <a:noFill/>
          <a:ln/>
        </p:spPr>
        <p:txBody>
          <a:bodyPr wrap="square" lIns="0" tIns="0" rIns="0" bIns="0" rtlCol="0" anchor="t"/>
          <a:lstStyle/>
          <a:p>
            <a:pPr algn="ctr" indent="0" marL="0">
              <a:lnSpc>
                <a:spcPct val="110000"/>
              </a:lnSpc>
              <a:buNone/>
            </a:pPr>
            <a:r>
              <a:rPr lang="en-US" sz="1050" dirty="0">
                <a:solidFill>
                  <a:srgbClr val="667085"/>
                </a:solidFill>
              </a:rPr>
              <a:t>Recibe solo lo que calza con su oficio y comuna, oferta y sale en camino.</a:t>
            </a:r>
            <a:endParaRPr lang="en-US" sz="1050" dirty="0"/>
          </a:p>
        </p:txBody>
      </p:sp>
      <p:sp>
        <p:nvSpPr>
          <p:cNvPr id="42" name="Shape 38"/>
          <p:cNvSpPr/>
          <p:nvPr/>
        </p:nvSpPr>
        <p:spPr>
          <a:xfrm>
            <a:off x="548640" y="5852160"/>
            <a:ext cx="11064240" cy="411480"/>
          </a:xfrm>
          <a:prstGeom prst="roundRect">
            <a:avLst>
              <a:gd name="adj" fmla="val 17778"/>
            </a:avLst>
          </a:prstGeom>
          <a:solidFill>
            <a:srgbClr val="FFF4E0"/>
          </a:solidFill>
          <a:ln w="12700">
            <a:solidFill>
              <a:srgbClr val="FFF4E0"/>
            </a:solidFill>
            <a:prstDash val="solid"/>
          </a:ln>
        </p:spPr>
      </p:sp>
      <p:sp>
        <p:nvSpPr>
          <p:cNvPr id="43" name="Text 39"/>
          <p:cNvSpPr txBox="1"/>
          <p:nvPr/>
        </p:nvSpPr>
        <p:spPr>
          <a:xfrm>
            <a:off x="777240" y="5888736"/>
            <a:ext cx="10607040" cy="365760"/>
          </a:xfrm>
          <a:prstGeom prst="rect">
            <a:avLst/>
          </a:prstGeom>
          <a:noFill/>
          <a:ln/>
        </p:spPr>
        <p:txBody>
          <a:bodyPr wrap="square" lIns="0" tIns="0" rIns="0" bIns="0" rtlCol="0" anchor="ctr"/>
          <a:lstStyle/>
          <a:p>
            <a:pPr indent="0" marL="0">
              <a:buNone/>
            </a:pPr>
            <a:r>
              <a:rPr lang="en-US" sz="1150" dirty="0">
                <a:solidFill>
                  <a:srgbClr val="B7791F"/>
                </a:solidFill>
              </a:rPr>
              <a:t>Si la red de la sala no acompaña: no se depura en vivo. Se muestra el mismo recorrido en capturas y se continúa.</a:t>
            </a:r>
            <a:endParaRPr lang="en-US" sz="1150" dirty="0"/>
          </a:p>
        </p:txBody>
      </p:sp>
      <p:sp>
        <p:nvSpPr>
          <p:cNvPr id="44" name="Text 40"/>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45" name="Text 41"/>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Mauricio</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RESUMEN DE AVANCE</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Siete sprints cerrados y el flujo completo funcionando</a:t>
            </a:r>
            <a:endParaRPr lang="en-US" sz="3000" dirty="0"/>
          </a:p>
        </p:txBody>
      </p:sp>
      <p:sp>
        <p:nvSpPr>
          <p:cNvPr id="4" name="Text 2"/>
          <p:cNvSpPr txBox="1"/>
          <p:nvPr/>
        </p:nvSpPr>
        <p:spPr>
          <a:xfrm>
            <a:off x="548640" y="1371600"/>
            <a:ext cx="11064240" cy="685800"/>
          </a:xfrm>
          <a:prstGeom prst="rect">
            <a:avLst/>
          </a:prstGeom>
          <a:noFill/>
          <a:ln/>
        </p:spPr>
        <p:txBody>
          <a:bodyPr wrap="square" lIns="0" tIns="0" rIns="0" bIns="0" rtlCol="0" anchor="t"/>
          <a:lstStyle/>
          <a:p>
            <a:pPr indent="0" marL="0">
              <a:lnSpc>
                <a:spcPct val="110000"/>
              </a:lnSpc>
              <a:buNone/>
            </a:pPr>
            <a:r>
              <a:rPr lang="en-US" sz="1350" dirty="0">
                <a:solidFill>
                  <a:srgbClr val="202636"/>
                </a:solidFill>
              </a:rPr>
              <a:t>Desde el 3 de agosto trabajamos con Scrum. Al 15 de octubre cerramos siete sprints y el MVP recorre el flujo central de catorce pasos: el cliente publica una solicitud, recibe ofertas, aprueba el monto cotizado en terreno, paga en custodia y cierra el servicio con un código de tres dígitos.</a:t>
            </a:r>
            <a:endParaRPr lang="en-US" sz="1350" dirty="0"/>
          </a:p>
        </p:txBody>
      </p:sp>
      <p:sp>
        <p:nvSpPr>
          <p:cNvPr id="5" name="Shape 3"/>
          <p:cNvSpPr/>
          <p:nvPr/>
        </p:nvSpPr>
        <p:spPr>
          <a:xfrm>
            <a:off x="548640" y="2240280"/>
            <a:ext cx="2651760" cy="1325880"/>
          </a:xfrm>
          <a:prstGeom prst="roundRect">
            <a:avLst>
              <a:gd name="adj" fmla="val 6897"/>
            </a:avLst>
          </a:prstGeom>
          <a:solidFill>
            <a:srgbClr val="F0EEFF"/>
          </a:solidFill>
          <a:ln w="12700">
            <a:solidFill>
              <a:srgbClr val="F0EEFF"/>
            </a:solidFill>
            <a:prstDash val="solid"/>
          </a:ln>
        </p:spPr>
      </p:sp>
      <p:sp>
        <p:nvSpPr>
          <p:cNvPr id="6" name="Text 4"/>
          <p:cNvSpPr txBox="1"/>
          <p:nvPr/>
        </p:nvSpPr>
        <p:spPr>
          <a:xfrm>
            <a:off x="777240" y="2377440"/>
            <a:ext cx="2194560" cy="548640"/>
          </a:xfrm>
          <a:prstGeom prst="rect">
            <a:avLst/>
          </a:prstGeom>
          <a:noFill/>
          <a:ln/>
        </p:spPr>
        <p:txBody>
          <a:bodyPr wrap="square" lIns="0" tIns="0" rIns="0" bIns="0" rtlCol="0" anchor="t"/>
          <a:lstStyle/>
          <a:p>
            <a:pPr indent="0" marL="0">
              <a:buNone/>
            </a:pPr>
            <a:r>
              <a:rPr lang="en-US" sz="2600" b="1" dirty="0">
                <a:solidFill>
                  <a:srgbClr val="243B6B"/>
                </a:solidFill>
              </a:rPr>
              <a:t>7 de 9</a:t>
            </a:r>
            <a:endParaRPr lang="en-US" sz="2600" dirty="0"/>
          </a:p>
        </p:txBody>
      </p:sp>
      <p:sp>
        <p:nvSpPr>
          <p:cNvPr id="7" name="Text 5"/>
          <p:cNvSpPr txBox="1"/>
          <p:nvPr/>
        </p:nvSpPr>
        <p:spPr>
          <a:xfrm>
            <a:off x="777240" y="2953512"/>
            <a:ext cx="2194560" cy="548640"/>
          </a:xfrm>
          <a:prstGeom prst="rect">
            <a:avLst/>
          </a:prstGeom>
          <a:noFill/>
          <a:ln/>
        </p:spPr>
        <p:txBody>
          <a:bodyPr wrap="square" lIns="0" tIns="0" rIns="0" bIns="0" rtlCol="0" anchor="t"/>
          <a:lstStyle/>
          <a:p>
            <a:pPr indent="0" marL="0">
              <a:buNone/>
            </a:pPr>
            <a:r>
              <a:rPr lang="en-US" sz="1150" dirty="0">
                <a:solidFill>
                  <a:srgbClr val="667085"/>
                </a:solidFill>
              </a:rPr>
              <a:t>sprints cerrados; el Sprint 8 cierra el 30 de octubre</a:t>
            </a:r>
            <a:endParaRPr lang="en-US" sz="1150" dirty="0"/>
          </a:p>
        </p:txBody>
      </p:sp>
      <p:sp>
        <p:nvSpPr>
          <p:cNvPr id="8" name="Shape 6"/>
          <p:cNvSpPr/>
          <p:nvPr/>
        </p:nvSpPr>
        <p:spPr>
          <a:xfrm>
            <a:off x="3337560" y="2240280"/>
            <a:ext cx="2651760" cy="1325880"/>
          </a:xfrm>
          <a:prstGeom prst="roundRect">
            <a:avLst>
              <a:gd name="adj" fmla="val 6897"/>
            </a:avLst>
          </a:prstGeom>
          <a:solidFill>
            <a:srgbClr val="F0EEFF"/>
          </a:solidFill>
          <a:ln w="12700">
            <a:solidFill>
              <a:srgbClr val="F0EEFF"/>
            </a:solidFill>
            <a:prstDash val="solid"/>
          </a:ln>
        </p:spPr>
      </p:sp>
      <p:sp>
        <p:nvSpPr>
          <p:cNvPr id="9" name="Text 7"/>
          <p:cNvSpPr txBox="1"/>
          <p:nvPr/>
        </p:nvSpPr>
        <p:spPr>
          <a:xfrm>
            <a:off x="3566160" y="2377440"/>
            <a:ext cx="2194560" cy="548640"/>
          </a:xfrm>
          <a:prstGeom prst="rect">
            <a:avLst/>
          </a:prstGeom>
          <a:noFill/>
          <a:ln/>
        </p:spPr>
        <p:txBody>
          <a:bodyPr wrap="square" lIns="0" tIns="0" rIns="0" bIns="0" rtlCol="0" anchor="t"/>
          <a:lstStyle/>
          <a:p>
            <a:pPr indent="0" marL="0">
              <a:buNone/>
            </a:pPr>
            <a:r>
              <a:rPr lang="en-US" sz="2600" b="1" dirty="0">
                <a:solidFill>
                  <a:srgbClr val="243B6B"/>
                </a:solidFill>
              </a:rPr>
              <a:t>192</a:t>
            </a:r>
            <a:endParaRPr lang="en-US" sz="2600" dirty="0"/>
          </a:p>
        </p:txBody>
      </p:sp>
      <p:sp>
        <p:nvSpPr>
          <p:cNvPr id="10" name="Text 8"/>
          <p:cNvSpPr txBox="1"/>
          <p:nvPr/>
        </p:nvSpPr>
        <p:spPr>
          <a:xfrm>
            <a:off x="3566160" y="2953512"/>
            <a:ext cx="2194560" cy="548640"/>
          </a:xfrm>
          <a:prstGeom prst="rect">
            <a:avLst/>
          </a:prstGeom>
          <a:noFill/>
          <a:ln/>
        </p:spPr>
        <p:txBody>
          <a:bodyPr wrap="square" lIns="0" tIns="0" rIns="0" bIns="0" rtlCol="0" anchor="t"/>
          <a:lstStyle/>
          <a:p>
            <a:pPr indent="0" marL="0">
              <a:buNone/>
            </a:pPr>
            <a:r>
              <a:rPr lang="en-US" sz="1150" dirty="0">
                <a:solidFill>
                  <a:srgbClr val="667085"/>
                </a:solidFill>
              </a:rPr>
              <a:t>cambios revisados e integrados por otra persona</a:t>
            </a:r>
            <a:endParaRPr lang="en-US" sz="1150" dirty="0"/>
          </a:p>
        </p:txBody>
      </p:sp>
      <p:sp>
        <p:nvSpPr>
          <p:cNvPr id="11" name="Shape 9"/>
          <p:cNvSpPr/>
          <p:nvPr/>
        </p:nvSpPr>
        <p:spPr>
          <a:xfrm>
            <a:off x="6126480" y="2240280"/>
            <a:ext cx="2651760" cy="1325880"/>
          </a:xfrm>
          <a:prstGeom prst="roundRect">
            <a:avLst>
              <a:gd name="adj" fmla="val 6897"/>
            </a:avLst>
          </a:prstGeom>
          <a:solidFill>
            <a:srgbClr val="F0EEFF"/>
          </a:solidFill>
          <a:ln w="12700">
            <a:solidFill>
              <a:srgbClr val="F0EEFF"/>
            </a:solidFill>
            <a:prstDash val="solid"/>
          </a:ln>
        </p:spPr>
      </p:sp>
      <p:sp>
        <p:nvSpPr>
          <p:cNvPr id="12" name="Text 10"/>
          <p:cNvSpPr txBox="1"/>
          <p:nvPr/>
        </p:nvSpPr>
        <p:spPr>
          <a:xfrm>
            <a:off x="6355080" y="2377440"/>
            <a:ext cx="2194560" cy="548640"/>
          </a:xfrm>
          <a:prstGeom prst="rect">
            <a:avLst/>
          </a:prstGeom>
          <a:noFill/>
          <a:ln/>
        </p:spPr>
        <p:txBody>
          <a:bodyPr wrap="square" lIns="0" tIns="0" rIns="0" bIns="0" rtlCol="0" anchor="t"/>
          <a:lstStyle/>
          <a:p>
            <a:pPr indent="0" marL="0">
              <a:buNone/>
            </a:pPr>
            <a:r>
              <a:rPr lang="en-US" sz="2600" b="1" dirty="0">
                <a:solidFill>
                  <a:srgbClr val="243B6B"/>
                </a:solidFill>
              </a:rPr>
              <a:t>≈ 4.800</a:t>
            </a:r>
            <a:endParaRPr lang="en-US" sz="2600" dirty="0"/>
          </a:p>
        </p:txBody>
      </p:sp>
      <p:sp>
        <p:nvSpPr>
          <p:cNvPr id="13" name="Text 11"/>
          <p:cNvSpPr txBox="1"/>
          <p:nvPr/>
        </p:nvSpPr>
        <p:spPr>
          <a:xfrm>
            <a:off x="6355080" y="2953512"/>
            <a:ext cx="2194560" cy="548640"/>
          </a:xfrm>
          <a:prstGeom prst="rect">
            <a:avLst/>
          </a:prstGeom>
          <a:noFill/>
          <a:ln/>
        </p:spPr>
        <p:txBody>
          <a:bodyPr wrap="square" lIns="0" tIns="0" rIns="0" bIns="0" rtlCol="0" anchor="t"/>
          <a:lstStyle/>
          <a:p>
            <a:pPr indent="0" marL="0">
              <a:buNone/>
            </a:pPr>
            <a:r>
              <a:rPr lang="en-US" sz="1150" dirty="0">
                <a:solidFill>
                  <a:srgbClr val="667085"/>
                </a:solidFill>
              </a:rPr>
              <a:t>pruebas automáticas que corren con cada cambio</a:t>
            </a:r>
            <a:endParaRPr lang="en-US" sz="1150" dirty="0"/>
          </a:p>
        </p:txBody>
      </p:sp>
      <p:sp>
        <p:nvSpPr>
          <p:cNvPr id="14" name="Shape 12"/>
          <p:cNvSpPr/>
          <p:nvPr/>
        </p:nvSpPr>
        <p:spPr>
          <a:xfrm>
            <a:off x="8915400" y="2240280"/>
            <a:ext cx="2651760" cy="1325880"/>
          </a:xfrm>
          <a:prstGeom prst="roundRect">
            <a:avLst>
              <a:gd name="adj" fmla="val 6897"/>
            </a:avLst>
          </a:prstGeom>
          <a:solidFill>
            <a:srgbClr val="F0EEFF"/>
          </a:solidFill>
          <a:ln w="12700">
            <a:solidFill>
              <a:srgbClr val="F0EEFF"/>
            </a:solidFill>
            <a:prstDash val="solid"/>
          </a:ln>
        </p:spPr>
      </p:sp>
      <p:sp>
        <p:nvSpPr>
          <p:cNvPr id="15" name="Text 13"/>
          <p:cNvSpPr txBox="1"/>
          <p:nvPr/>
        </p:nvSpPr>
        <p:spPr>
          <a:xfrm>
            <a:off x="9144000" y="2377440"/>
            <a:ext cx="2194560" cy="548640"/>
          </a:xfrm>
          <a:prstGeom prst="rect">
            <a:avLst/>
          </a:prstGeom>
          <a:noFill/>
          <a:ln/>
        </p:spPr>
        <p:txBody>
          <a:bodyPr wrap="square" lIns="0" tIns="0" rIns="0" bIns="0" rtlCol="0" anchor="t"/>
          <a:lstStyle/>
          <a:p>
            <a:pPr indent="0" marL="0">
              <a:buNone/>
            </a:pPr>
            <a:r>
              <a:rPr lang="en-US" sz="2600" b="1" dirty="0">
                <a:solidFill>
                  <a:srgbClr val="243B6B"/>
                </a:solidFill>
              </a:rPr>
              <a:t>55 tablas</a:t>
            </a:r>
            <a:endParaRPr lang="en-US" sz="2600" dirty="0"/>
          </a:p>
        </p:txBody>
      </p:sp>
      <p:sp>
        <p:nvSpPr>
          <p:cNvPr id="16" name="Text 14"/>
          <p:cNvSpPr txBox="1"/>
          <p:nvPr/>
        </p:nvSpPr>
        <p:spPr>
          <a:xfrm>
            <a:off x="9144000" y="2953512"/>
            <a:ext cx="2194560" cy="548640"/>
          </a:xfrm>
          <a:prstGeom prst="rect">
            <a:avLst/>
          </a:prstGeom>
          <a:noFill/>
          <a:ln/>
        </p:spPr>
        <p:txBody>
          <a:bodyPr wrap="square" lIns="0" tIns="0" rIns="0" bIns="0" rtlCol="0" anchor="t"/>
          <a:lstStyle/>
          <a:p>
            <a:pPr indent="0" marL="0">
              <a:buNone/>
            </a:pPr>
            <a:r>
              <a:rPr lang="en-US" sz="1150" dirty="0">
                <a:solidFill>
                  <a:srgbClr val="667085"/>
                </a:solidFill>
              </a:rPr>
              <a:t>en seis dominios, con auditoría de solo escritura</a:t>
            </a:r>
            <a:endParaRPr lang="en-US" sz="1150" dirty="0"/>
          </a:p>
        </p:txBody>
      </p:sp>
      <p:sp>
        <p:nvSpPr>
          <p:cNvPr id="17" name="Shape 15"/>
          <p:cNvSpPr/>
          <p:nvPr/>
        </p:nvSpPr>
        <p:spPr>
          <a:xfrm>
            <a:off x="548640" y="3794760"/>
            <a:ext cx="3566160" cy="2331720"/>
          </a:xfrm>
          <a:prstGeom prst="roundRect">
            <a:avLst>
              <a:gd name="adj" fmla="val 4706"/>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8" name="Shape 16"/>
          <p:cNvSpPr/>
          <p:nvPr/>
        </p:nvSpPr>
        <p:spPr>
          <a:xfrm>
            <a:off x="822960" y="4023360"/>
            <a:ext cx="640080" cy="640080"/>
          </a:xfrm>
          <a:prstGeom prst="ellipse">
            <a:avLst/>
          </a:prstGeom>
          <a:solidFill>
            <a:srgbClr val="F0EEFF"/>
          </a:solidFill>
          <a:ln w="12700">
            <a:solidFill>
              <a:srgbClr val="F0EEFF"/>
            </a:solidFill>
            <a:prstDash val="solid"/>
          </a:ln>
        </p:spPr>
      </p:sp>
      <p:pic>
        <p:nvPicPr>
          <p:cNvPr id="19" name="Image 0" descr="/private/tmp/claude-501/-Users-mauriciops-Proyectos-relwo-capstone/1a8b5f2b-d3d9-4b63-bfed-da79668ca276/scratchpad/pptx-build/assets/image7.png">    </p:cNvPr>
          <p:cNvPicPr>
            <a:picLocks noChangeAspect="1"/>
          </p:cNvPicPr>
          <p:nvPr/>
        </p:nvPicPr>
        <p:blipFill>
          <a:blip r:embed="rId1"/>
          <a:stretch>
            <a:fillRect/>
          </a:stretch>
        </p:blipFill>
        <p:spPr>
          <a:xfrm>
            <a:off x="989381" y="4189781"/>
            <a:ext cx="307238" cy="307238"/>
          </a:xfrm>
          <a:prstGeom prst="rect">
            <a:avLst/>
          </a:prstGeom>
        </p:spPr>
      </p:pic>
      <p:sp>
        <p:nvSpPr>
          <p:cNvPr id="20" name="Text 17"/>
          <p:cNvSpPr txBox="1"/>
          <p:nvPr/>
        </p:nvSpPr>
        <p:spPr>
          <a:xfrm>
            <a:off x="1600200" y="4114800"/>
            <a:ext cx="2377440" cy="457200"/>
          </a:xfrm>
          <a:prstGeom prst="rect">
            <a:avLst/>
          </a:prstGeom>
          <a:noFill/>
          <a:ln/>
        </p:spPr>
        <p:txBody>
          <a:bodyPr wrap="square" lIns="0" tIns="0" rIns="0" bIns="0" rtlCol="0" anchor="t"/>
          <a:lstStyle/>
          <a:p>
            <a:pPr indent="0" marL="0">
              <a:buNone/>
            </a:pPr>
            <a:r>
              <a:rPr lang="en-US" sz="1600" b="1" dirty="0">
                <a:solidFill>
                  <a:srgbClr val="172442"/>
                </a:solidFill>
              </a:rPr>
              <a:t>Aplicación móvil</a:t>
            </a:r>
            <a:endParaRPr lang="en-US" sz="1600" dirty="0"/>
          </a:p>
        </p:txBody>
      </p:sp>
      <p:sp>
        <p:nvSpPr>
          <p:cNvPr id="21" name="Text 18"/>
          <p:cNvSpPr txBox="1"/>
          <p:nvPr/>
        </p:nvSpPr>
        <p:spPr>
          <a:xfrm>
            <a:off x="822960" y="4800600"/>
            <a:ext cx="3017520" cy="1280160"/>
          </a:xfrm>
          <a:prstGeom prst="rect">
            <a:avLst/>
          </a:prstGeom>
          <a:noFill/>
          <a:ln/>
        </p:spPr>
        <p:txBody>
          <a:bodyPr wrap="square" lIns="0" tIns="0" rIns="0" bIns="0" rtlCol="0" anchor="t"/>
          <a:lstStyle/>
          <a:p>
            <a:pPr indent="0" marL="0">
              <a:lnSpc>
                <a:spcPct val="110000"/>
              </a:lnSpc>
              <a:buNone/>
            </a:pPr>
            <a:r>
              <a:rPr lang="en-US" sz="1150" dirty="0">
                <a:solidFill>
                  <a:srgbClr val="667085"/>
                </a:solidFill>
              </a:rPr>
              <a:t>Cliente y maestro: solicitud, ofertas en vivo, pago, maestro en camino con mapa, cierre con código, evaluación y reclamos. Instalada en teléfonos de prueba.</a:t>
            </a:r>
            <a:endParaRPr lang="en-US" sz="1150" dirty="0"/>
          </a:p>
        </p:txBody>
      </p:sp>
      <p:sp>
        <p:nvSpPr>
          <p:cNvPr id="22" name="Shape 19"/>
          <p:cNvSpPr/>
          <p:nvPr/>
        </p:nvSpPr>
        <p:spPr>
          <a:xfrm>
            <a:off x="4297680" y="3794760"/>
            <a:ext cx="3566160" cy="2331720"/>
          </a:xfrm>
          <a:prstGeom prst="roundRect">
            <a:avLst>
              <a:gd name="adj" fmla="val 4706"/>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3" name="Shape 20"/>
          <p:cNvSpPr/>
          <p:nvPr/>
        </p:nvSpPr>
        <p:spPr>
          <a:xfrm>
            <a:off x="4572000" y="4023360"/>
            <a:ext cx="640080" cy="640080"/>
          </a:xfrm>
          <a:prstGeom prst="ellipse">
            <a:avLst/>
          </a:prstGeom>
          <a:solidFill>
            <a:srgbClr val="F0EEFF"/>
          </a:solidFill>
          <a:ln w="12700">
            <a:solidFill>
              <a:srgbClr val="F0EEFF"/>
            </a:solidFill>
            <a:prstDash val="solid"/>
          </a:ln>
        </p:spPr>
      </p:sp>
      <p:pic>
        <p:nvPicPr>
          <p:cNvPr id="24" name="Image 1" descr="/private/tmp/claude-501/-Users-mauriciops-Proyectos-relwo-capstone/1a8b5f2b-d3d9-4b63-bfed-da79668ca276/scratchpad/pptx-build/assets/image9.png">    </p:cNvPr>
          <p:cNvPicPr>
            <a:picLocks noChangeAspect="1"/>
          </p:cNvPicPr>
          <p:nvPr/>
        </p:nvPicPr>
        <p:blipFill>
          <a:blip r:embed="rId2"/>
          <a:stretch>
            <a:fillRect/>
          </a:stretch>
        </p:blipFill>
        <p:spPr>
          <a:xfrm>
            <a:off x="4738421" y="4189781"/>
            <a:ext cx="307238" cy="307238"/>
          </a:xfrm>
          <a:prstGeom prst="rect">
            <a:avLst/>
          </a:prstGeom>
        </p:spPr>
      </p:pic>
      <p:sp>
        <p:nvSpPr>
          <p:cNvPr id="25" name="Text 21"/>
          <p:cNvSpPr txBox="1"/>
          <p:nvPr/>
        </p:nvSpPr>
        <p:spPr>
          <a:xfrm>
            <a:off x="5349240" y="4114800"/>
            <a:ext cx="2377440" cy="457200"/>
          </a:xfrm>
          <a:prstGeom prst="rect">
            <a:avLst/>
          </a:prstGeom>
          <a:noFill/>
          <a:ln/>
        </p:spPr>
        <p:txBody>
          <a:bodyPr wrap="square" lIns="0" tIns="0" rIns="0" bIns="0" rtlCol="0" anchor="t"/>
          <a:lstStyle/>
          <a:p>
            <a:pPr indent="0" marL="0">
              <a:buNone/>
            </a:pPr>
            <a:r>
              <a:rPr lang="en-US" sz="1600" b="1" dirty="0">
                <a:solidFill>
                  <a:srgbClr val="172442"/>
                </a:solidFill>
              </a:rPr>
              <a:t>Torre de control</a:t>
            </a:r>
            <a:endParaRPr lang="en-US" sz="1600" dirty="0"/>
          </a:p>
        </p:txBody>
      </p:sp>
      <p:sp>
        <p:nvSpPr>
          <p:cNvPr id="26" name="Text 22"/>
          <p:cNvSpPr txBox="1"/>
          <p:nvPr/>
        </p:nvSpPr>
        <p:spPr>
          <a:xfrm>
            <a:off x="4572000" y="4800600"/>
            <a:ext cx="3017520" cy="1280160"/>
          </a:xfrm>
          <a:prstGeom prst="rect">
            <a:avLst/>
          </a:prstGeom>
          <a:noFill/>
          <a:ln/>
        </p:spPr>
        <p:txBody>
          <a:bodyPr wrap="square" lIns="0" tIns="0" rIns="0" bIns="0" rtlCol="0" anchor="t"/>
          <a:lstStyle/>
          <a:p>
            <a:pPr indent="0" marL="0">
              <a:lnSpc>
                <a:spcPct val="110000"/>
              </a:lnSpc>
              <a:buNone/>
            </a:pPr>
            <a:r>
              <a:rPr lang="en-US" sz="1150" dirty="0">
                <a:solidFill>
                  <a:srgbClr val="667085"/>
                </a:solidFill>
              </a:rPr>
              <a:t>Registros, verificación de identidad por capas, disputas, auditoría, parámetros de operación y tablero de métricas. Publicada en la web.</a:t>
            </a:r>
            <a:endParaRPr lang="en-US" sz="1150" dirty="0"/>
          </a:p>
        </p:txBody>
      </p:sp>
      <p:sp>
        <p:nvSpPr>
          <p:cNvPr id="27" name="Shape 23"/>
          <p:cNvSpPr/>
          <p:nvPr/>
        </p:nvSpPr>
        <p:spPr>
          <a:xfrm>
            <a:off x="8046720" y="3794760"/>
            <a:ext cx="3566160" cy="2331720"/>
          </a:xfrm>
          <a:prstGeom prst="roundRect">
            <a:avLst>
              <a:gd name="adj" fmla="val 4706"/>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8" name="Shape 24"/>
          <p:cNvSpPr/>
          <p:nvPr/>
        </p:nvSpPr>
        <p:spPr>
          <a:xfrm>
            <a:off x="8321040" y="4023360"/>
            <a:ext cx="640080" cy="640080"/>
          </a:xfrm>
          <a:prstGeom prst="ellipse">
            <a:avLst/>
          </a:prstGeom>
          <a:solidFill>
            <a:srgbClr val="F0EEFF"/>
          </a:solidFill>
          <a:ln w="12700">
            <a:solidFill>
              <a:srgbClr val="F0EEFF"/>
            </a:solidFill>
            <a:prstDash val="solid"/>
          </a:ln>
        </p:spPr>
      </p:sp>
      <p:pic>
        <p:nvPicPr>
          <p:cNvPr id="29" name="Image 2" descr="/private/tmp/claude-501/-Users-mauriciops-Proyectos-relwo-capstone/1a8b5f2b-d3d9-4b63-bfed-da79668ca276/scratchpad/pptx-build/assets/image14.png">    </p:cNvPr>
          <p:cNvPicPr>
            <a:picLocks noChangeAspect="1"/>
          </p:cNvPicPr>
          <p:nvPr/>
        </p:nvPicPr>
        <p:blipFill>
          <a:blip r:embed="rId3"/>
          <a:stretch>
            <a:fillRect/>
          </a:stretch>
        </p:blipFill>
        <p:spPr>
          <a:xfrm>
            <a:off x="8487461" y="4189781"/>
            <a:ext cx="307238" cy="307238"/>
          </a:xfrm>
          <a:prstGeom prst="rect">
            <a:avLst/>
          </a:prstGeom>
        </p:spPr>
      </p:pic>
      <p:sp>
        <p:nvSpPr>
          <p:cNvPr id="30" name="Text 25"/>
          <p:cNvSpPr txBox="1"/>
          <p:nvPr/>
        </p:nvSpPr>
        <p:spPr>
          <a:xfrm>
            <a:off x="9098280" y="4114800"/>
            <a:ext cx="2377440" cy="457200"/>
          </a:xfrm>
          <a:prstGeom prst="rect">
            <a:avLst/>
          </a:prstGeom>
          <a:noFill/>
          <a:ln/>
        </p:spPr>
        <p:txBody>
          <a:bodyPr wrap="square" lIns="0" tIns="0" rIns="0" bIns="0" rtlCol="0" anchor="t"/>
          <a:lstStyle/>
          <a:p>
            <a:pPr indent="0" marL="0">
              <a:buNone/>
            </a:pPr>
            <a:r>
              <a:rPr lang="en-US" sz="1600" b="1" dirty="0">
                <a:solidFill>
                  <a:srgbClr val="172442"/>
                </a:solidFill>
              </a:rPr>
              <a:t>Servidor en la nube</a:t>
            </a:r>
            <a:endParaRPr lang="en-US" sz="1600" dirty="0"/>
          </a:p>
        </p:txBody>
      </p:sp>
      <p:sp>
        <p:nvSpPr>
          <p:cNvPr id="31" name="Text 26"/>
          <p:cNvSpPr txBox="1"/>
          <p:nvPr/>
        </p:nvSpPr>
        <p:spPr>
          <a:xfrm>
            <a:off x="8321040" y="4800600"/>
            <a:ext cx="3017520" cy="1280160"/>
          </a:xfrm>
          <a:prstGeom prst="rect">
            <a:avLst/>
          </a:prstGeom>
          <a:noFill/>
          <a:ln/>
        </p:spPr>
        <p:txBody>
          <a:bodyPr wrap="square" lIns="0" tIns="0" rIns="0" bIns="0" rtlCol="0" anchor="t"/>
          <a:lstStyle/>
          <a:p>
            <a:pPr indent="0" marL="0">
              <a:lnSpc>
                <a:spcPct val="110000"/>
              </a:lnSpc>
              <a:buNone/>
            </a:pPr>
            <a:r>
              <a:rPr lang="en-US" sz="1150" dirty="0">
                <a:solidFill>
                  <a:srgbClr val="667085"/>
                </a:solidFill>
              </a:rPr>
              <a:t>Calcula todos los montos, administra los ocho estados del servicio y publica el contrato que usan la app y el panel. Entorno de prueba desde la semana 6.</a:t>
            </a:r>
            <a:endParaRPr lang="en-US" sz="1150" dirty="0"/>
          </a:p>
        </p:txBody>
      </p:sp>
      <p:sp>
        <p:nvSpPr>
          <p:cNvPr id="32" name="Text 27"/>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33" name="Text 28"/>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Nayareth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OBJETIVOS ESPECÍFICOS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Tres objetivos cumplidos y cuatro en curso</a:t>
            </a:r>
            <a:endParaRPr lang="en-US" sz="3000" dirty="0"/>
          </a:p>
        </p:txBody>
      </p:sp>
      <p:sp>
        <p:nvSpPr>
          <p:cNvPr id="4" name="Shape 2"/>
          <p:cNvSpPr/>
          <p:nvPr/>
        </p:nvSpPr>
        <p:spPr>
          <a:xfrm>
            <a:off x="548640" y="1463040"/>
            <a:ext cx="5394960" cy="1051560"/>
          </a:xfrm>
          <a:prstGeom prst="roundRect">
            <a:avLst>
              <a:gd name="adj" fmla="val 10435"/>
            </a:avLst>
          </a:prstGeom>
          <a:solidFill>
            <a:srgbClr val="FFFFFF"/>
          </a:solidFill>
          <a:ln w="9525">
            <a:solidFill>
              <a:srgbClr val="DDE1EB"/>
            </a:solidFill>
            <a:prstDash val="solid"/>
          </a:ln>
        </p:spPr>
      </p:sp>
      <p:sp>
        <p:nvSpPr>
          <p:cNvPr id="5" name="Shape 3"/>
          <p:cNvSpPr/>
          <p:nvPr/>
        </p:nvSpPr>
        <p:spPr>
          <a:xfrm>
            <a:off x="777240" y="1737360"/>
            <a:ext cx="502920" cy="502920"/>
          </a:xfrm>
          <a:prstGeom prst="ellipse">
            <a:avLst/>
          </a:prstGeom>
          <a:solidFill>
            <a:srgbClr val="16856B"/>
          </a:solidFill>
          <a:ln w="12700">
            <a:solidFill>
              <a:srgbClr val="16856B"/>
            </a:solidFill>
            <a:prstDash val="solid"/>
          </a:ln>
        </p:spPr>
      </p:sp>
      <p:sp>
        <p:nvSpPr>
          <p:cNvPr id="6" name="Text 4"/>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463040" y="1536192"/>
            <a:ext cx="3291840" cy="502920"/>
          </a:xfrm>
          <a:prstGeom prst="rect">
            <a:avLst/>
          </a:prstGeom>
          <a:noFill/>
          <a:ln/>
        </p:spPr>
        <p:txBody>
          <a:bodyPr wrap="square" lIns="0" tIns="0" rIns="0" bIns="0" rtlCol="0" anchor="t"/>
          <a:lstStyle/>
          <a:p>
            <a:pPr indent="0" marL="0">
              <a:buNone/>
            </a:pPr>
            <a:r>
              <a:rPr lang="en-US" sz="1300" b="1" dirty="0">
                <a:solidFill>
                  <a:srgbClr val="172442"/>
                </a:solidFill>
              </a:rPr>
              <a:t>Levantar y documentar los requerimientos del MVP</a:t>
            </a:r>
            <a:endParaRPr lang="en-US" sz="1300" dirty="0"/>
          </a:p>
        </p:txBody>
      </p:sp>
      <p:sp>
        <p:nvSpPr>
          <p:cNvPr id="8" name="Text 6"/>
          <p:cNvSpPr txBox="1"/>
          <p:nvPr/>
        </p:nvSpPr>
        <p:spPr>
          <a:xfrm>
            <a:off x="1463040" y="2029968"/>
            <a:ext cx="3291840" cy="457200"/>
          </a:xfrm>
          <a:prstGeom prst="rect">
            <a:avLst/>
          </a:prstGeom>
          <a:noFill/>
          <a:ln/>
        </p:spPr>
        <p:txBody>
          <a:bodyPr wrap="square" lIns="0" tIns="0" rIns="0" bIns="0" rtlCol="0" anchor="t"/>
          <a:lstStyle/>
          <a:p>
            <a:pPr indent="0" marL="0">
              <a:lnSpc>
                <a:spcPct val="105000"/>
              </a:lnSpc>
              <a:buNone/>
            </a:pPr>
            <a:r>
              <a:rPr lang="en-US" sz="1050" dirty="0">
                <a:solidFill>
                  <a:srgbClr val="667085"/>
                </a:solidFill>
              </a:rPr>
              <a:t>Especificación de requerimientos, registro de cambios de alcance y Product Backlog</a:t>
            </a:r>
            <a:endParaRPr lang="en-US" sz="1050" dirty="0"/>
          </a:p>
        </p:txBody>
      </p:sp>
      <p:sp>
        <p:nvSpPr>
          <p:cNvPr id="9" name="Shape 7"/>
          <p:cNvSpPr/>
          <p:nvPr/>
        </p:nvSpPr>
        <p:spPr>
          <a:xfrm>
            <a:off x="4846320" y="1828800"/>
            <a:ext cx="914400" cy="292608"/>
          </a:xfrm>
          <a:prstGeom prst="roundRect">
            <a:avLst>
              <a:gd name="adj" fmla="val 53125"/>
            </a:avLst>
          </a:prstGeom>
          <a:solidFill>
            <a:srgbClr val="E6F4F0"/>
          </a:solidFill>
          <a:ln w="12700">
            <a:solidFill>
              <a:srgbClr val="E6F4F0"/>
            </a:solidFill>
            <a:prstDash val="solid"/>
          </a:ln>
        </p:spPr>
      </p:sp>
      <p:sp>
        <p:nvSpPr>
          <p:cNvPr id="10" name="Text 8"/>
          <p:cNvSpPr txBox="1"/>
          <p:nvPr/>
        </p:nvSpPr>
        <p:spPr>
          <a:xfrm>
            <a:off x="4846320" y="1828800"/>
            <a:ext cx="914400" cy="292608"/>
          </a:xfrm>
          <a:prstGeom prst="rect">
            <a:avLst/>
          </a:prstGeom>
          <a:noFill/>
          <a:ln/>
        </p:spPr>
        <p:txBody>
          <a:bodyPr wrap="square" lIns="0" tIns="0" rIns="0" bIns="0" rtlCol="0" anchor="ctr"/>
          <a:lstStyle/>
          <a:p>
            <a:pPr algn="ctr" indent="0" marL="0">
              <a:buNone/>
            </a:pPr>
            <a:r>
              <a:rPr lang="en-US" sz="1000" b="1" dirty="0">
                <a:solidFill>
                  <a:srgbClr val="16856B"/>
                </a:solidFill>
              </a:rPr>
              <a:t>Completado</a:t>
            </a:r>
            <a:endParaRPr lang="en-US" sz="1000" dirty="0"/>
          </a:p>
        </p:txBody>
      </p:sp>
      <p:sp>
        <p:nvSpPr>
          <p:cNvPr id="11" name="Shape 9"/>
          <p:cNvSpPr/>
          <p:nvPr/>
        </p:nvSpPr>
        <p:spPr>
          <a:xfrm>
            <a:off x="548640" y="2651760"/>
            <a:ext cx="5394960" cy="1051560"/>
          </a:xfrm>
          <a:prstGeom prst="roundRect">
            <a:avLst>
              <a:gd name="adj" fmla="val 10435"/>
            </a:avLst>
          </a:prstGeom>
          <a:solidFill>
            <a:srgbClr val="FFFFFF"/>
          </a:solidFill>
          <a:ln w="9525">
            <a:solidFill>
              <a:srgbClr val="DDE1EB"/>
            </a:solidFill>
            <a:prstDash val="solid"/>
          </a:ln>
        </p:spPr>
      </p:sp>
      <p:sp>
        <p:nvSpPr>
          <p:cNvPr id="12" name="Shape 10"/>
          <p:cNvSpPr/>
          <p:nvPr/>
        </p:nvSpPr>
        <p:spPr>
          <a:xfrm>
            <a:off x="777240" y="2926080"/>
            <a:ext cx="502920" cy="502920"/>
          </a:xfrm>
          <a:prstGeom prst="ellipse">
            <a:avLst/>
          </a:prstGeom>
          <a:solidFill>
            <a:srgbClr val="16856B"/>
          </a:solidFill>
          <a:ln w="12700">
            <a:solidFill>
              <a:srgbClr val="16856B"/>
            </a:solidFill>
            <a:prstDash val="solid"/>
          </a:ln>
        </p:spPr>
      </p:sp>
      <p:sp>
        <p:nvSpPr>
          <p:cNvPr id="13" name="Text 11"/>
          <p:cNvSpPr txBox="1"/>
          <p:nvPr/>
        </p:nvSpPr>
        <p:spPr>
          <a:xfrm>
            <a:off x="777240" y="29260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4" name="Text 12"/>
          <p:cNvSpPr txBox="1"/>
          <p:nvPr/>
        </p:nvSpPr>
        <p:spPr>
          <a:xfrm>
            <a:off x="1463040" y="2724912"/>
            <a:ext cx="3291840" cy="502920"/>
          </a:xfrm>
          <a:prstGeom prst="rect">
            <a:avLst/>
          </a:prstGeom>
          <a:noFill/>
          <a:ln/>
        </p:spPr>
        <p:txBody>
          <a:bodyPr wrap="square" lIns="0" tIns="0" rIns="0" bIns="0" rtlCol="0" anchor="t"/>
          <a:lstStyle/>
          <a:p>
            <a:pPr indent="0" marL="0">
              <a:buNone/>
            </a:pPr>
            <a:r>
              <a:rPr lang="en-US" sz="1300" b="1" dirty="0">
                <a:solidFill>
                  <a:srgbClr val="172442"/>
                </a:solidFill>
              </a:rPr>
              <a:t>Diseñar la arquitectura y el modelo de datos</a:t>
            </a:r>
            <a:endParaRPr lang="en-US" sz="1300" dirty="0"/>
          </a:p>
        </p:txBody>
      </p:sp>
      <p:sp>
        <p:nvSpPr>
          <p:cNvPr id="15" name="Text 13"/>
          <p:cNvSpPr txBox="1"/>
          <p:nvPr/>
        </p:nvSpPr>
        <p:spPr>
          <a:xfrm>
            <a:off x="1463040" y="3218688"/>
            <a:ext cx="3291840" cy="457200"/>
          </a:xfrm>
          <a:prstGeom prst="rect">
            <a:avLst/>
          </a:prstGeom>
          <a:noFill/>
          <a:ln/>
        </p:spPr>
        <p:txBody>
          <a:bodyPr wrap="square" lIns="0" tIns="0" rIns="0" bIns="0" rtlCol="0" anchor="t"/>
          <a:lstStyle/>
          <a:p>
            <a:pPr indent="0" marL="0">
              <a:lnSpc>
                <a:spcPct val="105000"/>
              </a:lnSpc>
              <a:buNone/>
            </a:pPr>
            <a:r>
              <a:rPr lang="en-US" sz="1050" dirty="0">
                <a:solidFill>
                  <a:srgbClr val="667085"/>
                </a:solidFill>
              </a:rPr>
              <a:t>Documento de arquitectura y base de 55 tablas con la máquina de estados del servicio</a:t>
            </a:r>
            <a:endParaRPr lang="en-US" sz="1050" dirty="0"/>
          </a:p>
        </p:txBody>
      </p:sp>
      <p:sp>
        <p:nvSpPr>
          <p:cNvPr id="16" name="Shape 14"/>
          <p:cNvSpPr/>
          <p:nvPr/>
        </p:nvSpPr>
        <p:spPr>
          <a:xfrm>
            <a:off x="4846320" y="3017520"/>
            <a:ext cx="914400" cy="292608"/>
          </a:xfrm>
          <a:prstGeom prst="roundRect">
            <a:avLst>
              <a:gd name="adj" fmla="val 53125"/>
            </a:avLst>
          </a:prstGeom>
          <a:solidFill>
            <a:srgbClr val="E6F4F0"/>
          </a:solidFill>
          <a:ln w="12700">
            <a:solidFill>
              <a:srgbClr val="E6F4F0"/>
            </a:solidFill>
            <a:prstDash val="solid"/>
          </a:ln>
        </p:spPr>
      </p:sp>
      <p:sp>
        <p:nvSpPr>
          <p:cNvPr id="17" name="Text 15"/>
          <p:cNvSpPr txBox="1"/>
          <p:nvPr/>
        </p:nvSpPr>
        <p:spPr>
          <a:xfrm>
            <a:off x="4846320" y="3017520"/>
            <a:ext cx="914400" cy="292608"/>
          </a:xfrm>
          <a:prstGeom prst="rect">
            <a:avLst/>
          </a:prstGeom>
          <a:noFill/>
          <a:ln/>
        </p:spPr>
        <p:txBody>
          <a:bodyPr wrap="square" lIns="0" tIns="0" rIns="0" bIns="0" rtlCol="0" anchor="ctr"/>
          <a:lstStyle/>
          <a:p>
            <a:pPr algn="ctr" indent="0" marL="0">
              <a:buNone/>
            </a:pPr>
            <a:r>
              <a:rPr lang="en-US" sz="1000" b="1" dirty="0">
                <a:solidFill>
                  <a:srgbClr val="16856B"/>
                </a:solidFill>
              </a:rPr>
              <a:t>Completado</a:t>
            </a:r>
            <a:endParaRPr lang="en-US" sz="1000" dirty="0"/>
          </a:p>
        </p:txBody>
      </p:sp>
      <p:sp>
        <p:nvSpPr>
          <p:cNvPr id="18" name="Shape 16"/>
          <p:cNvSpPr/>
          <p:nvPr/>
        </p:nvSpPr>
        <p:spPr>
          <a:xfrm>
            <a:off x="548640" y="3840480"/>
            <a:ext cx="5394960" cy="1051560"/>
          </a:xfrm>
          <a:prstGeom prst="roundRect">
            <a:avLst>
              <a:gd name="adj" fmla="val 10435"/>
            </a:avLst>
          </a:prstGeom>
          <a:solidFill>
            <a:srgbClr val="FFFFFF"/>
          </a:solidFill>
          <a:ln w="9525">
            <a:solidFill>
              <a:srgbClr val="DDE1EB"/>
            </a:solidFill>
            <a:prstDash val="solid"/>
          </a:ln>
        </p:spPr>
      </p:sp>
      <p:sp>
        <p:nvSpPr>
          <p:cNvPr id="19" name="Shape 17"/>
          <p:cNvSpPr/>
          <p:nvPr/>
        </p:nvSpPr>
        <p:spPr>
          <a:xfrm>
            <a:off x="777240" y="4114800"/>
            <a:ext cx="502920" cy="502920"/>
          </a:xfrm>
          <a:prstGeom prst="ellipse">
            <a:avLst/>
          </a:prstGeom>
          <a:solidFill>
            <a:srgbClr val="16856B"/>
          </a:solidFill>
          <a:ln w="12700">
            <a:solidFill>
              <a:srgbClr val="16856B"/>
            </a:solidFill>
            <a:prstDash val="solid"/>
          </a:ln>
        </p:spPr>
      </p:sp>
      <p:sp>
        <p:nvSpPr>
          <p:cNvPr id="20" name="Text 18"/>
          <p:cNvSpPr txBox="1"/>
          <p:nvPr/>
        </p:nvSpPr>
        <p:spPr>
          <a:xfrm>
            <a:off x="777240" y="4114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1" name="Text 19"/>
          <p:cNvSpPr txBox="1"/>
          <p:nvPr/>
        </p:nvSpPr>
        <p:spPr>
          <a:xfrm>
            <a:off x="1463040" y="3913632"/>
            <a:ext cx="3291840" cy="502920"/>
          </a:xfrm>
          <a:prstGeom prst="rect">
            <a:avLst/>
          </a:prstGeom>
          <a:noFill/>
          <a:ln/>
        </p:spPr>
        <p:txBody>
          <a:bodyPr wrap="square" lIns="0" tIns="0" rIns="0" bIns="0" rtlCol="0" anchor="t"/>
          <a:lstStyle/>
          <a:p>
            <a:pPr indent="0" marL="0">
              <a:buNone/>
            </a:pPr>
            <a:r>
              <a:rPr lang="en-US" sz="1300" b="1" dirty="0">
                <a:solidFill>
                  <a:srgbClr val="172442"/>
                </a:solidFill>
              </a:rPr>
              <a:t>Construir el servidor y su API</a:t>
            </a:r>
            <a:endParaRPr lang="en-US" sz="1300" dirty="0"/>
          </a:p>
        </p:txBody>
      </p:sp>
      <p:sp>
        <p:nvSpPr>
          <p:cNvPr id="22" name="Text 20"/>
          <p:cNvSpPr txBox="1"/>
          <p:nvPr/>
        </p:nvSpPr>
        <p:spPr>
          <a:xfrm>
            <a:off x="1463040" y="4407408"/>
            <a:ext cx="3291840" cy="457200"/>
          </a:xfrm>
          <a:prstGeom prst="rect">
            <a:avLst/>
          </a:prstGeom>
          <a:noFill/>
          <a:ln/>
        </p:spPr>
        <p:txBody>
          <a:bodyPr wrap="square" lIns="0" tIns="0" rIns="0" bIns="0" rtlCol="0" anchor="t"/>
          <a:lstStyle/>
          <a:p>
            <a:pPr indent="0" marL="0">
              <a:lnSpc>
                <a:spcPct val="105000"/>
              </a:lnSpc>
              <a:buNone/>
            </a:pPr>
            <a:r>
              <a:rPr lang="en-US" sz="1050" dirty="0">
                <a:solidFill>
                  <a:srgbClr val="667085"/>
                </a:solidFill>
              </a:rPr>
              <a:t>Contrato compartido con la app y el panel; todos los montos se calculan en el servidor</a:t>
            </a:r>
            <a:endParaRPr lang="en-US" sz="1050" dirty="0"/>
          </a:p>
        </p:txBody>
      </p:sp>
      <p:sp>
        <p:nvSpPr>
          <p:cNvPr id="23" name="Shape 21"/>
          <p:cNvSpPr/>
          <p:nvPr/>
        </p:nvSpPr>
        <p:spPr>
          <a:xfrm>
            <a:off x="4846320" y="4206240"/>
            <a:ext cx="914400" cy="292608"/>
          </a:xfrm>
          <a:prstGeom prst="roundRect">
            <a:avLst>
              <a:gd name="adj" fmla="val 53125"/>
            </a:avLst>
          </a:prstGeom>
          <a:solidFill>
            <a:srgbClr val="E6F4F0"/>
          </a:solidFill>
          <a:ln w="12700">
            <a:solidFill>
              <a:srgbClr val="E6F4F0"/>
            </a:solidFill>
            <a:prstDash val="solid"/>
          </a:ln>
        </p:spPr>
      </p:sp>
      <p:sp>
        <p:nvSpPr>
          <p:cNvPr id="24" name="Text 22"/>
          <p:cNvSpPr txBox="1"/>
          <p:nvPr/>
        </p:nvSpPr>
        <p:spPr>
          <a:xfrm>
            <a:off x="4846320" y="4206240"/>
            <a:ext cx="914400" cy="292608"/>
          </a:xfrm>
          <a:prstGeom prst="rect">
            <a:avLst/>
          </a:prstGeom>
          <a:noFill/>
          <a:ln/>
        </p:spPr>
        <p:txBody>
          <a:bodyPr wrap="square" lIns="0" tIns="0" rIns="0" bIns="0" rtlCol="0" anchor="ctr"/>
          <a:lstStyle/>
          <a:p>
            <a:pPr algn="ctr" indent="0" marL="0">
              <a:buNone/>
            </a:pPr>
            <a:r>
              <a:rPr lang="en-US" sz="1000" b="1" dirty="0">
                <a:solidFill>
                  <a:srgbClr val="16856B"/>
                </a:solidFill>
              </a:rPr>
              <a:t>Completado</a:t>
            </a:r>
            <a:endParaRPr lang="en-US" sz="1000" dirty="0"/>
          </a:p>
        </p:txBody>
      </p:sp>
      <p:sp>
        <p:nvSpPr>
          <p:cNvPr id="25" name="Shape 23"/>
          <p:cNvSpPr/>
          <p:nvPr/>
        </p:nvSpPr>
        <p:spPr>
          <a:xfrm>
            <a:off x="548640" y="5029200"/>
            <a:ext cx="5394960" cy="1051560"/>
          </a:xfrm>
          <a:prstGeom prst="roundRect">
            <a:avLst>
              <a:gd name="adj" fmla="val 10435"/>
            </a:avLst>
          </a:prstGeom>
          <a:solidFill>
            <a:srgbClr val="FFFFFF"/>
          </a:solidFill>
          <a:ln w="9525">
            <a:solidFill>
              <a:srgbClr val="DDE1EB"/>
            </a:solidFill>
            <a:prstDash val="solid"/>
          </a:ln>
        </p:spPr>
      </p:sp>
      <p:sp>
        <p:nvSpPr>
          <p:cNvPr id="26" name="Shape 24"/>
          <p:cNvSpPr/>
          <p:nvPr/>
        </p:nvSpPr>
        <p:spPr>
          <a:xfrm>
            <a:off x="777240" y="5303520"/>
            <a:ext cx="502920" cy="502920"/>
          </a:xfrm>
          <a:prstGeom prst="ellipse">
            <a:avLst/>
          </a:prstGeom>
          <a:solidFill>
            <a:srgbClr val="7C6EE6"/>
          </a:solidFill>
          <a:ln w="12700">
            <a:solidFill>
              <a:srgbClr val="7C6EE6"/>
            </a:solidFill>
            <a:prstDash val="solid"/>
          </a:ln>
        </p:spPr>
      </p:sp>
      <p:sp>
        <p:nvSpPr>
          <p:cNvPr id="27" name="Text 25"/>
          <p:cNvSpPr txBox="1"/>
          <p:nvPr/>
        </p:nvSpPr>
        <p:spPr>
          <a:xfrm>
            <a:off x="777240" y="53035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8" name="Text 26"/>
          <p:cNvSpPr txBox="1"/>
          <p:nvPr/>
        </p:nvSpPr>
        <p:spPr>
          <a:xfrm>
            <a:off x="1463040" y="5102352"/>
            <a:ext cx="3291840" cy="502920"/>
          </a:xfrm>
          <a:prstGeom prst="rect">
            <a:avLst/>
          </a:prstGeom>
          <a:noFill/>
          <a:ln/>
        </p:spPr>
        <p:txBody>
          <a:bodyPr wrap="square" lIns="0" tIns="0" rIns="0" bIns="0" rtlCol="0" anchor="t"/>
          <a:lstStyle/>
          <a:p>
            <a:pPr indent="0" marL="0">
              <a:buNone/>
            </a:pPr>
            <a:r>
              <a:rPr lang="en-US" sz="1300" b="1" dirty="0">
                <a:solidFill>
                  <a:srgbClr val="172442"/>
                </a:solidFill>
              </a:rPr>
              <a:t>Desarrollar la app y el panel de administración</a:t>
            </a:r>
            <a:endParaRPr lang="en-US" sz="1300" dirty="0"/>
          </a:p>
        </p:txBody>
      </p:sp>
      <p:sp>
        <p:nvSpPr>
          <p:cNvPr id="29" name="Text 27"/>
          <p:cNvSpPr txBox="1"/>
          <p:nvPr/>
        </p:nvSpPr>
        <p:spPr>
          <a:xfrm>
            <a:off x="1463040" y="5596128"/>
            <a:ext cx="3291840" cy="457200"/>
          </a:xfrm>
          <a:prstGeom prst="rect">
            <a:avLst/>
          </a:prstGeom>
          <a:noFill/>
          <a:ln/>
        </p:spPr>
        <p:txBody>
          <a:bodyPr wrap="square" lIns="0" tIns="0" rIns="0" bIns="0" rtlCol="0" anchor="t"/>
          <a:lstStyle/>
          <a:p>
            <a:pPr indent="0" marL="0">
              <a:lnSpc>
                <a:spcPct val="105000"/>
              </a:lnSpc>
              <a:buNone/>
            </a:pPr>
            <a:r>
              <a:rPr lang="en-US" sz="1050" dirty="0">
                <a:solidFill>
                  <a:srgbClr val="667085"/>
                </a:solidFill>
              </a:rPr>
              <a:t>App para cliente y maestro y torre de control funcionando; faltan ajustes de pantalla en teléfono</a:t>
            </a:r>
            <a:endParaRPr lang="en-US" sz="1050" dirty="0"/>
          </a:p>
        </p:txBody>
      </p:sp>
      <p:sp>
        <p:nvSpPr>
          <p:cNvPr id="30" name="Shape 28"/>
          <p:cNvSpPr/>
          <p:nvPr/>
        </p:nvSpPr>
        <p:spPr>
          <a:xfrm>
            <a:off x="4846320" y="5394960"/>
            <a:ext cx="914400" cy="292608"/>
          </a:xfrm>
          <a:prstGeom prst="roundRect">
            <a:avLst>
              <a:gd name="adj" fmla="val 53125"/>
            </a:avLst>
          </a:prstGeom>
          <a:solidFill>
            <a:srgbClr val="F0EEFF"/>
          </a:solidFill>
          <a:ln w="12700">
            <a:solidFill>
              <a:srgbClr val="F0EEFF"/>
            </a:solidFill>
            <a:prstDash val="solid"/>
          </a:ln>
        </p:spPr>
      </p:sp>
      <p:sp>
        <p:nvSpPr>
          <p:cNvPr id="31" name="Text 29"/>
          <p:cNvSpPr txBox="1"/>
          <p:nvPr/>
        </p:nvSpPr>
        <p:spPr>
          <a:xfrm>
            <a:off x="4846320" y="5394960"/>
            <a:ext cx="914400" cy="292608"/>
          </a:xfrm>
          <a:prstGeom prst="rect">
            <a:avLst/>
          </a:prstGeom>
          <a:noFill/>
          <a:ln/>
        </p:spPr>
        <p:txBody>
          <a:bodyPr wrap="square" lIns="0" tIns="0" rIns="0" bIns="0" rtlCol="0" anchor="ctr"/>
          <a:lstStyle/>
          <a:p>
            <a:pPr algn="ctr" indent="0" marL="0">
              <a:buNone/>
            </a:pPr>
            <a:r>
              <a:rPr lang="en-US" sz="1000" b="1" dirty="0">
                <a:solidFill>
                  <a:srgbClr val="243B6B"/>
                </a:solidFill>
              </a:rPr>
              <a:t>En curso</a:t>
            </a:r>
            <a:endParaRPr lang="en-US" sz="1000" dirty="0"/>
          </a:p>
        </p:txBody>
      </p:sp>
      <p:sp>
        <p:nvSpPr>
          <p:cNvPr id="32" name="Shape 30"/>
          <p:cNvSpPr/>
          <p:nvPr/>
        </p:nvSpPr>
        <p:spPr>
          <a:xfrm>
            <a:off x="6217920" y="1463040"/>
            <a:ext cx="5394960" cy="1051560"/>
          </a:xfrm>
          <a:prstGeom prst="roundRect">
            <a:avLst>
              <a:gd name="adj" fmla="val 10435"/>
            </a:avLst>
          </a:prstGeom>
          <a:solidFill>
            <a:srgbClr val="FFFFFF"/>
          </a:solidFill>
          <a:ln w="9525">
            <a:solidFill>
              <a:srgbClr val="DDE1EB"/>
            </a:solidFill>
            <a:prstDash val="solid"/>
          </a:ln>
        </p:spPr>
      </p:sp>
      <p:sp>
        <p:nvSpPr>
          <p:cNvPr id="33" name="Shape 31"/>
          <p:cNvSpPr/>
          <p:nvPr/>
        </p:nvSpPr>
        <p:spPr>
          <a:xfrm>
            <a:off x="6446520" y="1737360"/>
            <a:ext cx="502920" cy="502920"/>
          </a:xfrm>
          <a:prstGeom prst="ellipse">
            <a:avLst/>
          </a:prstGeom>
          <a:solidFill>
            <a:srgbClr val="7C6EE6"/>
          </a:solidFill>
          <a:ln w="12700">
            <a:solidFill>
              <a:srgbClr val="7C6EE6"/>
            </a:solidFill>
            <a:prstDash val="solid"/>
          </a:ln>
        </p:spPr>
      </p:sp>
      <p:sp>
        <p:nvSpPr>
          <p:cNvPr id="34" name="Text 32"/>
          <p:cNvSpPr txBox="1"/>
          <p:nvPr/>
        </p:nvSpPr>
        <p:spPr>
          <a:xfrm>
            <a:off x="644652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35" name="Text 33"/>
          <p:cNvSpPr txBox="1"/>
          <p:nvPr/>
        </p:nvSpPr>
        <p:spPr>
          <a:xfrm>
            <a:off x="7132320" y="1536192"/>
            <a:ext cx="3291840" cy="502920"/>
          </a:xfrm>
          <a:prstGeom prst="rect">
            <a:avLst/>
          </a:prstGeom>
          <a:noFill/>
          <a:ln/>
        </p:spPr>
        <p:txBody>
          <a:bodyPr wrap="square" lIns="0" tIns="0" rIns="0" bIns="0" rtlCol="0" anchor="t"/>
          <a:lstStyle/>
          <a:p>
            <a:pPr indent="0" marL="0">
              <a:buNone/>
            </a:pPr>
            <a:r>
              <a:rPr lang="en-US" sz="1300" b="1" dirty="0">
                <a:solidFill>
                  <a:srgbClr val="172442"/>
                </a:solidFill>
              </a:rPr>
              <a:t>Integrar el pago con retención en custodia</a:t>
            </a:r>
            <a:endParaRPr lang="en-US" sz="1300" dirty="0"/>
          </a:p>
        </p:txBody>
      </p:sp>
      <p:sp>
        <p:nvSpPr>
          <p:cNvPr id="36" name="Text 34"/>
          <p:cNvSpPr txBox="1"/>
          <p:nvPr/>
        </p:nvSpPr>
        <p:spPr>
          <a:xfrm>
            <a:off x="7132320" y="2029968"/>
            <a:ext cx="3291840" cy="457200"/>
          </a:xfrm>
          <a:prstGeom prst="rect">
            <a:avLst/>
          </a:prstGeom>
          <a:noFill/>
          <a:ln/>
        </p:spPr>
        <p:txBody>
          <a:bodyPr wrap="square" lIns="0" tIns="0" rIns="0" bIns="0" rtlCol="0" anchor="t"/>
          <a:lstStyle/>
          <a:p>
            <a:pPr indent="0" marL="0">
              <a:lnSpc>
                <a:spcPct val="105000"/>
              </a:lnSpc>
              <a:buNone/>
            </a:pPr>
            <a:r>
              <a:rPr lang="en-US" sz="1050" dirty="0">
                <a:solidFill>
                  <a:srgbClr val="667085"/>
                </a:solidFill>
              </a:rPr>
              <a:t>Funciona con un simulador intercambiable; la pasarela real espera una definición comercial</a:t>
            </a:r>
            <a:endParaRPr lang="en-US" sz="1050" dirty="0"/>
          </a:p>
        </p:txBody>
      </p:sp>
      <p:sp>
        <p:nvSpPr>
          <p:cNvPr id="37" name="Shape 35"/>
          <p:cNvSpPr/>
          <p:nvPr/>
        </p:nvSpPr>
        <p:spPr>
          <a:xfrm>
            <a:off x="10515600" y="1828800"/>
            <a:ext cx="914400" cy="292608"/>
          </a:xfrm>
          <a:prstGeom prst="roundRect">
            <a:avLst>
              <a:gd name="adj" fmla="val 53125"/>
            </a:avLst>
          </a:prstGeom>
          <a:solidFill>
            <a:srgbClr val="F0EEFF"/>
          </a:solidFill>
          <a:ln w="12700">
            <a:solidFill>
              <a:srgbClr val="F0EEFF"/>
            </a:solidFill>
            <a:prstDash val="solid"/>
          </a:ln>
        </p:spPr>
      </p:sp>
      <p:sp>
        <p:nvSpPr>
          <p:cNvPr id="38" name="Text 36"/>
          <p:cNvSpPr txBox="1"/>
          <p:nvPr/>
        </p:nvSpPr>
        <p:spPr>
          <a:xfrm>
            <a:off x="10515600" y="1828800"/>
            <a:ext cx="914400" cy="292608"/>
          </a:xfrm>
          <a:prstGeom prst="rect">
            <a:avLst/>
          </a:prstGeom>
          <a:noFill/>
          <a:ln/>
        </p:spPr>
        <p:txBody>
          <a:bodyPr wrap="square" lIns="0" tIns="0" rIns="0" bIns="0" rtlCol="0" anchor="ctr"/>
          <a:lstStyle/>
          <a:p>
            <a:pPr algn="ctr" indent="0" marL="0">
              <a:buNone/>
            </a:pPr>
            <a:r>
              <a:rPr lang="en-US" sz="1000" b="1" dirty="0">
                <a:solidFill>
                  <a:srgbClr val="243B6B"/>
                </a:solidFill>
              </a:rPr>
              <a:t>En curso</a:t>
            </a:r>
            <a:endParaRPr lang="en-US" sz="1000" dirty="0"/>
          </a:p>
        </p:txBody>
      </p:sp>
      <p:sp>
        <p:nvSpPr>
          <p:cNvPr id="39" name="Shape 37"/>
          <p:cNvSpPr/>
          <p:nvPr/>
        </p:nvSpPr>
        <p:spPr>
          <a:xfrm>
            <a:off x="6217920" y="2651760"/>
            <a:ext cx="5394960" cy="1051560"/>
          </a:xfrm>
          <a:prstGeom prst="roundRect">
            <a:avLst>
              <a:gd name="adj" fmla="val 10435"/>
            </a:avLst>
          </a:prstGeom>
          <a:solidFill>
            <a:srgbClr val="FFFFFF"/>
          </a:solidFill>
          <a:ln w="9525">
            <a:solidFill>
              <a:srgbClr val="DDE1EB"/>
            </a:solidFill>
            <a:prstDash val="solid"/>
          </a:ln>
        </p:spPr>
      </p:sp>
      <p:sp>
        <p:nvSpPr>
          <p:cNvPr id="40" name="Shape 38"/>
          <p:cNvSpPr/>
          <p:nvPr/>
        </p:nvSpPr>
        <p:spPr>
          <a:xfrm>
            <a:off x="6446520" y="2926080"/>
            <a:ext cx="502920" cy="502920"/>
          </a:xfrm>
          <a:prstGeom prst="ellipse">
            <a:avLst/>
          </a:prstGeom>
          <a:solidFill>
            <a:srgbClr val="7C6EE6"/>
          </a:solidFill>
          <a:ln w="12700">
            <a:solidFill>
              <a:srgbClr val="7C6EE6"/>
            </a:solidFill>
            <a:prstDash val="solid"/>
          </a:ln>
        </p:spPr>
      </p:sp>
      <p:sp>
        <p:nvSpPr>
          <p:cNvPr id="41" name="Text 39"/>
          <p:cNvSpPr txBox="1"/>
          <p:nvPr/>
        </p:nvSpPr>
        <p:spPr>
          <a:xfrm>
            <a:off x="6446520" y="29260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42" name="Text 40"/>
          <p:cNvSpPr txBox="1"/>
          <p:nvPr/>
        </p:nvSpPr>
        <p:spPr>
          <a:xfrm>
            <a:off x="7132320" y="2724912"/>
            <a:ext cx="3291840" cy="502920"/>
          </a:xfrm>
          <a:prstGeom prst="rect">
            <a:avLst/>
          </a:prstGeom>
          <a:noFill/>
          <a:ln/>
        </p:spPr>
        <p:txBody>
          <a:bodyPr wrap="square" lIns="0" tIns="0" rIns="0" bIns="0" rtlCol="0" anchor="t"/>
          <a:lstStyle/>
          <a:p>
            <a:pPr indent="0" marL="0">
              <a:buNone/>
            </a:pPr>
            <a:r>
              <a:rPr lang="en-US" sz="1300" b="1" dirty="0">
                <a:solidFill>
                  <a:srgbClr val="172442"/>
                </a:solidFill>
              </a:rPr>
              <a:t>Diseñar y ejecutar el plan de pruebas</a:t>
            </a:r>
            <a:endParaRPr lang="en-US" sz="1300" dirty="0"/>
          </a:p>
        </p:txBody>
      </p:sp>
      <p:sp>
        <p:nvSpPr>
          <p:cNvPr id="43" name="Text 41"/>
          <p:cNvSpPr txBox="1"/>
          <p:nvPr/>
        </p:nvSpPr>
        <p:spPr>
          <a:xfrm>
            <a:off x="7132320" y="3218688"/>
            <a:ext cx="3291840" cy="457200"/>
          </a:xfrm>
          <a:prstGeom prst="rect">
            <a:avLst/>
          </a:prstGeom>
          <a:noFill/>
          <a:ln/>
        </p:spPr>
        <p:txBody>
          <a:bodyPr wrap="square" lIns="0" tIns="0" rIns="0" bIns="0" rtlCol="0" anchor="t"/>
          <a:lstStyle/>
          <a:p>
            <a:pPr indent="0" marL="0">
              <a:lnSpc>
                <a:spcPct val="105000"/>
              </a:lnSpc>
              <a:buNone/>
            </a:pPr>
            <a:r>
              <a:rPr lang="en-US" sz="1050" dirty="0">
                <a:solidFill>
                  <a:srgbClr val="667085"/>
                </a:solidFill>
              </a:rPr>
              <a:t>Pruebas automáticas en cada cambio más recorridos en emulador y teléfono físico</a:t>
            </a:r>
            <a:endParaRPr lang="en-US" sz="1050" dirty="0"/>
          </a:p>
        </p:txBody>
      </p:sp>
      <p:sp>
        <p:nvSpPr>
          <p:cNvPr id="44" name="Shape 42"/>
          <p:cNvSpPr/>
          <p:nvPr/>
        </p:nvSpPr>
        <p:spPr>
          <a:xfrm>
            <a:off x="10515600" y="3017520"/>
            <a:ext cx="914400" cy="292608"/>
          </a:xfrm>
          <a:prstGeom prst="roundRect">
            <a:avLst>
              <a:gd name="adj" fmla="val 53125"/>
            </a:avLst>
          </a:prstGeom>
          <a:solidFill>
            <a:srgbClr val="F0EEFF"/>
          </a:solidFill>
          <a:ln w="12700">
            <a:solidFill>
              <a:srgbClr val="F0EEFF"/>
            </a:solidFill>
            <a:prstDash val="solid"/>
          </a:ln>
        </p:spPr>
      </p:sp>
      <p:sp>
        <p:nvSpPr>
          <p:cNvPr id="45" name="Text 43"/>
          <p:cNvSpPr txBox="1"/>
          <p:nvPr/>
        </p:nvSpPr>
        <p:spPr>
          <a:xfrm>
            <a:off x="10515600" y="3017520"/>
            <a:ext cx="914400" cy="292608"/>
          </a:xfrm>
          <a:prstGeom prst="rect">
            <a:avLst/>
          </a:prstGeom>
          <a:noFill/>
          <a:ln/>
        </p:spPr>
        <p:txBody>
          <a:bodyPr wrap="square" lIns="0" tIns="0" rIns="0" bIns="0" rtlCol="0" anchor="ctr"/>
          <a:lstStyle/>
          <a:p>
            <a:pPr algn="ctr" indent="0" marL="0">
              <a:buNone/>
            </a:pPr>
            <a:r>
              <a:rPr lang="en-US" sz="1000" b="1" dirty="0">
                <a:solidFill>
                  <a:srgbClr val="243B6B"/>
                </a:solidFill>
              </a:rPr>
              <a:t>En curso</a:t>
            </a:r>
            <a:endParaRPr lang="en-US" sz="1000" dirty="0"/>
          </a:p>
        </p:txBody>
      </p:sp>
      <p:sp>
        <p:nvSpPr>
          <p:cNvPr id="46" name="Shape 44"/>
          <p:cNvSpPr/>
          <p:nvPr/>
        </p:nvSpPr>
        <p:spPr>
          <a:xfrm>
            <a:off x="6217920" y="3840480"/>
            <a:ext cx="5394960" cy="1051560"/>
          </a:xfrm>
          <a:prstGeom prst="roundRect">
            <a:avLst>
              <a:gd name="adj" fmla="val 10435"/>
            </a:avLst>
          </a:prstGeom>
          <a:solidFill>
            <a:srgbClr val="FFFFFF"/>
          </a:solidFill>
          <a:ln w="9525">
            <a:solidFill>
              <a:srgbClr val="DDE1EB"/>
            </a:solidFill>
            <a:prstDash val="solid"/>
          </a:ln>
        </p:spPr>
      </p:sp>
      <p:sp>
        <p:nvSpPr>
          <p:cNvPr id="47" name="Shape 45"/>
          <p:cNvSpPr/>
          <p:nvPr/>
        </p:nvSpPr>
        <p:spPr>
          <a:xfrm>
            <a:off x="6446520" y="4114800"/>
            <a:ext cx="502920" cy="502920"/>
          </a:xfrm>
          <a:prstGeom prst="ellipse">
            <a:avLst/>
          </a:prstGeom>
          <a:solidFill>
            <a:srgbClr val="7C6EE6"/>
          </a:solidFill>
          <a:ln w="12700">
            <a:solidFill>
              <a:srgbClr val="7C6EE6"/>
            </a:solidFill>
            <a:prstDash val="solid"/>
          </a:ln>
        </p:spPr>
      </p:sp>
      <p:sp>
        <p:nvSpPr>
          <p:cNvPr id="48" name="Text 46"/>
          <p:cNvSpPr txBox="1"/>
          <p:nvPr/>
        </p:nvSpPr>
        <p:spPr>
          <a:xfrm>
            <a:off x="6446520" y="4114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49" name="Text 47"/>
          <p:cNvSpPr txBox="1"/>
          <p:nvPr/>
        </p:nvSpPr>
        <p:spPr>
          <a:xfrm>
            <a:off x="7132320" y="3913632"/>
            <a:ext cx="3291840" cy="502920"/>
          </a:xfrm>
          <a:prstGeom prst="rect">
            <a:avLst/>
          </a:prstGeom>
          <a:noFill/>
          <a:ln/>
        </p:spPr>
        <p:txBody>
          <a:bodyPr wrap="square" lIns="0" tIns="0" rIns="0" bIns="0" rtlCol="0" anchor="t"/>
          <a:lstStyle/>
          <a:p>
            <a:pPr indent="0" marL="0">
              <a:buNone/>
            </a:pPr>
            <a:r>
              <a:rPr lang="en-US" sz="1300" b="1" dirty="0">
                <a:solidFill>
                  <a:srgbClr val="172442"/>
                </a:solidFill>
              </a:rPr>
              <a:t>Desplegar en un entorno de prueba y documentar</a:t>
            </a:r>
            <a:endParaRPr lang="en-US" sz="1300" dirty="0"/>
          </a:p>
        </p:txBody>
      </p:sp>
      <p:sp>
        <p:nvSpPr>
          <p:cNvPr id="50" name="Text 48"/>
          <p:cNvSpPr txBox="1"/>
          <p:nvPr/>
        </p:nvSpPr>
        <p:spPr>
          <a:xfrm>
            <a:off x="7132320" y="4407408"/>
            <a:ext cx="3291840" cy="457200"/>
          </a:xfrm>
          <a:prstGeom prst="rect">
            <a:avLst/>
          </a:prstGeom>
          <a:noFill/>
          <a:ln/>
        </p:spPr>
        <p:txBody>
          <a:bodyPr wrap="square" lIns="0" tIns="0" rIns="0" bIns="0" rtlCol="0" anchor="t"/>
          <a:lstStyle/>
          <a:p>
            <a:pPr indent="0" marL="0">
              <a:lnSpc>
                <a:spcPct val="105000"/>
              </a:lnSpc>
              <a:buNone/>
            </a:pPr>
            <a:r>
              <a:rPr lang="en-US" sz="1050" dirty="0">
                <a:solidFill>
                  <a:srgbClr val="667085"/>
                </a:solidFill>
              </a:rPr>
              <a:t>Entorno en la nube desde el 6 de septiembre; documentación versionada junto al código</a:t>
            </a:r>
            <a:endParaRPr lang="en-US" sz="1050" dirty="0"/>
          </a:p>
        </p:txBody>
      </p:sp>
      <p:sp>
        <p:nvSpPr>
          <p:cNvPr id="51" name="Shape 49"/>
          <p:cNvSpPr/>
          <p:nvPr/>
        </p:nvSpPr>
        <p:spPr>
          <a:xfrm>
            <a:off x="10515600" y="4206240"/>
            <a:ext cx="914400" cy="292608"/>
          </a:xfrm>
          <a:prstGeom prst="roundRect">
            <a:avLst>
              <a:gd name="adj" fmla="val 53125"/>
            </a:avLst>
          </a:prstGeom>
          <a:solidFill>
            <a:srgbClr val="F0EEFF"/>
          </a:solidFill>
          <a:ln w="12700">
            <a:solidFill>
              <a:srgbClr val="F0EEFF"/>
            </a:solidFill>
            <a:prstDash val="solid"/>
          </a:ln>
        </p:spPr>
      </p:sp>
      <p:sp>
        <p:nvSpPr>
          <p:cNvPr id="52" name="Text 50"/>
          <p:cNvSpPr txBox="1"/>
          <p:nvPr/>
        </p:nvSpPr>
        <p:spPr>
          <a:xfrm>
            <a:off x="10515600" y="4206240"/>
            <a:ext cx="914400" cy="292608"/>
          </a:xfrm>
          <a:prstGeom prst="rect">
            <a:avLst/>
          </a:prstGeom>
          <a:noFill/>
          <a:ln/>
        </p:spPr>
        <p:txBody>
          <a:bodyPr wrap="square" lIns="0" tIns="0" rIns="0" bIns="0" rtlCol="0" anchor="ctr"/>
          <a:lstStyle/>
          <a:p>
            <a:pPr algn="ctr" indent="0" marL="0">
              <a:buNone/>
            </a:pPr>
            <a:r>
              <a:rPr lang="en-US" sz="1000" b="1" dirty="0">
                <a:solidFill>
                  <a:srgbClr val="243B6B"/>
                </a:solidFill>
              </a:rPr>
              <a:t>En curso</a:t>
            </a:r>
            <a:endParaRPr lang="en-US" sz="1000" dirty="0"/>
          </a:p>
        </p:txBody>
      </p:sp>
      <p:sp>
        <p:nvSpPr>
          <p:cNvPr id="53" name="Text 51"/>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54" name="Text 52"/>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Nayareth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METODOLOGÍA</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Scrum aplicado: lo que planificamos y cómo lo ajustamos</a:t>
            </a:r>
            <a:endParaRPr lang="en-US" sz="3000" dirty="0"/>
          </a:p>
        </p:txBody>
      </p:sp>
      <p:sp>
        <p:nvSpPr>
          <p:cNvPr id="4" name="Shape 2"/>
          <p:cNvSpPr/>
          <p:nvPr/>
        </p:nvSpPr>
        <p:spPr>
          <a:xfrm>
            <a:off x="548640" y="1463040"/>
            <a:ext cx="2651760" cy="1874520"/>
          </a:xfrm>
          <a:prstGeom prst="roundRect">
            <a:avLst>
              <a:gd name="adj" fmla="val 5854"/>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5" name="Shape 3"/>
          <p:cNvSpPr/>
          <p:nvPr/>
        </p:nvSpPr>
        <p:spPr>
          <a:xfrm>
            <a:off x="777240" y="1645920"/>
            <a:ext cx="548640" cy="548640"/>
          </a:xfrm>
          <a:prstGeom prst="ellipse">
            <a:avLst/>
          </a:prstGeom>
          <a:solidFill>
            <a:srgbClr val="F0EEFF"/>
          </a:solidFill>
          <a:ln w="12700">
            <a:solidFill>
              <a:srgbClr val="F0EEFF"/>
            </a:solidFill>
            <a:prstDash val="solid"/>
          </a:ln>
        </p:spPr>
      </p:sp>
      <p:pic>
        <p:nvPicPr>
          <p:cNvPr id="6" name="Image 0" descr="/private/tmp/claude-501/-Users-mauriciops-Proyectos-relwo-capstone/1a8b5f2b-d3d9-4b63-bfed-da79668ca276/scratchpad/pptx-build/assets/image28.png">    </p:cNvPr>
          <p:cNvPicPr>
            <a:picLocks noChangeAspect="1"/>
          </p:cNvPicPr>
          <p:nvPr/>
        </p:nvPicPr>
        <p:blipFill>
          <a:blip r:embed="rId1"/>
          <a:stretch>
            <a:fillRect/>
          </a:stretch>
        </p:blipFill>
        <p:spPr>
          <a:xfrm>
            <a:off x="919886" y="1788566"/>
            <a:ext cx="263347" cy="263347"/>
          </a:xfrm>
          <a:prstGeom prst="rect">
            <a:avLst/>
          </a:prstGeom>
        </p:spPr>
      </p:pic>
      <p:sp>
        <p:nvSpPr>
          <p:cNvPr id="7" name="Text 4"/>
          <p:cNvSpPr txBox="1"/>
          <p:nvPr/>
        </p:nvSpPr>
        <p:spPr>
          <a:xfrm>
            <a:off x="1417320" y="1737360"/>
            <a:ext cx="1737360" cy="411480"/>
          </a:xfrm>
          <a:prstGeom prst="rect">
            <a:avLst/>
          </a:prstGeom>
          <a:noFill/>
          <a:ln/>
        </p:spPr>
        <p:txBody>
          <a:bodyPr wrap="square" lIns="0" tIns="0" rIns="0" bIns="0" rtlCol="0" anchor="t"/>
          <a:lstStyle/>
          <a:p>
            <a:pPr indent="0" marL="0">
              <a:buNone/>
            </a:pPr>
            <a:r>
              <a:rPr lang="en-US" sz="1400" b="1" dirty="0">
                <a:solidFill>
                  <a:srgbClr val="172442"/>
                </a:solidFill>
              </a:rPr>
              <a:t>Planificación</a:t>
            </a:r>
            <a:endParaRPr lang="en-US" sz="1400" dirty="0"/>
          </a:p>
        </p:txBody>
      </p:sp>
      <p:sp>
        <p:nvSpPr>
          <p:cNvPr id="8" name="Text 5"/>
          <p:cNvSpPr txBox="1"/>
          <p:nvPr/>
        </p:nvSpPr>
        <p:spPr>
          <a:xfrm>
            <a:off x="777240" y="2286000"/>
            <a:ext cx="2240280" cy="100584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Sprint Backlog con el compromiso por persona, los puntos, la reserva y lo que queda fuera, por escrito.</a:t>
            </a:r>
            <a:endParaRPr lang="en-US" sz="1100" dirty="0"/>
          </a:p>
        </p:txBody>
      </p:sp>
      <p:sp>
        <p:nvSpPr>
          <p:cNvPr id="9" name="Shape 6"/>
          <p:cNvSpPr/>
          <p:nvPr/>
        </p:nvSpPr>
        <p:spPr>
          <a:xfrm>
            <a:off x="3337560" y="1463040"/>
            <a:ext cx="2651760" cy="1874520"/>
          </a:xfrm>
          <a:prstGeom prst="roundRect">
            <a:avLst>
              <a:gd name="adj" fmla="val 5854"/>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0" name="Shape 7"/>
          <p:cNvSpPr/>
          <p:nvPr/>
        </p:nvSpPr>
        <p:spPr>
          <a:xfrm>
            <a:off x="3566160" y="1645920"/>
            <a:ext cx="548640" cy="548640"/>
          </a:xfrm>
          <a:prstGeom prst="ellipse">
            <a:avLst/>
          </a:prstGeom>
          <a:solidFill>
            <a:srgbClr val="F0EEFF"/>
          </a:solidFill>
          <a:ln w="12700">
            <a:solidFill>
              <a:srgbClr val="F0EEFF"/>
            </a:solidFill>
            <a:prstDash val="solid"/>
          </a:ln>
        </p:spPr>
      </p:sp>
      <p:pic>
        <p:nvPicPr>
          <p:cNvPr id="11" name="Image 1" descr="/private/tmp/claude-501/-Users-mauriciops-Proyectos-relwo-capstone/1a8b5f2b-d3d9-4b63-bfed-da79668ca276/scratchpad/pptx-build/assets/image27.png">    </p:cNvPr>
          <p:cNvPicPr>
            <a:picLocks noChangeAspect="1"/>
          </p:cNvPicPr>
          <p:nvPr/>
        </p:nvPicPr>
        <p:blipFill>
          <a:blip r:embed="rId2"/>
          <a:stretch>
            <a:fillRect/>
          </a:stretch>
        </p:blipFill>
        <p:spPr>
          <a:xfrm>
            <a:off x="3708806" y="1788566"/>
            <a:ext cx="263347" cy="263347"/>
          </a:xfrm>
          <a:prstGeom prst="rect">
            <a:avLst/>
          </a:prstGeom>
        </p:spPr>
      </p:pic>
      <p:sp>
        <p:nvSpPr>
          <p:cNvPr id="12" name="Text 8"/>
          <p:cNvSpPr txBox="1"/>
          <p:nvPr/>
        </p:nvSpPr>
        <p:spPr>
          <a:xfrm>
            <a:off x="4206240" y="1737360"/>
            <a:ext cx="1737360" cy="411480"/>
          </a:xfrm>
          <a:prstGeom prst="rect">
            <a:avLst/>
          </a:prstGeom>
          <a:noFill/>
          <a:ln/>
        </p:spPr>
        <p:txBody>
          <a:bodyPr wrap="square" lIns="0" tIns="0" rIns="0" bIns="0" rtlCol="0" anchor="t"/>
          <a:lstStyle/>
          <a:p>
            <a:pPr indent="0" marL="0">
              <a:buNone/>
            </a:pPr>
            <a:r>
              <a:rPr lang="en-US" sz="1400" b="1" dirty="0">
                <a:solidFill>
                  <a:srgbClr val="172442"/>
                </a:solidFill>
              </a:rPr>
              <a:t>Seguimiento diario</a:t>
            </a:r>
            <a:endParaRPr lang="en-US" sz="1400" dirty="0"/>
          </a:p>
        </p:txBody>
      </p:sp>
      <p:sp>
        <p:nvSpPr>
          <p:cNvPr id="13" name="Text 9"/>
          <p:cNvSpPr txBox="1"/>
          <p:nvPr/>
        </p:nvSpPr>
        <p:spPr>
          <a:xfrm>
            <a:off x="3566160" y="2286000"/>
            <a:ext cx="2240280" cy="100584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Registro en el tablero del sprint: lo terminado, lo que sigue y lo que traba.</a:t>
            </a:r>
            <a:endParaRPr lang="en-US" sz="1100" dirty="0"/>
          </a:p>
        </p:txBody>
      </p:sp>
      <p:sp>
        <p:nvSpPr>
          <p:cNvPr id="14" name="Shape 10"/>
          <p:cNvSpPr/>
          <p:nvPr/>
        </p:nvSpPr>
        <p:spPr>
          <a:xfrm>
            <a:off x="6126480" y="1463040"/>
            <a:ext cx="2651760" cy="1874520"/>
          </a:xfrm>
          <a:prstGeom prst="roundRect">
            <a:avLst>
              <a:gd name="adj" fmla="val 5854"/>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5" name="Shape 11"/>
          <p:cNvSpPr/>
          <p:nvPr/>
        </p:nvSpPr>
        <p:spPr>
          <a:xfrm>
            <a:off x="6355080" y="1645920"/>
            <a:ext cx="548640" cy="548640"/>
          </a:xfrm>
          <a:prstGeom prst="ellipse">
            <a:avLst/>
          </a:prstGeom>
          <a:solidFill>
            <a:srgbClr val="F0EEFF"/>
          </a:solidFill>
          <a:ln w="12700">
            <a:solidFill>
              <a:srgbClr val="F0EEFF"/>
            </a:solidFill>
            <a:prstDash val="solid"/>
          </a:ln>
        </p:spPr>
      </p:sp>
      <p:pic>
        <p:nvPicPr>
          <p:cNvPr id="16" name="Image 2" descr="/private/tmp/claude-501/-Users-mauriciops-Proyectos-relwo-capstone/1a8b5f2b-d3d9-4b63-bfed-da79668ca276/scratchpad/pptx-build/assets/image29.png">    </p:cNvPr>
          <p:cNvPicPr>
            <a:picLocks noChangeAspect="1"/>
          </p:cNvPicPr>
          <p:nvPr/>
        </p:nvPicPr>
        <p:blipFill>
          <a:blip r:embed="rId3"/>
          <a:stretch>
            <a:fillRect/>
          </a:stretch>
        </p:blipFill>
        <p:spPr>
          <a:xfrm>
            <a:off x="6497726" y="1788566"/>
            <a:ext cx="263347" cy="263347"/>
          </a:xfrm>
          <a:prstGeom prst="rect">
            <a:avLst/>
          </a:prstGeom>
        </p:spPr>
      </p:pic>
      <p:sp>
        <p:nvSpPr>
          <p:cNvPr id="17" name="Text 12"/>
          <p:cNvSpPr txBox="1"/>
          <p:nvPr/>
        </p:nvSpPr>
        <p:spPr>
          <a:xfrm>
            <a:off x="6995160" y="1737360"/>
            <a:ext cx="1737360" cy="411480"/>
          </a:xfrm>
          <a:prstGeom prst="rect">
            <a:avLst/>
          </a:prstGeom>
          <a:noFill/>
          <a:ln/>
        </p:spPr>
        <p:txBody>
          <a:bodyPr wrap="square" lIns="0" tIns="0" rIns="0" bIns="0" rtlCol="0" anchor="t"/>
          <a:lstStyle/>
          <a:p>
            <a:pPr indent="0" marL="0">
              <a:buNone/>
            </a:pPr>
            <a:r>
              <a:rPr lang="en-US" sz="1400" b="1" dirty="0">
                <a:solidFill>
                  <a:srgbClr val="172442"/>
                </a:solidFill>
              </a:rPr>
              <a:t>Revisión</a:t>
            </a:r>
            <a:endParaRPr lang="en-US" sz="1400" dirty="0"/>
          </a:p>
        </p:txBody>
      </p:sp>
      <p:sp>
        <p:nvSpPr>
          <p:cNvPr id="18" name="Text 13"/>
          <p:cNvSpPr txBox="1"/>
          <p:nvPr/>
        </p:nvSpPr>
        <p:spPr>
          <a:xfrm>
            <a:off x="6355080" y="2286000"/>
            <a:ext cx="2240280" cy="100584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Demostración del incremento al cliente, que actúa como Product Owner, con acta del resultado.</a:t>
            </a:r>
            <a:endParaRPr lang="en-US" sz="1100" dirty="0"/>
          </a:p>
        </p:txBody>
      </p:sp>
      <p:sp>
        <p:nvSpPr>
          <p:cNvPr id="19" name="Shape 14"/>
          <p:cNvSpPr/>
          <p:nvPr/>
        </p:nvSpPr>
        <p:spPr>
          <a:xfrm>
            <a:off x="8915400" y="1463040"/>
            <a:ext cx="2651760" cy="1874520"/>
          </a:xfrm>
          <a:prstGeom prst="roundRect">
            <a:avLst>
              <a:gd name="adj" fmla="val 5854"/>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0" name="Shape 15"/>
          <p:cNvSpPr/>
          <p:nvPr/>
        </p:nvSpPr>
        <p:spPr>
          <a:xfrm>
            <a:off x="9144000" y="1645920"/>
            <a:ext cx="548640" cy="548640"/>
          </a:xfrm>
          <a:prstGeom prst="ellipse">
            <a:avLst/>
          </a:prstGeom>
          <a:solidFill>
            <a:srgbClr val="F0EEFF"/>
          </a:solidFill>
          <a:ln w="12700">
            <a:solidFill>
              <a:srgbClr val="F0EEFF"/>
            </a:solidFill>
            <a:prstDash val="solid"/>
          </a:ln>
        </p:spPr>
      </p:sp>
      <p:pic>
        <p:nvPicPr>
          <p:cNvPr id="21" name="Image 3" descr="/private/tmp/claude-501/-Users-mauriciops-Proyectos-relwo-capstone/1a8b5f2b-d3d9-4b63-bfed-da79668ca276/scratchpad/pptx-build/assets/image25.png">    </p:cNvPr>
          <p:cNvPicPr>
            <a:picLocks noChangeAspect="1"/>
          </p:cNvPicPr>
          <p:nvPr/>
        </p:nvPicPr>
        <p:blipFill>
          <a:blip r:embed="rId4"/>
          <a:stretch>
            <a:fillRect/>
          </a:stretch>
        </p:blipFill>
        <p:spPr>
          <a:xfrm>
            <a:off x="9286646" y="1788566"/>
            <a:ext cx="263347" cy="263347"/>
          </a:xfrm>
          <a:prstGeom prst="rect">
            <a:avLst/>
          </a:prstGeom>
        </p:spPr>
      </p:pic>
      <p:sp>
        <p:nvSpPr>
          <p:cNvPr id="22" name="Text 16"/>
          <p:cNvSpPr txBox="1"/>
          <p:nvPr/>
        </p:nvSpPr>
        <p:spPr>
          <a:xfrm>
            <a:off x="9784080" y="1737360"/>
            <a:ext cx="1737360" cy="411480"/>
          </a:xfrm>
          <a:prstGeom prst="rect">
            <a:avLst/>
          </a:prstGeom>
          <a:noFill/>
          <a:ln/>
        </p:spPr>
        <p:txBody>
          <a:bodyPr wrap="square" lIns="0" tIns="0" rIns="0" bIns="0" rtlCol="0" anchor="t"/>
          <a:lstStyle/>
          <a:p>
            <a:pPr indent="0" marL="0">
              <a:buNone/>
            </a:pPr>
            <a:r>
              <a:rPr lang="en-US" sz="1400" b="1" dirty="0">
                <a:solidFill>
                  <a:srgbClr val="172442"/>
                </a:solidFill>
              </a:rPr>
              <a:t>Retrospectiva</a:t>
            </a:r>
            <a:endParaRPr lang="en-US" sz="1400" dirty="0"/>
          </a:p>
        </p:txBody>
      </p:sp>
      <p:sp>
        <p:nvSpPr>
          <p:cNvPr id="23" name="Text 17"/>
          <p:cNvSpPr txBox="1"/>
          <p:nvPr/>
        </p:nvSpPr>
        <p:spPr>
          <a:xfrm>
            <a:off x="9144000" y="2286000"/>
            <a:ext cx="2240280" cy="100584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Acciones con responsable, fecha y forma de verificación, revisadas en el sprint siguiente.</a:t>
            </a:r>
            <a:endParaRPr lang="en-US" sz="1100" dirty="0"/>
          </a:p>
        </p:txBody>
      </p:sp>
      <p:sp>
        <p:nvSpPr>
          <p:cNvPr id="24" name="Text 18"/>
          <p:cNvSpPr txBox="1"/>
          <p:nvPr/>
        </p:nvSpPr>
        <p:spPr>
          <a:xfrm>
            <a:off x="548640" y="3611880"/>
            <a:ext cx="7315200" cy="320040"/>
          </a:xfrm>
          <a:prstGeom prst="rect">
            <a:avLst/>
          </a:prstGeom>
          <a:noFill/>
          <a:ln/>
        </p:spPr>
        <p:txBody>
          <a:bodyPr wrap="square" lIns="0" tIns="0" rIns="0" bIns="0" rtlCol="0" anchor="t"/>
          <a:lstStyle/>
          <a:p>
            <a:pPr indent="0" marL="0">
              <a:buNone/>
            </a:pPr>
            <a:r>
              <a:rPr lang="en-US" sz="1500" b="1" dirty="0">
                <a:solidFill>
                  <a:srgbClr val="243B6B"/>
                </a:solidFill>
              </a:rPr>
              <a:t>Ajustes a la metodología durante la Fase 2</a:t>
            </a:r>
            <a:endParaRPr lang="en-US" sz="1500" dirty="0"/>
          </a:p>
        </p:txBody>
      </p:sp>
      <p:sp>
        <p:nvSpPr>
          <p:cNvPr id="25" name="Shape 19"/>
          <p:cNvSpPr/>
          <p:nvPr/>
        </p:nvSpPr>
        <p:spPr>
          <a:xfrm>
            <a:off x="548640" y="4023360"/>
            <a:ext cx="3566160" cy="2103120"/>
          </a:xfrm>
          <a:prstGeom prst="roundRect">
            <a:avLst>
              <a:gd name="adj" fmla="val 5217"/>
            </a:avLst>
          </a:prstGeom>
          <a:solidFill>
            <a:srgbClr val="F6F7FB"/>
          </a:solidFill>
          <a:ln w="12700">
            <a:solidFill>
              <a:srgbClr val="F6F7FB"/>
            </a:solidFill>
            <a:prstDash val="solid"/>
          </a:ln>
        </p:spPr>
      </p:sp>
      <p:sp>
        <p:nvSpPr>
          <p:cNvPr id="26" name="Text 20"/>
          <p:cNvSpPr txBox="1"/>
          <p:nvPr/>
        </p:nvSpPr>
        <p:spPr>
          <a:xfrm>
            <a:off x="822960" y="4160520"/>
            <a:ext cx="3017520" cy="640080"/>
          </a:xfrm>
          <a:prstGeom prst="rect">
            <a:avLst/>
          </a:prstGeom>
          <a:noFill/>
          <a:ln/>
        </p:spPr>
        <p:txBody>
          <a:bodyPr wrap="square" lIns="0" tIns="0" rIns="0" bIns="0" rtlCol="0" anchor="t"/>
          <a:lstStyle/>
          <a:p>
            <a:pPr indent="0" marL="0">
              <a:buNone/>
            </a:pPr>
            <a:r>
              <a:rPr lang="en-US" sz="1350" b="1" dirty="0">
                <a:solidFill>
                  <a:srgbClr val="172442"/>
                </a:solidFill>
              </a:rPr>
              <a:t>Sprints de 1 semana → 2 a 3 semanas</a:t>
            </a:r>
            <a:endParaRPr lang="en-US" sz="1350" dirty="0"/>
          </a:p>
        </p:txBody>
      </p:sp>
      <p:sp>
        <p:nvSpPr>
          <p:cNvPr id="27" name="Text 21"/>
          <p:cNvSpPr txBox="1"/>
          <p:nvPr/>
        </p:nvSpPr>
        <p:spPr>
          <a:xfrm>
            <a:off x="822960" y="4846320"/>
            <a:ext cx="3017520" cy="1188720"/>
          </a:xfrm>
          <a:prstGeom prst="rect">
            <a:avLst/>
          </a:prstGeom>
          <a:noFill/>
          <a:ln/>
        </p:spPr>
        <p:txBody>
          <a:bodyPr wrap="square" lIns="0" tIns="0" rIns="0" bIns="0" rtlCol="0" anchor="t"/>
          <a:lstStyle/>
          <a:p>
            <a:pPr indent="0" marL="0">
              <a:lnSpc>
                <a:spcPct val="108000"/>
              </a:lnSpc>
              <a:buNone/>
            </a:pPr>
            <a:r>
              <a:rPr lang="en-US" sz="1150" dirty="0">
                <a:solidFill>
                  <a:srgbClr val="202636"/>
                </a:solidFill>
              </a:rPr>
              <a:t>Desde el Sprint 5: los incrementos que integran servidor, app y panel no cabían en una semana, y las revisiones con el cliente se alinearon a los hitos.</a:t>
            </a:r>
            <a:endParaRPr lang="en-US" sz="1150" dirty="0"/>
          </a:p>
        </p:txBody>
      </p:sp>
      <p:sp>
        <p:nvSpPr>
          <p:cNvPr id="28" name="Shape 22"/>
          <p:cNvSpPr/>
          <p:nvPr/>
        </p:nvSpPr>
        <p:spPr>
          <a:xfrm>
            <a:off x="4297680" y="4023360"/>
            <a:ext cx="3566160" cy="2103120"/>
          </a:xfrm>
          <a:prstGeom prst="roundRect">
            <a:avLst>
              <a:gd name="adj" fmla="val 5217"/>
            </a:avLst>
          </a:prstGeom>
          <a:solidFill>
            <a:srgbClr val="F6F7FB"/>
          </a:solidFill>
          <a:ln w="12700">
            <a:solidFill>
              <a:srgbClr val="F6F7FB"/>
            </a:solidFill>
            <a:prstDash val="solid"/>
          </a:ln>
        </p:spPr>
      </p:sp>
      <p:sp>
        <p:nvSpPr>
          <p:cNvPr id="29" name="Text 23"/>
          <p:cNvSpPr txBox="1"/>
          <p:nvPr/>
        </p:nvSpPr>
        <p:spPr>
          <a:xfrm>
            <a:off x="4572000" y="4160520"/>
            <a:ext cx="3017520" cy="640080"/>
          </a:xfrm>
          <a:prstGeom prst="rect">
            <a:avLst/>
          </a:prstGeom>
          <a:noFill/>
          <a:ln/>
        </p:spPr>
        <p:txBody>
          <a:bodyPr wrap="square" lIns="0" tIns="0" rIns="0" bIns="0" rtlCol="0" anchor="t"/>
          <a:lstStyle/>
          <a:p>
            <a:pPr indent="0" marL="0">
              <a:buNone/>
            </a:pPr>
            <a:r>
              <a:rPr lang="en-US" sz="1350" b="1" dirty="0">
                <a:solidFill>
                  <a:srgbClr val="172442"/>
                </a:solidFill>
              </a:rPr>
              <a:t>Plan por capas → funcionalidades completas</a:t>
            </a:r>
            <a:endParaRPr lang="en-US" sz="1350" dirty="0"/>
          </a:p>
        </p:txBody>
      </p:sp>
      <p:sp>
        <p:nvSpPr>
          <p:cNvPr id="30" name="Text 24"/>
          <p:cNvSpPr txBox="1"/>
          <p:nvPr/>
        </p:nvSpPr>
        <p:spPr>
          <a:xfrm>
            <a:off x="4572000" y="4846320"/>
            <a:ext cx="3017520" cy="1188720"/>
          </a:xfrm>
          <a:prstGeom prst="rect">
            <a:avLst/>
          </a:prstGeom>
          <a:noFill/>
          <a:ln/>
        </p:spPr>
        <p:txBody>
          <a:bodyPr wrap="square" lIns="0" tIns="0" rIns="0" bIns="0" rtlCol="0" anchor="t"/>
          <a:lstStyle/>
          <a:p>
            <a:pPr indent="0" marL="0">
              <a:lnSpc>
                <a:spcPct val="108000"/>
              </a:lnSpc>
              <a:buNone/>
            </a:pPr>
            <a:r>
              <a:rPr lang="en-US" sz="1150" dirty="0">
                <a:solidFill>
                  <a:srgbClr val="202636"/>
                </a:solidFill>
              </a:rPr>
              <a:t>Servidor, app y panel avanzan juntos por historia, para que cada revisión muestre algo demostrable y no una pieza suelta.</a:t>
            </a:r>
            <a:endParaRPr lang="en-US" sz="1150" dirty="0"/>
          </a:p>
        </p:txBody>
      </p:sp>
      <p:sp>
        <p:nvSpPr>
          <p:cNvPr id="31" name="Shape 25"/>
          <p:cNvSpPr/>
          <p:nvPr/>
        </p:nvSpPr>
        <p:spPr>
          <a:xfrm>
            <a:off x="8046720" y="4023360"/>
            <a:ext cx="3566160" cy="2103120"/>
          </a:xfrm>
          <a:prstGeom prst="roundRect">
            <a:avLst>
              <a:gd name="adj" fmla="val 5217"/>
            </a:avLst>
          </a:prstGeom>
          <a:solidFill>
            <a:srgbClr val="F6F7FB"/>
          </a:solidFill>
          <a:ln w="12700">
            <a:solidFill>
              <a:srgbClr val="F6F7FB"/>
            </a:solidFill>
            <a:prstDash val="solid"/>
          </a:ln>
        </p:spPr>
      </p:sp>
      <p:sp>
        <p:nvSpPr>
          <p:cNvPr id="32" name="Text 26"/>
          <p:cNvSpPr txBox="1"/>
          <p:nvPr/>
        </p:nvSpPr>
        <p:spPr>
          <a:xfrm>
            <a:off x="8321040" y="4160520"/>
            <a:ext cx="3017520" cy="640080"/>
          </a:xfrm>
          <a:prstGeom prst="rect">
            <a:avLst/>
          </a:prstGeom>
          <a:noFill/>
          <a:ln/>
        </p:spPr>
        <p:txBody>
          <a:bodyPr wrap="square" lIns="0" tIns="0" rIns="0" bIns="0" rtlCol="0" anchor="t"/>
          <a:lstStyle/>
          <a:p>
            <a:pPr indent="0" marL="0">
              <a:buNone/>
            </a:pPr>
            <a:r>
              <a:rPr lang="en-US" sz="1350" b="1" dirty="0">
                <a:solidFill>
                  <a:srgbClr val="172442"/>
                </a:solidFill>
              </a:rPr>
              <a:t>Tres vías de trabajo con un solo revisor</a:t>
            </a:r>
            <a:endParaRPr lang="en-US" sz="1350" dirty="0"/>
          </a:p>
        </p:txBody>
      </p:sp>
      <p:sp>
        <p:nvSpPr>
          <p:cNvPr id="33" name="Text 27"/>
          <p:cNvSpPr txBox="1"/>
          <p:nvPr/>
        </p:nvSpPr>
        <p:spPr>
          <a:xfrm>
            <a:off x="8321040" y="4846320"/>
            <a:ext cx="3017520" cy="1188720"/>
          </a:xfrm>
          <a:prstGeom prst="rect">
            <a:avLst/>
          </a:prstGeom>
          <a:noFill/>
          <a:ln/>
        </p:spPr>
        <p:txBody>
          <a:bodyPr wrap="square" lIns="0" tIns="0" rIns="0" bIns="0" rtlCol="0" anchor="t"/>
          <a:lstStyle/>
          <a:p>
            <a:pPr indent="0" marL="0">
              <a:lnSpc>
                <a:spcPct val="108000"/>
              </a:lnSpc>
              <a:buNone/>
            </a:pPr>
            <a:r>
              <a:rPr lang="en-US" sz="1150" dirty="0">
                <a:solidFill>
                  <a:srgbClr val="202636"/>
                </a:solidFill>
              </a:rPr>
              <a:t>Servidor y app (Mauricio), torre de control y diseño (Tania) y métricas (Nayareth, desde el 5 de octubre); todo cambio se revisa antes de integrarse.</a:t>
            </a:r>
            <a:endParaRPr lang="en-US" sz="1150" dirty="0"/>
          </a:p>
        </p:txBody>
      </p:sp>
      <p:sp>
        <p:nvSpPr>
          <p:cNvPr id="34" name="Text 28"/>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35" name="Text 29"/>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Tania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SEGUIMIENTO</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Compromiso y entrega por sprint</a:t>
            </a:r>
            <a:endParaRPr lang="en-US" sz="3000" dirty="0"/>
          </a:p>
        </p:txBody>
      </p:sp>
      <p:graphicFrame>
        <p:nvGraphicFramePr>
          <p:cNvPr id="4" name="Chart 0" descr=""/>
          <p:cNvGraphicFramePr/>
          <p:nvPr/>
        </p:nvGraphicFramePr>
        <p:xfrm>
          <a:off x="548640" y="1417320"/>
          <a:ext cx="722376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46720" y="1417320"/>
            <a:ext cx="3566160" cy="4572000"/>
          </a:xfrm>
          <a:prstGeom prst="roundRect">
            <a:avLst>
              <a:gd name="adj" fmla="val 3077"/>
            </a:avLst>
          </a:prstGeom>
          <a:solidFill>
            <a:srgbClr val="F6F7FB"/>
          </a:solidFill>
          <a:ln w="12700">
            <a:solidFill>
              <a:srgbClr val="F6F7FB"/>
            </a:solidFill>
            <a:prstDash val="solid"/>
          </a:ln>
        </p:spPr>
      </p:sp>
      <p:sp>
        <p:nvSpPr>
          <p:cNvPr id="6" name="Text 3"/>
          <p:cNvSpPr txBox="1"/>
          <p:nvPr/>
        </p:nvSpPr>
        <p:spPr>
          <a:xfrm>
            <a:off x="8275320" y="1554480"/>
            <a:ext cx="3108960" cy="320040"/>
          </a:xfrm>
          <a:prstGeom prst="rect">
            <a:avLst/>
          </a:prstGeom>
          <a:noFill/>
          <a:ln/>
        </p:spPr>
        <p:txBody>
          <a:bodyPr wrap="square" lIns="0" tIns="0" rIns="0" bIns="0" rtlCol="0" anchor="t"/>
          <a:lstStyle/>
          <a:p>
            <a:pPr indent="0" marL="0">
              <a:buNone/>
            </a:pPr>
            <a:r>
              <a:rPr lang="en-US" sz="1400" b="1" dirty="0">
                <a:solidFill>
                  <a:srgbClr val="172442"/>
                </a:solidFill>
              </a:rPr>
              <a:t>Cómo leerlo</a:t>
            </a:r>
            <a:endParaRPr lang="en-US" sz="1400" dirty="0"/>
          </a:p>
        </p:txBody>
      </p:sp>
      <p:sp>
        <p:nvSpPr>
          <p:cNvPr id="7" name="Text 4"/>
          <p:cNvSpPr txBox="1"/>
          <p:nvPr/>
        </p:nvSpPr>
        <p:spPr>
          <a:xfrm>
            <a:off x="8275320" y="1920240"/>
            <a:ext cx="3154680" cy="393192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02636"/>
                </a:solidFill>
              </a:rPr>
              <a:t>El Sprint 1 fue de cimientos: su velocidad no sirve de referencia.</a:t>
            </a:r>
            <a:endParaRPr lang="en-US" sz="1150" dirty="0"/>
          </a:p>
          <a:p>
            <a:pPr marL="152400" indent="-152400">
              <a:spcAft>
                <a:spcPts val="700"/>
              </a:spcAft>
              <a:buSzPct val="100000"/>
              <a:buChar char="•"/>
            </a:pPr>
            <a:r>
              <a:rPr lang="en-US" sz="1150" dirty="0">
                <a:solidFill>
                  <a:srgbClr val="202636"/>
                </a:solidFill>
              </a:rPr>
              <a:t>El Sprint 3 demostró al cliente el flujo del dinero de punta a punta; el panel cerró ocho días después.</a:t>
            </a:r>
            <a:endParaRPr lang="en-US" sz="1150" dirty="0"/>
          </a:p>
          <a:p>
            <a:pPr marL="152400" indent="-152400">
              <a:spcAft>
                <a:spcPts val="700"/>
              </a:spcAft>
              <a:buSzPct val="100000"/>
              <a:buChar char="•"/>
            </a:pPr>
            <a:r>
              <a:rPr lang="en-US" sz="1150" dirty="0">
                <a:solidFill>
                  <a:srgbClr val="202636"/>
                </a:solidFill>
              </a:rPr>
              <a:t>Los Sprints 5 y 6 entregaron mucha reserva: el servidor avanzó más rápido de lo comprometido.</a:t>
            </a:r>
            <a:endParaRPr lang="en-US" sz="1150" dirty="0"/>
          </a:p>
          <a:p>
            <a:pPr marL="152400" indent="-152400">
              <a:spcAft>
                <a:spcPts val="700"/>
              </a:spcAft>
              <a:buSzPct val="100000"/>
              <a:buChar char="•"/>
            </a:pPr>
            <a:r>
              <a:rPr lang="en-US" sz="1150" dirty="0">
                <a:solidFill>
                  <a:srgbClr val="202636"/>
                </a:solidFill>
              </a:rPr>
              <a:t>El Sprint 6 cerró cuatro días tarde: faltaron la pasarela de pago real y parte de la app comprometida.</a:t>
            </a:r>
            <a:endParaRPr lang="en-US" sz="1150" dirty="0"/>
          </a:p>
          <a:p>
            <a:pPr marL="152400" indent="-152400">
              <a:spcAft>
                <a:spcPts val="700"/>
              </a:spcAft>
              <a:buSzPct val="100000"/>
              <a:buChar char="•"/>
            </a:pPr>
            <a:r>
              <a:rPr lang="en-US" sz="1150" dirty="0">
                <a:solidFill>
                  <a:srgbClr val="202636"/>
                </a:solidFill>
              </a:rPr>
              <a:t>El Sprint 7 cumplió 71 de 71 y cerró un día antes.</a:t>
            </a:r>
            <a:endParaRPr lang="en-US" sz="1150" dirty="0"/>
          </a:p>
          <a:p>
            <a:pPr marL="152400" indent="-152400">
              <a:spcAft>
                <a:spcPts val="700"/>
              </a:spcAft>
              <a:buSzPct val="100000"/>
              <a:buChar char="•"/>
            </a:pPr>
            <a:r>
              <a:rPr lang="en-US" sz="1150" dirty="0">
                <a:solidFill>
                  <a:srgbClr val="202636"/>
                </a:solidFill>
              </a:rPr>
              <a:t>El Sprint 8 (19 al 30 de octubre) compromete 20 puntos y cierra con la revisión de aceptación del MVP.</a:t>
            </a:r>
            <a:endParaRPr lang="en-US" sz="1150" dirty="0"/>
          </a:p>
        </p:txBody>
      </p:sp>
      <p:sp>
        <p:nvSpPr>
          <p:cNvPr id="8" name="Text 5"/>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9" name="Text 6"/>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Nayareth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EQUIPO</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Tres vías de trabajo, una revisión</a:t>
            </a:r>
            <a:endParaRPr lang="en-US" sz="3000" dirty="0"/>
          </a:p>
        </p:txBody>
      </p:sp>
      <p:sp>
        <p:nvSpPr>
          <p:cNvPr id="4" name="Shape 2"/>
          <p:cNvSpPr/>
          <p:nvPr/>
        </p:nvSpPr>
        <p:spPr>
          <a:xfrm>
            <a:off x="548640" y="1463040"/>
            <a:ext cx="3566160" cy="4069080"/>
          </a:xfrm>
          <a:prstGeom prst="roundRect">
            <a:avLst>
              <a:gd name="adj" fmla="val 3077"/>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5" name="Shape 3"/>
          <p:cNvSpPr/>
          <p:nvPr/>
        </p:nvSpPr>
        <p:spPr>
          <a:xfrm>
            <a:off x="822960" y="1691640"/>
            <a:ext cx="685800" cy="685800"/>
          </a:xfrm>
          <a:prstGeom prst="ellipse">
            <a:avLst/>
          </a:prstGeom>
          <a:solidFill>
            <a:srgbClr val="243B6B"/>
          </a:solidFill>
          <a:ln w="12700">
            <a:solidFill>
              <a:srgbClr val="FFFFFF"/>
            </a:solidFill>
            <a:prstDash val="solid"/>
          </a:ln>
        </p:spPr>
      </p:sp>
      <p:sp>
        <p:nvSpPr>
          <p:cNvPr id="6" name="Text 4"/>
          <p:cNvSpPr txBox="1"/>
          <p:nvPr/>
        </p:nvSpPr>
        <p:spPr>
          <a:xfrm>
            <a:off x="822960" y="1691640"/>
            <a:ext cx="685800" cy="685800"/>
          </a:xfrm>
          <a:prstGeom prst="rect">
            <a:avLst/>
          </a:prstGeom>
          <a:noFill/>
          <a:ln/>
        </p:spPr>
        <p:txBody>
          <a:bodyPr wrap="square" lIns="0" tIns="0" rIns="0" bIns="0" rtlCol="0" anchor="ctr"/>
          <a:lstStyle/>
          <a:p>
            <a:pPr algn="ctr" indent="0" marL="0">
              <a:buNone/>
            </a:pPr>
            <a:r>
              <a:rPr lang="en-US" sz="1500" b="1" dirty="0">
                <a:solidFill>
                  <a:srgbClr val="FFFFFF"/>
                </a:solidFill>
              </a:rPr>
              <a:t>MP</a:t>
            </a:r>
            <a:endParaRPr lang="en-US" sz="1500" dirty="0"/>
          </a:p>
        </p:txBody>
      </p:sp>
      <p:sp>
        <p:nvSpPr>
          <p:cNvPr id="7" name="Text 5"/>
          <p:cNvSpPr txBox="1"/>
          <p:nvPr/>
        </p:nvSpPr>
        <p:spPr>
          <a:xfrm>
            <a:off x="1645920" y="1691640"/>
            <a:ext cx="2377440" cy="365760"/>
          </a:xfrm>
          <a:prstGeom prst="rect">
            <a:avLst/>
          </a:prstGeom>
          <a:noFill/>
          <a:ln/>
        </p:spPr>
        <p:txBody>
          <a:bodyPr wrap="square" lIns="0" tIns="0" rIns="0" bIns="0" rtlCol="0" anchor="t"/>
          <a:lstStyle/>
          <a:p>
            <a:pPr indent="0" marL="0">
              <a:buNone/>
            </a:pPr>
            <a:r>
              <a:rPr lang="en-US" sz="1500" b="1" dirty="0">
                <a:solidFill>
                  <a:srgbClr val="172442"/>
                </a:solidFill>
              </a:rPr>
              <a:t>Mauricio Poblete</a:t>
            </a:r>
            <a:endParaRPr lang="en-US" sz="1500" dirty="0"/>
          </a:p>
        </p:txBody>
      </p:sp>
      <p:sp>
        <p:nvSpPr>
          <p:cNvPr id="8" name="Text 6"/>
          <p:cNvSpPr txBox="1"/>
          <p:nvPr/>
        </p:nvSpPr>
        <p:spPr>
          <a:xfrm>
            <a:off x="1645920" y="2057400"/>
            <a:ext cx="2377440" cy="365760"/>
          </a:xfrm>
          <a:prstGeom prst="rect">
            <a:avLst/>
          </a:prstGeom>
          <a:noFill/>
          <a:ln/>
        </p:spPr>
        <p:txBody>
          <a:bodyPr wrap="square" lIns="0" tIns="0" rIns="0" bIns="0" rtlCol="0" anchor="t"/>
          <a:lstStyle/>
          <a:p>
            <a:pPr indent="0" marL="0">
              <a:buNone/>
            </a:pPr>
            <a:r>
              <a:rPr lang="en-US" sz="1100" dirty="0">
                <a:solidFill>
                  <a:srgbClr val="667085"/>
                </a:solidFill>
              </a:rPr>
              <a:t>Scrum Master · servidor, app y nube</a:t>
            </a:r>
            <a:endParaRPr lang="en-US" sz="1100" dirty="0"/>
          </a:p>
        </p:txBody>
      </p:sp>
      <p:sp>
        <p:nvSpPr>
          <p:cNvPr id="9" name="Text 7"/>
          <p:cNvSpPr txBox="1"/>
          <p:nvPr/>
        </p:nvSpPr>
        <p:spPr>
          <a:xfrm>
            <a:off x="822960" y="2606040"/>
            <a:ext cx="3017520" cy="28346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202636"/>
                </a:solidFill>
              </a:rPr>
              <a:t>Arquitectura, modelo de datos y servidor</a:t>
            </a:r>
            <a:endParaRPr lang="en-US" sz="1150" dirty="0"/>
          </a:p>
          <a:p>
            <a:pPr marL="152400" indent="-152400">
              <a:spcAft>
                <a:spcPts val="600"/>
              </a:spcAft>
              <a:buSzPct val="100000"/>
              <a:buChar char="•"/>
            </a:pPr>
            <a:r>
              <a:rPr lang="en-US" sz="1150" dirty="0">
                <a:solidFill>
                  <a:srgbClr val="202636"/>
                </a:solidFill>
              </a:rPr>
              <a:t>Aplicación móvil para cliente y maestro</a:t>
            </a:r>
            <a:endParaRPr lang="en-US" sz="1150" dirty="0"/>
          </a:p>
          <a:p>
            <a:pPr marL="152400" indent="-152400">
              <a:spcAft>
                <a:spcPts val="600"/>
              </a:spcAft>
              <a:buSzPct val="100000"/>
              <a:buChar char="•"/>
            </a:pPr>
            <a:r>
              <a:rPr lang="en-US" sz="1150" dirty="0">
                <a:solidFill>
                  <a:srgbClr val="202636"/>
                </a:solidFill>
              </a:rPr>
              <a:t>Entorno de prueba en la nube y despliegues</a:t>
            </a:r>
            <a:endParaRPr lang="en-US" sz="1150" dirty="0"/>
          </a:p>
          <a:p>
            <a:pPr marL="152400" indent="-152400">
              <a:spcAft>
                <a:spcPts val="600"/>
              </a:spcAft>
              <a:buSzPct val="100000"/>
              <a:buChar char="•"/>
            </a:pPr>
            <a:r>
              <a:rPr lang="en-US" sz="1150" dirty="0">
                <a:solidFill>
                  <a:srgbClr val="202636"/>
                </a:solidFill>
              </a:rPr>
              <a:t>Revisión e integración de todos los cambios</a:t>
            </a:r>
            <a:endParaRPr lang="en-US" sz="1150" dirty="0"/>
          </a:p>
          <a:p>
            <a:pPr marL="152400" indent="-152400">
              <a:spcAft>
                <a:spcPts val="600"/>
              </a:spcAft>
              <a:buSzPct val="100000"/>
              <a:buChar char="•"/>
            </a:pPr>
            <a:r>
              <a:rPr lang="en-US" sz="1150" dirty="0">
                <a:solidFill>
                  <a:srgbClr val="202636"/>
                </a:solidFill>
              </a:rPr>
              <a:t>Planificación y actas de cada sprint</a:t>
            </a:r>
            <a:endParaRPr lang="en-US" sz="1150" dirty="0"/>
          </a:p>
        </p:txBody>
      </p:sp>
      <p:sp>
        <p:nvSpPr>
          <p:cNvPr id="10" name="Shape 8"/>
          <p:cNvSpPr/>
          <p:nvPr/>
        </p:nvSpPr>
        <p:spPr>
          <a:xfrm>
            <a:off x="4297680" y="1463040"/>
            <a:ext cx="3566160" cy="4069080"/>
          </a:xfrm>
          <a:prstGeom prst="roundRect">
            <a:avLst>
              <a:gd name="adj" fmla="val 3077"/>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1" name="Shape 9"/>
          <p:cNvSpPr/>
          <p:nvPr/>
        </p:nvSpPr>
        <p:spPr>
          <a:xfrm>
            <a:off x="4572000" y="1691640"/>
            <a:ext cx="685800" cy="685800"/>
          </a:xfrm>
          <a:prstGeom prst="ellipse">
            <a:avLst/>
          </a:prstGeom>
          <a:solidFill>
            <a:srgbClr val="7C6EE6"/>
          </a:solidFill>
          <a:ln w="12700">
            <a:solidFill>
              <a:srgbClr val="FFFFFF"/>
            </a:solidFill>
            <a:prstDash val="solid"/>
          </a:ln>
        </p:spPr>
      </p:sp>
      <p:sp>
        <p:nvSpPr>
          <p:cNvPr id="12" name="Text 10"/>
          <p:cNvSpPr txBox="1"/>
          <p:nvPr/>
        </p:nvSpPr>
        <p:spPr>
          <a:xfrm>
            <a:off x="4572000" y="1691640"/>
            <a:ext cx="685800" cy="685800"/>
          </a:xfrm>
          <a:prstGeom prst="rect">
            <a:avLst/>
          </a:prstGeom>
          <a:noFill/>
          <a:ln/>
        </p:spPr>
        <p:txBody>
          <a:bodyPr wrap="square" lIns="0" tIns="0" rIns="0" bIns="0" rtlCol="0" anchor="ctr"/>
          <a:lstStyle/>
          <a:p>
            <a:pPr algn="ctr" indent="0" marL="0">
              <a:buNone/>
            </a:pPr>
            <a:r>
              <a:rPr lang="en-US" sz="1500" b="1" dirty="0">
                <a:solidFill>
                  <a:srgbClr val="FFFFFF"/>
                </a:solidFill>
              </a:rPr>
              <a:t>TS</a:t>
            </a:r>
            <a:endParaRPr lang="en-US" sz="1500" dirty="0"/>
          </a:p>
        </p:txBody>
      </p:sp>
      <p:sp>
        <p:nvSpPr>
          <p:cNvPr id="13" name="Text 11"/>
          <p:cNvSpPr txBox="1"/>
          <p:nvPr/>
        </p:nvSpPr>
        <p:spPr>
          <a:xfrm>
            <a:off x="5394960" y="1691640"/>
            <a:ext cx="2377440" cy="365760"/>
          </a:xfrm>
          <a:prstGeom prst="rect">
            <a:avLst/>
          </a:prstGeom>
          <a:noFill/>
          <a:ln/>
        </p:spPr>
        <p:txBody>
          <a:bodyPr wrap="square" lIns="0" tIns="0" rIns="0" bIns="0" rtlCol="0" anchor="t"/>
          <a:lstStyle/>
          <a:p>
            <a:pPr indent="0" marL="0">
              <a:buNone/>
            </a:pPr>
            <a:r>
              <a:rPr lang="en-US" sz="1500" b="1" dirty="0">
                <a:solidFill>
                  <a:srgbClr val="172442"/>
                </a:solidFill>
              </a:rPr>
              <a:t>Tania Sáez</a:t>
            </a:r>
            <a:endParaRPr lang="en-US" sz="1500" dirty="0"/>
          </a:p>
        </p:txBody>
      </p:sp>
      <p:sp>
        <p:nvSpPr>
          <p:cNvPr id="14" name="Text 12"/>
          <p:cNvSpPr txBox="1"/>
          <p:nvPr/>
        </p:nvSpPr>
        <p:spPr>
          <a:xfrm>
            <a:off x="5394960" y="2057400"/>
            <a:ext cx="2377440" cy="365760"/>
          </a:xfrm>
          <a:prstGeom prst="rect">
            <a:avLst/>
          </a:prstGeom>
          <a:noFill/>
          <a:ln/>
        </p:spPr>
        <p:txBody>
          <a:bodyPr wrap="square" lIns="0" tIns="0" rIns="0" bIns="0" rtlCol="0" anchor="t"/>
          <a:lstStyle/>
          <a:p>
            <a:pPr indent="0" marL="0">
              <a:buNone/>
            </a:pPr>
            <a:r>
              <a:rPr lang="en-US" sz="1100" dirty="0">
                <a:solidFill>
                  <a:srgbClr val="667085"/>
                </a:solidFill>
              </a:rPr>
              <a:t>Torre de control y diseño</a:t>
            </a:r>
            <a:endParaRPr lang="en-US" sz="1100" dirty="0"/>
          </a:p>
        </p:txBody>
      </p:sp>
      <p:sp>
        <p:nvSpPr>
          <p:cNvPr id="15" name="Text 13"/>
          <p:cNvSpPr txBox="1"/>
          <p:nvPr/>
        </p:nvSpPr>
        <p:spPr>
          <a:xfrm>
            <a:off x="4572000" y="2606040"/>
            <a:ext cx="3017520" cy="28346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202636"/>
                </a:solidFill>
              </a:rPr>
              <a:t>Prototipo navegable: referencia visual del proyecto</a:t>
            </a:r>
            <a:endParaRPr lang="en-US" sz="1150" dirty="0"/>
          </a:p>
          <a:p>
            <a:pPr marL="152400" indent="-152400">
              <a:spcAft>
                <a:spcPts val="600"/>
              </a:spcAft>
              <a:buSzPct val="100000"/>
              <a:buChar char="•"/>
            </a:pPr>
            <a:r>
              <a:rPr lang="en-US" sz="1150" dirty="0">
                <a:solidFill>
                  <a:srgbClr val="202636"/>
                </a:solidFill>
              </a:rPr>
              <a:t>Panel de administración completo</a:t>
            </a:r>
            <a:endParaRPr lang="en-US" sz="1150" dirty="0"/>
          </a:p>
          <a:p>
            <a:pPr marL="152400" indent="-152400">
              <a:spcAft>
                <a:spcPts val="600"/>
              </a:spcAft>
              <a:buSzPct val="100000"/>
              <a:buChar char="•"/>
            </a:pPr>
            <a:r>
              <a:rPr lang="en-US" sz="1150" dirty="0">
                <a:solidFill>
                  <a:srgbClr val="202636"/>
                </a:solidFill>
              </a:rPr>
              <a:t>Revisión del diseño y la experiencia de la app</a:t>
            </a:r>
            <a:endParaRPr lang="en-US" sz="1150" dirty="0"/>
          </a:p>
          <a:p>
            <a:pPr marL="152400" indent="-152400">
              <a:spcAft>
                <a:spcPts val="600"/>
              </a:spcAft>
              <a:buSzPct val="100000"/>
              <a:buChar char="•"/>
            </a:pPr>
            <a:r>
              <a:rPr lang="en-US" sz="1150" dirty="0">
                <a:solidFill>
                  <a:srgbClr val="202636"/>
                </a:solidFill>
              </a:rPr>
              <a:t>Pruebas visuales en navegador y teléfono</a:t>
            </a:r>
            <a:endParaRPr lang="en-US" sz="1150" dirty="0"/>
          </a:p>
          <a:p>
            <a:pPr marL="152400" indent="-152400">
              <a:spcAft>
                <a:spcPts val="600"/>
              </a:spcAft>
              <a:buSzPct val="100000"/>
              <a:buChar char="•"/>
            </a:pPr>
            <a:r>
              <a:rPr lang="en-US" sz="1150" dirty="0">
                <a:solidFill>
                  <a:srgbClr val="202636"/>
                </a:solidFill>
              </a:rPr>
              <a:t>Rondas de accesibilidad del panel</a:t>
            </a:r>
            <a:endParaRPr lang="en-US" sz="1150" dirty="0"/>
          </a:p>
        </p:txBody>
      </p:sp>
      <p:sp>
        <p:nvSpPr>
          <p:cNvPr id="16" name="Shape 14"/>
          <p:cNvSpPr/>
          <p:nvPr/>
        </p:nvSpPr>
        <p:spPr>
          <a:xfrm>
            <a:off x="8046720" y="1463040"/>
            <a:ext cx="3566160" cy="4069080"/>
          </a:xfrm>
          <a:prstGeom prst="roundRect">
            <a:avLst>
              <a:gd name="adj" fmla="val 3077"/>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7" name="Shape 15"/>
          <p:cNvSpPr/>
          <p:nvPr/>
        </p:nvSpPr>
        <p:spPr>
          <a:xfrm>
            <a:off x="8321040" y="1691640"/>
            <a:ext cx="685800" cy="685800"/>
          </a:xfrm>
          <a:prstGeom prst="ellipse">
            <a:avLst/>
          </a:prstGeom>
          <a:solidFill>
            <a:srgbClr val="F06449"/>
          </a:solidFill>
          <a:ln w="12700">
            <a:solidFill>
              <a:srgbClr val="FFFFFF"/>
            </a:solidFill>
            <a:prstDash val="solid"/>
          </a:ln>
        </p:spPr>
      </p:sp>
      <p:sp>
        <p:nvSpPr>
          <p:cNvPr id="18" name="Text 16"/>
          <p:cNvSpPr txBox="1"/>
          <p:nvPr/>
        </p:nvSpPr>
        <p:spPr>
          <a:xfrm>
            <a:off x="8321040" y="1691640"/>
            <a:ext cx="685800" cy="685800"/>
          </a:xfrm>
          <a:prstGeom prst="rect">
            <a:avLst/>
          </a:prstGeom>
          <a:noFill/>
          <a:ln/>
        </p:spPr>
        <p:txBody>
          <a:bodyPr wrap="square" lIns="0" tIns="0" rIns="0" bIns="0" rtlCol="0" anchor="ctr"/>
          <a:lstStyle/>
          <a:p>
            <a:pPr algn="ctr" indent="0" marL="0">
              <a:buNone/>
            </a:pPr>
            <a:r>
              <a:rPr lang="en-US" sz="1500" b="1" dirty="0">
                <a:solidFill>
                  <a:srgbClr val="FFFFFF"/>
                </a:solidFill>
              </a:rPr>
              <a:t>NS</a:t>
            </a:r>
            <a:endParaRPr lang="en-US" sz="1500" dirty="0"/>
          </a:p>
        </p:txBody>
      </p:sp>
      <p:sp>
        <p:nvSpPr>
          <p:cNvPr id="19" name="Text 17"/>
          <p:cNvSpPr txBox="1"/>
          <p:nvPr/>
        </p:nvSpPr>
        <p:spPr>
          <a:xfrm>
            <a:off x="9144000" y="1691640"/>
            <a:ext cx="2377440" cy="365760"/>
          </a:xfrm>
          <a:prstGeom prst="rect">
            <a:avLst/>
          </a:prstGeom>
          <a:noFill/>
          <a:ln/>
        </p:spPr>
        <p:txBody>
          <a:bodyPr wrap="square" lIns="0" tIns="0" rIns="0" bIns="0" rtlCol="0" anchor="t"/>
          <a:lstStyle/>
          <a:p>
            <a:pPr indent="0" marL="0">
              <a:buNone/>
            </a:pPr>
            <a:r>
              <a:rPr lang="en-US" sz="1500" b="1" dirty="0">
                <a:solidFill>
                  <a:srgbClr val="172442"/>
                </a:solidFill>
              </a:rPr>
              <a:t>Nayareth Suárez</a:t>
            </a:r>
            <a:endParaRPr lang="en-US" sz="1500" dirty="0"/>
          </a:p>
        </p:txBody>
      </p:sp>
      <p:sp>
        <p:nvSpPr>
          <p:cNvPr id="20" name="Text 18"/>
          <p:cNvSpPr txBox="1"/>
          <p:nvPr/>
        </p:nvSpPr>
        <p:spPr>
          <a:xfrm>
            <a:off x="9144000" y="2057400"/>
            <a:ext cx="2377440" cy="365760"/>
          </a:xfrm>
          <a:prstGeom prst="rect">
            <a:avLst/>
          </a:prstGeom>
          <a:noFill/>
          <a:ln/>
        </p:spPr>
        <p:txBody>
          <a:bodyPr wrap="square" lIns="0" tIns="0" rIns="0" bIns="0" rtlCol="0" anchor="t"/>
          <a:lstStyle/>
          <a:p>
            <a:pPr indent="0" marL="0">
              <a:buNone/>
            </a:pPr>
            <a:r>
              <a:rPr lang="en-US" sz="1100" dirty="0">
                <a:solidFill>
                  <a:srgbClr val="667085"/>
                </a:solidFill>
              </a:rPr>
              <a:t>Métricas, evidencias y calidad</a:t>
            </a:r>
            <a:endParaRPr lang="en-US" sz="1100" dirty="0"/>
          </a:p>
        </p:txBody>
      </p:sp>
      <p:sp>
        <p:nvSpPr>
          <p:cNvPr id="21" name="Text 19"/>
          <p:cNvSpPr txBox="1"/>
          <p:nvPr/>
        </p:nvSpPr>
        <p:spPr>
          <a:xfrm>
            <a:off x="8321040" y="2606040"/>
            <a:ext cx="3017520" cy="28346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202636"/>
                </a:solidFill>
              </a:rPr>
              <a:t>Evidencias académicas y seguimiento documental</a:t>
            </a:r>
            <a:endParaRPr lang="en-US" sz="1150" dirty="0"/>
          </a:p>
          <a:p>
            <a:pPr marL="152400" indent="-152400">
              <a:spcAft>
                <a:spcPts val="600"/>
              </a:spcAft>
              <a:buSzPct val="100000"/>
              <a:buChar char="•"/>
            </a:pPr>
            <a:r>
              <a:rPr lang="en-US" sz="1150" dirty="0">
                <a:solidFill>
                  <a:srgbClr val="202636"/>
                </a:solidFill>
              </a:rPr>
              <a:t>Desde octubre: tablero de métricas y exportación de eventos</a:t>
            </a:r>
            <a:endParaRPr lang="en-US" sz="1150" dirty="0"/>
          </a:p>
          <a:p>
            <a:pPr marL="152400" indent="-152400">
              <a:spcAft>
                <a:spcPts val="600"/>
              </a:spcAft>
              <a:buSzPct val="100000"/>
              <a:buChar char="•"/>
            </a:pPr>
            <a:r>
              <a:rPr lang="en-US" sz="1150" dirty="0">
                <a:solidFill>
                  <a:srgbClr val="202636"/>
                </a:solidFill>
              </a:rPr>
              <a:t>Encargos acotados del panel y del servidor</a:t>
            </a:r>
            <a:endParaRPr lang="en-US" sz="1150" dirty="0"/>
          </a:p>
          <a:p>
            <a:pPr marL="152400" indent="-152400">
              <a:spcAft>
                <a:spcPts val="600"/>
              </a:spcAft>
              <a:buSzPct val="100000"/>
              <a:buChar char="•"/>
            </a:pPr>
            <a:r>
              <a:rPr lang="en-US" sz="1150" dirty="0">
                <a:solidFill>
                  <a:srgbClr val="202636"/>
                </a:solidFill>
              </a:rPr>
              <a:t>Pruebas en pantalla y recorrido con teclado</a:t>
            </a:r>
            <a:endParaRPr lang="en-US" sz="1150" dirty="0"/>
          </a:p>
          <a:p>
            <a:pPr marL="152400" indent="-152400">
              <a:spcAft>
                <a:spcPts val="600"/>
              </a:spcAft>
              <a:buSzPct val="100000"/>
              <a:buChar char="•"/>
            </a:pPr>
            <a:r>
              <a:rPr lang="en-US" sz="1150" dirty="0">
                <a:solidFill>
                  <a:srgbClr val="202636"/>
                </a:solidFill>
              </a:rPr>
              <a:t>Apoyo en la presentación y los informes</a:t>
            </a:r>
            <a:endParaRPr lang="en-US" sz="1150" dirty="0"/>
          </a:p>
        </p:txBody>
      </p:sp>
      <p:sp>
        <p:nvSpPr>
          <p:cNvPr id="22" name="Shape 20"/>
          <p:cNvSpPr/>
          <p:nvPr/>
        </p:nvSpPr>
        <p:spPr>
          <a:xfrm>
            <a:off x="548640" y="5715000"/>
            <a:ext cx="11064240" cy="502920"/>
          </a:xfrm>
          <a:prstGeom prst="roundRect">
            <a:avLst>
              <a:gd name="adj" fmla="val 21818"/>
            </a:avLst>
          </a:prstGeom>
          <a:solidFill>
            <a:srgbClr val="F0EEFF"/>
          </a:solidFill>
          <a:ln w="12700">
            <a:solidFill>
              <a:srgbClr val="F0EEFF"/>
            </a:solidFill>
            <a:prstDash val="solid"/>
          </a:ln>
        </p:spPr>
      </p:sp>
      <p:sp>
        <p:nvSpPr>
          <p:cNvPr id="23" name="Text 21"/>
          <p:cNvSpPr txBox="1"/>
          <p:nvPr/>
        </p:nvSpPr>
        <p:spPr>
          <a:xfrm>
            <a:off x="822960" y="5742432"/>
            <a:ext cx="10515600" cy="457200"/>
          </a:xfrm>
          <a:prstGeom prst="rect">
            <a:avLst/>
          </a:prstGeom>
          <a:noFill/>
          <a:ln/>
        </p:spPr>
        <p:txBody>
          <a:bodyPr wrap="square" lIns="0" tIns="0" rIns="0" bIns="0" rtlCol="0" anchor="ctr"/>
          <a:lstStyle/>
          <a:p>
            <a:pPr indent="0" marL="0">
              <a:buNone/>
            </a:pPr>
            <a:r>
              <a:rPr lang="en-US" sz="1150" dirty="0">
                <a:solidFill>
                  <a:srgbClr val="243B6B"/>
                </a:solidFill>
              </a:rPr>
              <a:t>Los tres participamos en la planificación, en las revisiones de cada sprint y en las decisiones de alcance. Desde el 7 de octubre la documentación de seguimiento la consolida una sola vía, a partir de lo que cada integrante deja escrito en su cambio.</a:t>
            </a:r>
            <a:endParaRPr lang="en-US" sz="1150" dirty="0"/>
          </a:p>
        </p:txBody>
      </p:sp>
      <p:sp>
        <p:nvSpPr>
          <p:cNvPr id="24" name="Text 22"/>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25" name="Text 23"/>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Tania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ARQUITECTURA</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Todo pasa por el servidor</a:t>
            </a:r>
            <a:endParaRPr lang="en-US" sz="3000" dirty="0"/>
          </a:p>
        </p:txBody>
      </p:sp>
      <p:sp>
        <p:nvSpPr>
          <p:cNvPr id="4" name="Shape 2"/>
          <p:cNvSpPr/>
          <p:nvPr/>
        </p:nvSpPr>
        <p:spPr>
          <a:xfrm>
            <a:off x="548640" y="1600200"/>
            <a:ext cx="3017520" cy="1828800"/>
          </a:xfrm>
          <a:prstGeom prst="roundRect">
            <a:avLst>
              <a:gd name="adj" fmla="val 6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5" name="Text 3"/>
          <p:cNvSpPr txBox="1"/>
          <p:nvPr/>
        </p:nvSpPr>
        <p:spPr>
          <a:xfrm>
            <a:off x="777240" y="1783080"/>
            <a:ext cx="2560320" cy="365760"/>
          </a:xfrm>
          <a:prstGeom prst="rect">
            <a:avLst/>
          </a:prstGeom>
          <a:noFill/>
          <a:ln/>
        </p:spPr>
        <p:txBody>
          <a:bodyPr wrap="square" lIns="0" tIns="0" rIns="0" bIns="0" rtlCol="0" anchor="t"/>
          <a:lstStyle/>
          <a:p>
            <a:pPr indent="0" marL="0">
              <a:buNone/>
            </a:pPr>
            <a:r>
              <a:rPr lang="en-US" sz="1500" b="1" dirty="0">
                <a:solidFill>
                  <a:srgbClr val="172442"/>
                </a:solidFill>
              </a:rPr>
              <a:t>Aplicación móvil</a:t>
            </a:r>
            <a:endParaRPr lang="en-US" sz="1500" dirty="0"/>
          </a:p>
        </p:txBody>
      </p:sp>
      <p:sp>
        <p:nvSpPr>
          <p:cNvPr id="6" name="Text 4"/>
          <p:cNvSpPr txBox="1"/>
          <p:nvPr/>
        </p:nvSpPr>
        <p:spPr>
          <a:xfrm>
            <a:off x="777240" y="2148840"/>
            <a:ext cx="2560320" cy="457200"/>
          </a:xfrm>
          <a:prstGeom prst="rect">
            <a:avLst/>
          </a:prstGeom>
          <a:noFill/>
          <a:ln/>
        </p:spPr>
        <p:txBody>
          <a:bodyPr wrap="square" lIns="0" tIns="0" rIns="0" bIns="0" rtlCol="0" anchor="t"/>
          <a:lstStyle/>
          <a:p>
            <a:pPr indent="0" marL="0">
              <a:buNone/>
            </a:pPr>
            <a:r>
              <a:rPr lang="en-US" sz="1100" b="1" dirty="0">
                <a:solidFill>
                  <a:srgbClr val="7C6EE6"/>
                </a:solidFill>
              </a:rPr>
              <a:t>Clientes y maestros · Flutter</a:t>
            </a:r>
            <a:endParaRPr lang="en-US" sz="1100" dirty="0"/>
          </a:p>
        </p:txBody>
      </p:sp>
      <p:sp>
        <p:nvSpPr>
          <p:cNvPr id="7" name="Text 5"/>
          <p:cNvSpPr txBox="1"/>
          <p:nvPr/>
        </p:nvSpPr>
        <p:spPr>
          <a:xfrm>
            <a:off x="777240" y="2606040"/>
            <a:ext cx="2560320" cy="73152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Solo muestra lo que el servidor le entrega. No decide montos ni estados.</a:t>
            </a:r>
            <a:endParaRPr lang="en-US" sz="1100" dirty="0"/>
          </a:p>
        </p:txBody>
      </p:sp>
      <p:sp>
        <p:nvSpPr>
          <p:cNvPr id="8" name="Shape 6"/>
          <p:cNvSpPr/>
          <p:nvPr/>
        </p:nvSpPr>
        <p:spPr>
          <a:xfrm>
            <a:off x="548640" y="3749040"/>
            <a:ext cx="3017520" cy="1828800"/>
          </a:xfrm>
          <a:prstGeom prst="roundRect">
            <a:avLst>
              <a:gd name="adj" fmla="val 6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9" name="Text 7"/>
          <p:cNvSpPr txBox="1"/>
          <p:nvPr/>
        </p:nvSpPr>
        <p:spPr>
          <a:xfrm>
            <a:off x="777240" y="3931920"/>
            <a:ext cx="2560320" cy="365760"/>
          </a:xfrm>
          <a:prstGeom prst="rect">
            <a:avLst/>
          </a:prstGeom>
          <a:noFill/>
          <a:ln/>
        </p:spPr>
        <p:txBody>
          <a:bodyPr wrap="square" lIns="0" tIns="0" rIns="0" bIns="0" rtlCol="0" anchor="t"/>
          <a:lstStyle/>
          <a:p>
            <a:pPr indent="0" marL="0">
              <a:buNone/>
            </a:pPr>
            <a:r>
              <a:rPr lang="en-US" sz="1500" b="1" dirty="0">
                <a:solidFill>
                  <a:srgbClr val="172442"/>
                </a:solidFill>
              </a:rPr>
              <a:t>Torre de control</a:t>
            </a:r>
            <a:endParaRPr lang="en-US" sz="1500" dirty="0"/>
          </a:p>
        </p:txBody>
      </p:sp>
      <p:sp>
        <p:nvSpPr>
          <p:cNvPr id="10" name="Text 8"/>
          <p:cNvSpPr txBox="1"/>
          <p:nvPr/>
        </p:nvSpPr>
        <p:spPr>
          <a:xfrm>
            <a:off x="777240" y="4297680"/>
            <a:ext cx="2560320" cy="457200"/>
          </a:xfrm>
          <a:prstGeom prst="rect">
            <a:avLst/>
          </a:prstGeom>
          <a:noFill/>
          <a:ln/>
        </p:spPr>
        <p:txBody>
          <a:bodyPr wrap="square" lIns="0" tIns="0" rIns="0" bIns="0" rtlCol="0" anchor="t"/>
          <a:lstStyle/>
          <a:p>
            <a:pPr indent="0" marL="0">
              <a:buNone/>
            </a:pPr>
            <a:r>
              <a:rPr lang="en-US" sz="1100" b="1" dirty="0">
                <a:solidFill>
                  <a:srgbClr val="7C6EE6"/>
                </a:solidFill>
              </a:rPr>
              <a:t>Operaciones · Angular</a:t>
            </a:r>
            <a:endParaRPr lang="en-US" sz="1100" dirty="0"/>
          </a:p>
        </p:txBody>
      </p:sp>
      <p:sp>
        <p:nvSpPr>
          <p:cNvPr id="11" name="Text 9"/>
          <p:cNvSpPr txBox="1"/>
          <p:nvPr/>
        </p:nvSpPr>
        <p:spPr>
          <a:xfrm>
            <a:off x="777240" y="4754880"/>
            <a:ext cx="2560320" cy="73152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Aprueba registros, revisa verificaciones y disputas, ajusta parámetros y mira las métricas.</a:t>
            </a:r>
            <a:endParaRPr lang="en-US" sz="1100" dirty="0"/>
          </a:p>
        </p:txBody>
      </p:sp>
      <p:sp>
        <p:nvSpPr>
          <p:cNvPr id="12" name="Shape 10"/>
          <p:cNvSpPr/>
          <p:nvPr/>
        </p:nvSpPr>
        <p:spPr>
          <a:xfrm>
            <a:off x="4343400" y="2331720"/>
            <a:ext cx="3474720" cy="2514600"/>
          </a:xfrm>
          <a:prstGeom prst="roundRect">
            <a:avLst>
              <a:gd name="adj" fmla="val 4364"/>
            </a:avLst>
          </a:prstGeom>
          <a:solidFill>
            <a:srgbClr val="243B6B"/>
          </a:solidFill>
          <a:ln w="12700">
            <a:solidFill>
              <a:srgbClr val="243B6B"/>
            </a:solidFill>
            <a:prstDash val="solid"/>
          </a:ln>
        </p:spPr>
      </p:sp>
      <p:sp>
        <p:nvSpPr>
          <p:cNvPr id="13" name="Text 11"/>
          <p:cNvSpPr txBox="1"/>
          <p:nvPr/>
        </p:nvSpPr>
        <p:spPr>
          <a:xfrm>
            <a:off x="4572000" y="2514600"/>
            <a:ext cx="3017520" cy="365760"/>
          </a:xfrm>
          <a:prstGeom prst="rect">
            <a:avLst/>
          </a:prstGeom>
          <a:noFill/>
          <a:ln/>
        </p:spPr>
        <p:txBody>
          <a:bodyPr wrap="square" lIns="0" tIns="0" rIns="0" bIns="0" rtlCol="0" anchor="t"/>
          <a:lstStyle/>
          <a:p>
            <a:pPr indent="0" marL="0">
              <a:buNone/>
            </a:pPr>
            <a:r>
              <a:rPr lang="en-US" sz="1500" b="1" dirty="0">
                <a:solidFill>
                  <a:srgbClr val="FFFFFF"/>
                </a:solidFill>
              </a:rPr>
              <a:t>Servidor en la nube</a:t>
            </a:r>
            <a:endParaRPr lang="en-US" sz="1500" dirty="0"/>
          </a:p>
        </p:txBody>
      </p:sp>
      <p:sp>
        <p:nvSpPr>
          <p:cNvPr id="14" name="Text 12"/>
          <p:cNvSpPr txBox="1"/>
          <p:nvPr/>
        </p:nvSpPr>
        <p:spPr>
          <a:xfrm>
            <a:off x="4572000" y="2880360"/>
            <a:ext cx="3017520" cy="457200"/>
          </a:xfrm>
          <a:prstGeom prst="rect">
            <a:avLst/>
          </a:prstGeom>
          <a:noFill/>
          <a:ln/>
        </p:spPr>
        <p:txBody>
          <a:bodyPr wrap="square" lIns="0" tIns="0" rIns="0" bIns="0" rtlCol="0" anchor="t"/>
          <a:lstStyle/>
          <a:p>
            <a:pPr indent="0" marL="0">
              <a:buNone/>
            </a:pPr>
            <a:r>
              <a:rPr lang="en-US" sz="1100" b="1" dirty="0">
                <a:solidFill>
                  <a:srgbClr val="A9B4CC"/>
                </a:solidFill>
              </a:rPr>
              <a:t>NestJS · Google Cloud</a:t>
            </a:r>
            <a:endParaRPr lang="en-US" sz="1100" dirty="0"/>
          </a:p>
        </p:txBody>
      </p:sp>
      <p:sp>
        <p:nvSpPr>
          <p:cNvPr id="15" name="Text 13"/>
          <p:cNvSpPr txBox="1"/>
          <p:nvPr/>
        </p:nvSpPr>
        <p:spPr>
          <a:xfrm>
            <a:off x="4572000" y="3337560"/>
            <a:ext cx="3017520" cy="1417320"/>
          </a:xfrm>
          <a:prstGeom prst="rect">
            <a:avLst/>
          </a:prstGeom>
          <a:noFill/>
          <a:ln/>
        </p:spPr>
        <p:txBody>
          <a:bodyPr wrap="square" lIns="0" tIns="0" rIns="0" bIns="0" rtlCol="0" anchor="t"/>
          <a:lstStyle/>
          <a:p>
            <a:pPr indent="0" marL="0">
              <a:lnSpc>
                <a:spcPct val="108000"/>
              </a:lnSpc>
              <a:buNone/>
            </a:pPr>
            <a:r>
              <a:rPr lang="en-US" sz="1100" dirty="0">
                <a:solidFill>
                  <a:srgbClr val="FFFFFF"/>
                </a:solidFill>
              </a:rPr>
              <a:t>Calcula todos los montos, valida cada permiso y cambia el estado de cada servicio. Publica el contrato que usan la app y el panel.</a:t>
            </a:r>
            <a:endParaRPr lang="en-US" sz="1100" dirty="0"/>
          </a:p>
        </p:txBody>
      </p:sp>
      <p:sp>
        <p:nvSpPr>
          <p:cNvPr id="16" name="Shape 14"/>
          <p:cNvSpPr/>
          <p:nvPr/>
        </p:nvSpPr>
        <p:spPr>
          <a:xfrm>
            <a:off x="8595360" y="1600200"/>
            <a:ext cx="3017520" cy="1828800"/>
          </a:xfrm>
          <a:prstGeom prst="roundRect">
            <a:avLst>
              <a:gd name="adj" fmla="val 6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7" name="Text 15"/>
          <p:cNvSpPr txBox="1"/>
          <p:nvPr/>
        </p:nvSpPr>
        <p:spPr>
          <a:xfrm>
            <a:off x="8823960" y="1783080"/>
            <a:ext cx="2560320" cy="365760"/>
          </a:xfrm>
          <a:prstGeom prst="rect">
            <a:avLst/>
          </a:prstGeom>
          <a:noFill/>
          <a:ln/>
        </p:spPr>
        <p:txBody>
          <a:bodyPr wrap="square" lIns="0" tIns="0" rIns="0" bIns="0" rtlCol="0" anchor="t"/>
          <a:lstStyle/>
          <a:p>
            <a:pPr indent="0" marL="0">
              <a:buNone/>
            </a:pPr>
            <a:r>
              <a:rPr lang="en-US" sz="1500" b="1" dirty="0">
                <a:solidFill>
                  <a:srgbClr val="172442"/>
                </a:solidFill>
              </a:rPr>
              <a:t>Base de datos</a:t>
            </a:r>
            <a:endParaRPr lang="en-US" sz="1500" dirty="0"/>
          </a:p>
        </p:txBody>
      </p:sp>
      <p:sp>
        <p:nvSpPr>
          <p:cNvPr id="18" name="Text 16"/>
          <p:cNvSpPr txBox="1"/>
          <p:nvPr/>
        </p:nvSpPr>
        <p:spPr>
          <a:xfrm>
            <a:off x="8823960" y="2148840"/>
            <a:ext cx="2560320" cy="457200"/>
          </a:xfrm>
          <a:prstGeom prst="rect">
            <a:avLst/>
          </a:prstGeom>
          <a:noFill/>
          <a:ln/>
        </p:spPr>
        <p:txBody>
          <a:bodyPr wrap="square" lIns="0" tIns="0" rIns="0" bIns="0" rtlCol="0" anchor="t"/>
          <a:lstStyle/>
          <a:p>
            <a:pPr indent="0" marL="0">
              <a:buNone/>
            </a:pPr>
            <a:r>
              <a:rPr lang="en-US" sz="1100" b="1" dirty="0">
                <a:solidFill>
                  <a:srgbClr val="7C6EE6"/>
                </a:solidFill>
              </a:rPr>
              <a:t>PostgreSQL con PostGIS</a:t>
            </a:r>
            <a:endParaRPr lang="en-US" sz="1100" dirty="0"/>
          </a:p>
        </p:txBody>
      </p:sp>
      <p:sp>
        <p:nvSpPr>
          <p:cNvPr id="19" name="Text 17"/>
          <p:cNvSpPr txBox="1"/>
          <p:nvPr/>
        </p:nvSpPr>
        <p:spPr>
          <a:xfrm>
            <a:off x="8823960" y="2606040"/>
            <a:ext cx="2560320" cy="73152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Guarda los datos, hace cumplir las reglas y sabe en qué comuna cae cada dirección.</a:t>
            </a:r>
            <a:endParaRPr lang="en-US" sz="1100" dirty="0"/>
          </a:p>
        </p:txBody>
      </p:sp>
      <p:sp>
        <p:nvSpPr>
          <p:cNvPr id="20" name="Shape 18"/>
          <p:cNvSpPr/>
          <p:nvPr/>
        </p:nvSpPr>
        <p:spPr>
          <a:xfrm>
            <a:off x="8595360" y="3749040"/>
            <a:ext cx="3017520" cy="1828800"/>
          </a:xfrm>
          <a:prstGeom prst="roundRect">
            <a:avLst>
              <a:gd name="adj" fmla="val 6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1" name="Text 19"/>
          <p:cNvSpPr txBox="1"/>
          <p:nvPr/>
        </p:nvSpPr>
        <p:spPr>
          <a:xfrm>
            <a:off x="8823960" y="3931920"/>
            <a:ext cx="2560320" cy="365760"/>
          </a:xfrm>
          <a:prstGeom prst="rect">
            <a:avLst/>
          </a:prstGeom>
          <a:noFill/>
          <a:ln/>
        </p:spPr>
        <p:txBody>
          <a:bodyPr wrap="square" lIns="0" tIns="0" rIns="0" bIns="0" rtlCol="0" anchor="t"/>
          <a:lstStyle/>
          <a:p>
            <a:pPr indent="0" marL="0">
              <a:buNone/>
            </a:pPr>
            <a:r>
              <a:rPr lang="en-US" sz="1500" b="1" dirty="0">
                <a:solidFill>
                  <a:srgbClr val="172442"/>
                </a:solidFill>
              </a:rPr>
              <a:t>Servicios externos</a:t>
            </a:r>
            <a:endParaRPr lang="en-US" sz="1500" dirty="0"/>
          </a:p>
        </p:txBody>
      </p:sp>
      <p:sp>
        <p:nvSpPr>
          <p:cNvPr id="22" name="Text 20"/>
          <p:cNvSpPr txBox="1"/>
          <p:nvPr/>
        </p:nvSpPr>
        <p:spPr>
          <a:xfrm>
            <a:off x="8823960" y="4297680"/>
            <a:ext cx="2560320" cy="457200"/>
          </a:xfrm>
          <a:prstGeom prst="rect">
            <a:avLst/>
          </a:prstGeom>
          <a:noFill/>
          <a:ln/>
        </p:spPr>
        <p:txBody>
          <a:bodyPr wrap="square" lIns="0" tIns="0" rIns="0" bIns="0" rtlCol="0" anchor="t"/>
          <a:lstStyle/>
          <a:p>
            <a:pPr indent="0" marL="0">
              <a:buNone/>
            </a:pPr>
            <a:r>
              <a:rPr lang="en-US" sz="1100" b="1" dirty="0">
                <a:solidFill>
                  <a:srgbClr val="7C6EE6"/>
                </a:solidFill>
              </a:rPr>
              <a:t>Pagos · Mapas · Mensajería · Identidad · Licencia SEC</a:t>
            </a:r>
            <a:endParaRPr lang="en-US" sz="1100" dirty="0"/>
          </a:p>
        </p:txBody>
      </p:sp>
      <p:sp>
        <p:nvSpPr>
          <p:cNvPr id="23" name="Text 21"/>
          <p:cNvSpPr txBox="1"/>
          <p:nvPr/>
        </p:nvSpPr>
        <p:spPr>
          <a:xfrm>
            <a:off x="8823960" y="4754880"/>
            <a:ext cx="2560320" cy="73152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Cada uno entra por una única puerta en el servidor: se puede cambiar de proveedor sin tocar el resto.</a:t>
            </a:r>
            <a:endParaRPr lang="en-US" sz="1100" dirty="0"/>
          </a:p>
        </p:txBody>
      </p:sp>
      <p:sp>
        <p:nvSpPr>
          <p:cNvPr id="24" name="Shape 22"/>
          <p:cNvSpPr/>
          <p:nvPr/>
        </p:nvSpPr>
        <p:spPr>
          <a:xfrm>
            <a:off x="3566160" y="2514600"/>
            <a:ext cx="777240" cy="594360"/>
          </a:xfrm>
          <a:prstGeom prst="line">
            <a:avLst/>
          </a:prstGeom>
          <a:noFill/>
          <a:ln w="22225">
            <a:solidFill>
              <a:srgbClr val="7C6EE6"/>
            </a:solidFill>
            <a:prstDash val="solid"/>
          </a:ln>
        </p:spPr>
      </p:sp>
      <p:sp>
        <p:nvSpPr>
          <p:cNvPr id="25" name="Shape 23"/>
          <p:cNvSpPr/>
          <p:nvPr/>
        </p:nvSpPr>
        <p:spPr>
          <a:xfrm>
            <a:off x="3566160" y="4663440"/>
            <a:ext cx="777240" cy="-457200"/>
          </a:xfrm>
          <a:prstGeom prst="line">
            <a:avLst/>
          </a:prstGeom>
          <a:noFill/>
          <a:ln w="22225">
            <a:solidFill>
              <a:srgbClr val="7C6EE6"/>
            </a:solidFill>
            <a:prstDash val="solid"/>
          </a:ln>
        </p:spPr>
      </p:sp>
      <p:sp>
        <p:nvSpPr>
          <p:cNvPr id="26" name="Shape 24"/>
          <p:cNvSpPr/>
          <p:nvPr/>
        </p:nvSpPr>
        <p:spPr>
          <a:xfrm>
            <a:off x="7818120" y="3108960"/>
            <a:ext cx="777240" cy="-594360"/>
          </a:xfrm>
          <a:prstGeom prst="line">
            <a:avLst/>
          </a:prstGeom>
          <a:noFill/>
          <a:ln w="22225">
            <a:solidFill>
              <a:srgbClr val="7C6EE6"/>
            </a:solidFill>
            <a:prstDash val="solid"/>
          </a:ln>
        </p:spPr>
      </p:sp>
      <p:sp>
        <p:nvSpPr>
          <p:cNvPr id="27" name="Shape 25"/>
          <p:cNvSpPr/>
          <p:nvPr/>
        </p:nvSpPr>
        <p:spPr>
          <a:xfrm>
            <a:off x="7818120" y="4206240"/>
            <a:ext cx="777240" cy="457200"/>
          </a:xfrm>
          <a:prstGeom prst="line">
            <a:avLst/>
          </a:prstGeom>
          <a:noFill/>
          <a:ln w="22225">
            <a:solidFill>
              <a:srgbClr val="7C6EE6"/>
            </a:solidFill>
            <a:prstDash val="solid"/>
          </a:ln>
        </p:spPr>
      </p:sp>
      <p:sp>
        <p:nvSpPr>
          <p:cNvPr id="28" name="Shape 26"/>
          <p:cNvSpPr/>
          <p:nvPr/>
        </p:nvSpPr>
        <p:spPr>
          <a:xfrm>
            <a:off x="548640" y="5760720"/>
            <a:ext cx="11064240" cy="457200"/>
          </a:xfrm>
          <a:prstGeom prst="roundRect">
            <a:avLst>
              <a:gd name="adj" fmla="val 24000"/>
            </a:avLst>
          </a:prstGeom>
          <a:solidFill>
            <a:srgbClr val="E6F4F0"/>
          </a:solidFill>
          <a:ln w="12700">
            <a:solidFill>
              <a:srgbClr val="E6F4F0"/>
            </a:solidFill>
            <a:prstDash val="solid"/>
          </a:ln>
        </p:spPr>
      </p:sp>
      <p:sp>
        <p:nvSpPr>
          <p:cNvPr id="29" name="Text 27"/>
          <p:cNvSpPr txBox="1"/>
          <p:nvPr/>
        </p:nvSpPr>
        <p:spPr>
          <a:xfrm>
            <a:off x="822960" y="5788152"/>
            <a:ext cx="10515600" cy="411480"/>
          </a:xfrm>
          <a:prstGeom prst="rect">
            <a:avLst/>
          </a:prstGeom>
          <a:noFill/>
          <a:ln/>
        </p:spPr>
        <p:txBody>
          <a:bodyPr wrap="square" lIns="0" tIns="0" rIns="0" bIns="0" rtlCol="0" anchor="ctr"/>
          <a:lstStyle/>
          <a:p>
            <a:pPr indent="0" marL="0">
              <a:buNone/>
            </a:pPr>
            <a:r>
              <a:rPr lang="en-US" sz="1150" dirty="0">
                <a:solidFill>
                  <a:srgbClr val="16856B"/>
                </a:solidFill>
              </a:rPr>
              <a:t>Dos reglas sostienen todo: los montos se calculan solo en el servidor, nunca en el teléfono; y solo el servidor puede cambiar el estado de un servicio, que pasa por ocho estados fijos. El documento de arquitectura sigue el modelo de vistas 4+1.</a:t>
            </a:r>
            <a:endParaRPr lang="en-US" sz="1150" dirty="0"/>
          </a:p>
        </p:txBody>
      </p:sp>
      <p:sp>
        <p:nvSpPr>
          <p:cNvPr id="30" name="Text 28"/>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31" name="Text 29"/>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Mauricio</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BASE DE DATOS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Un modelo relacional que protege los estados y el dinero</a:t>
            </a:r>
            <a:endParaRPr lang="en-US" sz="3000" dirty="0"/>
          </a:p>
        </p:txBody>
      </p:sp>
      <p:sp>
        <p:nvSpPr>
          <p:cNvPr id="4" name="Shape 2"/>
          <p:cNvSpPr/>
          <p:nvPr/>
        </p:nvSpPr>
        <p:spPr>
          <a:xfrm>
            <a:off x="548640" y="1417320"/>
            <a:ext cx="6035040" cy="4754880"/>
          </a:xfrm>
          <a:prstGeom prst="roundRect">
            <a:avLst>
              <a:gd name="adj" fmla="val 2308"/>
            </a:avLst>
          </a:prstGeom>
          <a:solidFill>
            <a:srgbClr val="F6F7FB"/>
          </a:solidFill>
          <a:ln w="12700">
            <a:solidFill>
              <a:srgbClr val="F6F7FB"/>
            </a:solidFill>
            <a:prstDash val="solid"/>
          </a:ln>
        </p:spPr>
      </p:sp>
      <p:pic>
        <p:nvPicPr>
          <p:cNvPr id="5" name="Image 0" descr="/private/tmp/claude-501/-Users-mauriciops-Proyectos-relwo-capstone/1a8b5f2b-d3d9-4b63-bfed-da79668ca276/scratchpad/pptx-build/assets/mer3.png">    </p:cNvPr>
          <p:cNvPicPr>
            <a:picLocks noChangeAspect="1"/>
          </p:cNvPicPr>
          <p:nvPr/>
        </p:nvPicPr>
        <p:blipFill>
          <a:blip r:embed="rId1"/>
          <a:srcRect l="0" r="0" t="0" b="0"/>
          <a:stretch/>
        </p:blipFill>
        <p:spPr>
          <a:xfrm>
            <a:off x="685800" y="1554480"/>
            <a:ext cx="5760720" cy="4206240"/>
          </a:xfrm>
          <a:prstGeom prst="rect">
            <a:avLst/>
          </a:prstGeom>
        </p:spPr>
      </p:pic>
      <p:sp>
        <p:nvSpPr>
          <p:cNvPr id="6" name="Text 3"/>
          <p:cNvSpPr txBox="1"/>
          <p:nvPr/>
        </p:nvSpPr>
        <p:spPr>
          <a:xfrm>
            <a:off x="685800" y="5806440"/>
            <a:ext cx="5760720" cy="320040"/>
          </a:xfrm>
          <a:prstGeom prst="rect">
            <a:avLst/>
          </a:prstGeom>
          <a:noFill/>
          <a:ln/>
        </p:spPr>
        <p:txBody>
          <a:bodyPr wrap="square" lIns="0" tIns="0" rIns="0" bIns="0" rtlCol="0" anchor="t"/>
          <a:lstStyle/>
          <a:p>
            <a:pPr algn="ctr" indent="0" marL="0">
              <a:buNone/>
            </a:pPr>
            <a:r>
              <a:rPr lang="en-US" sz="1000" dirty="0">
                <a:solidFill>
                  <a:srgbClr val="667085"/>
                </a:solidFill>
              </a:rPr>
              <a:t>Modelo entidad relación del dominio de solicitud, publicación y ofertas (uno de los seis dominios).</a:t>
            </a:r>
            <a:endParaRPr lang="en-US" sz="1000" dirty="0"/>
          </a:p>
        </p:txBody>
      </p:sp>
      <p:sp>
        <p:nvSpPr>
          <p:cNvPr id="7" name="Shape 4"/>
          <p:cNvSpPr/>
          <p:nvPr/>
        </p:nvSpPr>
        <p:spPr>
          <a:xfrm>
            <a:off x="6858000" y="1417320"/>
            <a:ext cx="1508760" cy="1234440"/>
          </a:xfrm>
          <a:prstGeom prst="roundRect">
            <a:avLst>
              <a:gd name="adj" fmla="val 7407"/>
            </a:avLst>
          </a:prstGeom>
          <a:solidFill>
            <a:srgbClr val="F0EEFF"/>
          </a:solidFill>
          <a:ln w="12700">
            <a:solidFill>
              <a:srgbClr val="F0EEFF"/>
            </a:solidFill>
            <a:prstDash val="solid"/>
          </a:ln>
        </p:spPr>
      </p:sp>
      <p:sp>
        <p:nvSpPr>
          <p:cNvPr id="8" name="Text 5"/>
          <p:cNvSpPr txBox="1"/>
          <p:nvPr/>
        </p:nvSpPr>
        <p:spPr>
          <a:xfrm>
            <a:off x="7086600" y="1554480"/>
            <a:ext cx="1051560" cy="548640"/>
          </a:xfrm>
          <a:prstGeom prst="rect">
            <a:avLst/>
          </a:prstGeom>
          <a:noFill/>
          <a:ln/>
        </p:spPr>
        <p:txBody>
          <a:bodyPr wrap="square" lIns="0" tIns="0" rIns="0" bIns="0" rtlCol="0" anchor="t"/>
          <a:lstStyle/>
          <a:p>
            <a:pPr indent="0" marL="0">
              <a:buNone/>
            </a:pPr>
            <a:r>
              <a:rPr lang="en-US" sz="2200" b="1" dirty="0">
                <a:solidFill>
                  <a:srgbClr val="243B6B"/>
                </a:solidFill>
              </a:rPr>
              <a:t>55</a:t>
            </a:r>
            <a:endParaRPr lang="en-US" sz="2200" dirty="0"/>
          </a:p>
        </p:txBody>
      </p:sp>
      <p:sp>
        <p:nvSpPr>
          <p:cNvPr id="9" name="Text 6"/>
          <p:cNvSpPr txBox="1"/>
          <p:nvPr/>
        </p:nvSpPr>
        <p:spPr>
          <a:xfrm>
            <a:off x="7086600" y="2130552"/>
            <a:ext cx="1051560" cy="457200"/>
          </a:xfrm>
          <a:prstGeom prst="rect">
            <a:avLst/>
          </a:prstGeom>
          <a:noFill/>
          <a:ln/>
        </p:spPr>
        <p:txBody>
          <a:bodyPr wrap="square" lIns="0" tIns="0" rIns="0" bIns="0" rtlCol="0" anchor="t"/>
          <a:lstStyle/>
          <a:p>
            <a:pPr indent="0" marL="0">
              <a:buNone/>
            </a:pPr>
            <a:r>
              <a:rPr lang="en-US" sz="1150" dirty="0">
                <a:solidFill>
                  <a:srgbClr val="667085"/>
                </a:solidFill>
              </a:rPr>
              <a:t>tablas en seis dominios</a:t>
            </a:r>
            <a:endParaRPr lang="en-US" sz="1150" dirty="0"/>
          </a:p>
        </p:txBody>
      </p:sp>
      <p:sp>
        <p:nvSpPr>
          <p:cNvPr id="10" name="Shape 7"/>
          <p:cNvSpPr/>
          <p:nvPr/>
        </p:nvSpPr>
        <p:spPr>
          <a:xfrm>
            <a:off x="8458200" y="1417320"/>
            <a:ext cx="1508760" cy="1234440"/>
          </a:xfrm>
          <a:prstGeom prst="roundRect">
            <a:avLst>
              <a:gd name="adj" fmla="val 7407"/>
            </a:avLst>
          </a:prstGeom>
          <a:solidFill>
            <a:srgbClr val="F0EEFF"/>
          </a:solidFill>
          <a:ln w="12700">
            <a:solidFill>
              <a:srgbClr val="F0EEFF"/>
            </a:solidFill>
            <a:prstDash val="solid"/>
          </a:ln>
        </p:spPr>
      </p:sp>
      <p:sp>
        <p:nvSpPr>
          <p:cNvPr id="11" name="Text 8"/>
          <p:cNvSpPr txBox="1"/>
          <p:nvPr/>
        </p:nvSpPr>
        <p:spPr>
          <a:xfrm>
            <a:off x="8686800" y="1554480"/>
            <a:ext cx="1051560" cy="548640"/>
          </a:xfrm>
          <a:prstGeom prst="rect">
            <a:avLst/>
          </a:prstGeom>
          <a:noFill/>
          <a:ln/>
        </p:spPr>
        <p:txBody>
          <a:bodyPr wrap="square" lIns="0" tIns="0" rIns="0" bIns="0" rtlCol="0" anchor="t"/>
          <a:lstStyle/>
          <a:p>
            <a:pPr indent="0" marL="0">
              <a:buNone/>
            </a:pPr>
            <a:r>
              <a:rPr lang="en-US" sz="2200" b="1" dirty="0">
                <a:solidFill>
                  <a:srgbClr val="243B6B"/>
                </a:solidFill>
              </a:rPr>
              <a:t>≈ 100</a:t>
            </a:r>
            <a:endParaRPr lang="en-US" sz="2200" dirty="0"/>
          </a:p>
        </p:txBody>
      </p:sp>
      <p:sp>
        <p:nvSpPr>
          <p:cNvPr id="12" name="Text 9"/>
          <p:cNvSpPr txBox="1"/>
          <p:nvPr/>
        </p:nvSpPr>
        <p:spPr>
          <a:xfrm>
            <a:off x="8686800" y="2130552"/>
            <a:ext cx="1051560" cy="457200"/>
          </a:xfrm>
          <a:prstGeom prst="rect">
            <a:avLst/>
          </a:prstGeom>
          <a:noFill/>
          <a:ln/>
        </p:spPr>
        <p:txBody>
          <a:bodyPr wrap="square" lIns="0" tIns="0" rIns="0" bIns="0" rtlCol="0" anchor="t"/>
          <a:lstStyle/>
          <a:p>
            <a:pPr indent="0" marL="0">
              <a:buNone/>
            </a:pPr>
            <a:r>
              <a:rPr lang="en-US" sz="1150" dirty="0">
                <a:solidFill>
                  <a:srgbClr val="667085"/>
                </a:solidFill>
              </a:rPr>
              <a:t>relaciones entre tablas</a:t>
            </a:r>
            <a:endParaRPr lang="en-US" sz="1150" dirty="0"/>
          </a:p>
        </p:txBody>
      </p:sp>
      <p:sp>
        <p:nvSpPr>
          <p:cNvPr id="13" name="Shape 10"/>
          <p:cNvSpPr/>
          <p:nvPr/>
        </p:nvSpPr>
        <p:spPr>
          <a:xfrm>
            <a:off x="10058400" y="1417320"/>
            <a:ext cx="1508760" cy="1234440"/>
          </a:xfrm>
          <a:prstGeom prst="roundRect">
            <a:avLst>
              <a:gd name="adj" fmla="val 7407"/>
            </a:avLst>
          </a:prstGeom>
          <a:solidFill>
            <a:srgbClr val="F0EEFF"/>
          </a:solidFill>
          <a:ln w="12700">
            <a:solidFill>
              <a:srgbClr val="F0EEFF"/>
            </a:solidFill>
            <a:prstDash val="solid"/>
          </a:ln>
        </p:spPr>
      </p:sp>
      <p:sp>
        <p:nvSpPr>
          <p:cNvPr id="14" name="Text 11"/>
          <p:cNvSpPr txBox="1"/>
          <p:nvPr/>
        </p:nvSpPr>
        <p:spPr>
          <a:xfrm>
            <a:off x="10287000" y="1554480"/>
            <a:ext cx="1051560" cy="548640"/>
          </a:xfrm>
          <a:prstGeom prst="rect">
            <a:avLst/>
          </a:prstGeom>
          <a:noFill/>
          <a:ln/>
        </p:spPr>
        <p:txBody>
          <a:bodyPr wrap="square" lIns="0" tIns="0" rIns="0" bIns="0" rtlCol="0" anchor="t"/>
          <a:lstStyle/>
          <a:p>
            <a:pPr indent="0" marL="0">
              <a:buNone/>
            </a:pPr>
            <a:r>
              <a:rPr lang="en-US" sz="2200" b="1" dirty="0">
                <a:solidFill>
                  <a:srgbClr val="243B6B"/>
                </a:solidFill>
              </a:rPr>
              <a:t>69</a:t>
            </a:r>
            <a:endParaRPr lang="en-US" sz="2200" dirty="0"/>
          </a:p>
        </p:txBody>
      </p:sp>
      <p:sp>
        <p:nvSpPr>
          <p:cNvPr id="15" name="Text 12"/>
          <p:cNvSpPr txBox="1"/>
          <p:nvPr/>
        </p:nvSpPr>
        <p:spPr>
          <a:xfrm>
            <a:off x="10287000" y="2130552"/>
            <a:ext cx="1051560" cy="457200"/>
          </a:xfrm>
          <a:prstGeom prst="rect">
            <a:avLst/>
          </a:prstGeom>
          <a:noFill/>
          <a:ln/>
        </p:spPr>
        <p:txBody>
          <a:bodyPr wrap="square" lIns="0" tIns="0" rIns="0" bIns="0" rtlCol="0" anchor="t"/>
          <a:lstStyle/>
          <a:p>
            <a:pPr indent="0" marL="0">
              <a:buNone/>
            </a:pPr>
            <a:r>
              <a:rPr lang="en-US" sz="1150" dirty="0">
                <a:solidFill>
                  <a:srgbClr val="667085"/>
                </a:solidFill>
              </a:rPr>
              <a:t>migraciones escritas a mano</a:t>
            </a:r>
            <a:endParaRPr lang="en-US" sz="1150" dirty="0"/>
          </a:p>
        </p:txBody>
      </p:sp>
      <p:sp>
        <p:nvSpPr>
          <p:cNvPr id="16" name="Text 13"/>
          <p:cNvSpPr txBox="1"/>
          <p:nvPr/>
        </p:nvSpPr>
        <p:spPr>
          <a:xfrm>
            <a:off x="6858000" y="2834640"/>
            <a:ext cx="4754880" cy="329184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02636"/>
                </a:solidFill>
              </a:rPr>
              <a:t>Los ocho estados del servicio viven en la propia base: un servicio no puede saltarse estados ni quedar en uno inexistente.</a:t>
            </a:r>
            <a:endParaRPr lang="en-US" sz="1150" dirty="0"/>
          </a:p>
          <a:p>
            <a:pPr marL="152400" indent="-152400">
              <a:spcAft>
                <a:spcPts val="700"/>
              </a:spcAft>
              <a:buSzPct val="100000"/>
              <a:buChar char="•"/>
            </a:pPr>
            <a:r>
              <a:rPr lang="en-US" sz="1150" dirty="0">
                <a:solidFill>
                  <a:srgbClr val="202636"/>
                </a:solidFill>
              </a:rPr>
              <a:t>El registro de auditoría y los eventos de uso son de solo agregar: no se pueden modificar ni borrar.</a:t>
            </a:r>
            <a:endParaRPr lang="en-US" sz="1150" dirty="0"/>
          </a:p>
          <a:p>
            <a:pPr marL="152400" indent="-152400">
              <a:spcAft>
                <a:spcPts val="700"/>
              </a:spcAft>
              <a:buSzPct val="100000"/>
              <a:buChar char="•"/>
            </a:pPr>
            <a:r>
              <a:rPr lang="en-US" sz="1150" dirty="0">
                <a:solidFill>
                  <a:srgbClr val="202636"/>
                </a:solidFill>
              </a:rPr>
              <a:t>La aplicación usa un rol con permisos limitados; solo el rol dueño puede cambiar la estructura.</a:t>
            </a:r>
            <a:endParaRPr lang="en-US" sz="1150" dirty="0"/>
          </a:p>
          <a:p>
            <a:pPr marL="152400" indent="-152400">
              <a:spcAft>
                <a:spcPts val="700"/>
              </a:spcAft>
              <a:buSzPct val="100000"/>
              <a:buChar char="•"/>
            </a:pPr>
            <a:r>
              <a:rPr lang="en-US" sz="1150" dirty="0">
                <a:solidFill>
                  <a:srgbClr val="202636"/>
                </a:solidFill>
              </a:rPr>
              <a:t>La cobertura por comuna y la ruta del maestro usan geometría real de las 40 comunas.</a:t>
            </a:r>
            <a:endParaRPr lang="en-US" sz="1150" dirty="0"/>
          </a:p>
          <a:p>
            <a:pPr marL="152400" indent="-152400">
              <a:spcAft>
                <a:spcPts val="700"/>
              </a:spcAft>
              <a:buSzPct val="100000"/>
              <a:buChar char="•"/>
            </a:pPr>
            <a:r>
              <a:rPr lang="en-US" sz="1150" dirty="0">
                <a:solidFill>
                  <a:srgbClr val="202636"/>
                </a:solidFill>
              </a:rPr>
              <a:t>Los diagramas MER, MERE y relacional se obtuvieron de la base real, así que reflejan lo construido.</a:t>
            </a:r>
            <a:endParaRPr lang="en-US" sz="1150" dirty="0"/>
          </a:p>
        </p:txBody>
      </p:sp>
      <p:sp>
        <p:nvSpPr>
          <p:cNvPr id="17" name="Text 14"/>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18" name="Text 15"/>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Nayareth</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LA APLICACIÓN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El flujo central de catorce pasos ya funciona</a:t>
            </a:r>
            <a:endParaRPr lang="en-US" sz="3000" dirty="0"/>
          </a:p>
        </p:txBody>
      </p:sp>
      <p:sp>
        <p:nvSpPr>
          <p:cNvPr id="4" name="Shape 2"/>
          <p:cNvSpPr/>
          <p:nvPr/>
        </p:nvSpPr>
        <p:spPr>
          <a:xfrm>
            <a:off x="548640" y="1463040"/>
            <a:ext cx="1481328"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5" name="Shape 3"/>
          <p:cNvSpPr/>
          <p:nvPr/>
        </p:nvSpPr>
        <p:spPr>
          <a:xfrm>
            <a:off x="685800" y="1600200"/>
            <a:ext cx="384048" cy="384048"/>
          </a:xfrm>
          <a:prstGeom prst="ellipse">
            <a:avLst/>
          </a:prstGeom>
          <a:solidFill>
            <a:srgbClr val="243B6B"/>
          </a:solidFill>
          <a:ln w="12700">
            <a:solidFill>
              <a:srgbClr val="FFFFFF"/>
            </a:solidFill>
            <a:prstDash val="solid"/>
          </a:ln>
        </p:spPr>
      </p:sp>
      <p:sp>
        <p:nvSpPr>
          <p:cNvPr id="6" name="Text 4"/>
          <p:cNvSpPr txBox="1"/>
          <p:nvPr/>
        </p:nvSpPr>
        <p:spPr>
          <a:xfrm>
            <a:off x="685800" y="1600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685800" y="20574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Abre la app</a:t>
            </a:r>
            <a:endParaRPr lang="en-US" sz="1050" dirty="0"/>
          </a:p>
        </p:txBody>
      </p:sp>
      <p:sp>
        <p:nvSpPr>
          <p:cNvPr id="8" name="Shape 6"/>
          <p:cNvSpPr/>
          <p:nvPr/>
        </p:nvSpPr>
        <p:spPr>
          <a:xfrm>
            <a:off x="2148840" y="1463040"/>
            <a:ext cx="1481328"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9" name="Shape 7"/>
          <p:cNvSpPr/>
          <p:nvPr/>
        </p:nvSpPr>
        <p:spPr>
          <a:xfrm>
            <a:off x="2286000" y="1600200"/>
            <a:ext cx="384048" cy="384048"/>
          </a:xfrm>
          <a:prstGeom prst="ellipse">
            <a:avLst/>
          </a:prstGeom>
          <a:solidFill>
            <a:srgbClr val="243B6B"/>
          </a:solidFill>
          <a:ln w="12700">
            <a:solidFill>
              <a:srgbClr val="FFFFFF"/>
            </a:solidFill>
            <a:prstDash val="solid"/>
          </a:ln>
        </p:spPr>
      </p:sp>
      <p:sp>
        <p:nvSpPr>
          <p:cNvPr id="10" name="Text 8"/>
          <p:cNvSpPr txBox="1"/>
          <p:nvPr/>
        </p:nvSpPr>
        <p:spPr>
          <a:xfrm>
            <a:off x="2286000" y="1600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9"/>
          <p:cNvSpPr txBox="1"/>
          <p:nvPr/>
        </p:nvSpPr>
        <p:spPr>
          <a:xfrm>
            <a:off x="2286000" y="20574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Solicita en el formulario de su oficio</a:t>
            </a:r>
            <a:endParaRPr lang="en-US" sz="1050" dirty="0"/>
          </a:p>
        </p:txBody>
      </p:sp>
      <p:sp>
        <p:nvSpPr>
          <p:cNvPr id="12" name="Shape 10"/>
          <p:cNvSpPr/>
          <p:nvPr/>
        </p:nvSpPr>
        <p:spPr>
          <a:xfrm>
            <a:off x="3749040" y="1463040"/>
            <a:ext cx="1481328"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3" name="Shape 11"/>
          <p:cNvSpPr/>
          <p:nvPr/>
        </p:nvSpPr>
        <p:spPr>
          <a:xfrm>
            <a:off x="3886200" y="1600200"/>
            <a:ext cx="384048" cy="384048"/>
          </a:xfrm>
          <a:prstGeom prst="ellipse">
            <a:avLst/>
          </a:prstGeom>
          <a:solidFill>
            <a:srgbClr val="243B6B"/>
          </a:solidFill>
          <a:ln w="12700">
            <a:solidFill>
              <a:srgbClr val="FFFFFF"/>
            </a:solidFill>
            <a:prstDash val="solid"/>
          </a:ln>
        </p:spPr>
      </p:sp>
      <p:sp>
        <p:nvSpPr>
          <p:cNvPr id="14" name="Text 12"/>
          <p:cNvSpPr txBox="1"/>
          <p:nvPr/>
        </p:nvSpPr>
        <p:spPr>
          <a:xfrm>
            <a:off x="3886200" y="1600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3"/>
          <p:cNvSpPr txBox="1"/>
          <p:nvPr/>
        </p:nvSpPr>
        <p:spPr>
          <a:xfrm>
            <a:off x="3886200" y="20574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El servidor publica y avisa a los maestros</a:t>
            </a:r>
            <a:endParaRPr lang="en-US" sz="1050" dirty="0"/>
          </a:p>
        </p:txBody>
      </p:sp>
      <p:sp>
        <p:nvSpPr>
          <p:cNvPr id="16" name="Shape 14"/>
          <p:cNvSpPr/>
          <p:nvPr/>
        </p:nvSpPr>
        <p:spPr>
          <a:xfrm>
            <a:off x="5349240" y="1463040"/>
            <a:ext cx="1481328"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7" name="Shape 15"/>
          <p:cNvSpPr/>
          <p:nvPr/>
        </p:nvSpPr>
        <p:spPr>
          <a:xfrm>
            <a:off x="5486400" y="1600200"/>
            <a:ext cx="384048" cy="384048"/>
          </a:xfrm>
          <a:prstGeom prst="ellipse">
            <a:avLst/>
          </a:prstGeom>
          <a:solidFill>
            <a:srgbClr val="243B6B"/>
          </a:solidFill>
          <a:ln w="12700">
            <a:solidFill>
              <a:srgbClr val="FFFFFF"/>
            </a:solidFill>
            <a:prstDash val="solid"/>
          </a:ln>
        </p:spPr>
      </p:sp>
      <p:sp>
        <p:nvSpPr>
          <p:cNvPr id="18" name="Text 16"/>
          <p:cNvSpPr txBox="1"/>
          <p:nvPr/>
        </p:nvSpPr>
        <p:spPr>
          <a:xfrm>
            <a:off x="5486400" y="1600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7"/>
          <p:cNvSpPr txBox="1"/>
          <p:nvPr/>
        </p:nvSpPr>
        <p:spPr>
          <a:xfrm>
            <a:off x="5486400" y="20574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Los maestros ofertan</a:t>
            </a:r>
            <a:endParaRPr lang="en-US" sz="1050" dirty="0"/>
          </a:p>
        </p:txBody>
      </p:sp>
      <p:sp>
        <p:nvSpPr>
          <p:cNvPr id="20" name="Shape 18"/>
          <p:cNvSpPr/>
          <p:nvPr/>
        </p:nvSpPr>
        <p:spPr>
          <a:xfrm>
            <a:off x="6949440" y="1463040"/>
            <a:ext cx="1481328"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1" name="Shape 19"/>
          <p:cNvSpPr/>
          <p:nvPr/>
        </p:nvSpPr>
        <p:spPr>
          <a:xfrm>
            <a:off x="7086600" y="1600200"/>
            <a:ext cx="384048" cy="384048"/>
          </a:xfrm>
          <a:prstGeom prst="ellipse">
            <a:avLst/>
          </a:prstGeom>
          <a:solidFill>
            <a:srgbClr val="243B6B"/>
          </a:solidFill>
          <a:ln w="12700">
            <a:solidFill>
              <a:srgbClr val="FFFFFF"/>
            </a:solidFill>
            <a:prstDash val="solid"/>
          </a:ln>
        </p:spPr>
      </p:sp>
      <p:sp>
        <p:nvSpPr>
          <p:cNvPr id="22" name="Text 20"/>
          <p:cNvSpPr txBox="1"/>
          <p:nvPr/>
        </p:nvSpPr>
        <p:spPr>
          <a:xfrm>
            <a:off x="7086600" y="1600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1"/>
          <p:cNvSpPr txBox="1"/>
          <p:nvPr/>
        </p:nvSpPr>
        <p:spPr>
          <a:xfrm>
            <a:off x="7086600" y="20574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El cliente elige, sin pagar</a:t>
            </a:r>
            <a:endParaRPr lang="en-US" sz="1050" dirty="0"/>
          </a:p>
        </p:txBody>
      </p:sp>
      <p:sp>
        <p:nvSpPr>
          <p:cNvPr id="24" name="Shape 22"/>
          <p:cNvSpPr/>
          <p:nvPr/>
        </p:nvSpPr>
        <p:spPr>
          <a:xfrm>
            <a:off x="8549640" y="1463040"/>
            <a:ext cx="1481328"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5" name="Shape 23"/>
          <p:cNvSpPr/>
          <p:nvPr/>
        </p:nvSpPr>
        <p:spPr>
          <a:xfrm>
            <a:off x="8686800" y="1600200"/>
            <a:ext cx="384048" cy="384048"/>
          </a:xfrm>
          <a:prstGeom prst="ellipse">
            <a:avLst/>
          </a:prstGeom>
          <a:solidFill>
            <a:srgbClr val="243B6B"/>
          </a:solidFill>
          <a:ln w="12700">
            <a:solidFill>
              <a:srgbClr val="FFFFFF"/>
            </a:solidFill>
            <a:prstDash val="solid"/>
          </a:ln>
        </p:spPr>
      </p:sp>
      <p:sp>
        <p:nvSpPr>
          <p:cNvPr id="26" name="Text 24"/>
          <p:cNvSpPr txBox="1"/>
          <p:nvPr/>
        </p:nvSpPr>
        <p:spPr>
          <a:xfrm>
            <a:off x="8686800" y="1600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5"/>
          <p:cNvSpPr txBox="1"/>
          <p:nvPr/>
        </p:nvSpPr>
        <p:spPr>
          <a:xfrm>
            <a:off x="8686800" y="20574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El maestro va en camino</a:t>
            </a:r>
            <a:endParaRPr lang="en-US" sz="1050" dirty="0"/>
          </a:p>
        </p:txBody>
      </p:sp>
      <p:sp>
        <p:nvSpPr>
          <p:cNvPr id="28" name="Shape 26"/>
          <p:cNvSpPr/>
          <p:nvPr/>
        </p:nvSpPr>
        <p:spPr>
          <a:xfrm>
            <a:off x="10149840" y="1463040"/>
            <a:ext cx="1481328"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9" name="Shape 27"/>
          <p:cNvSpPr/>
          <p:nvPr/>
        </p:nvSpPr>
        <p:spPr>
          <a:xfrm>
            <a:off x="10287000" y="1600200"/>
            <a:ext cx="384048" cy="384048"/>
          </a:xfrm>
          <a:prstGeom prst="ellipse">
            <a:avLst/>
          </a:prstGeom>
          <a:solidFill>
            <a:srgbClr val="243B6B"/>
          </a:solidFill>
          <a:ln w="12700">
            <a:solidFill>
              <a:srgbClr val="FFFFFF"/>
            </a:solidFill>
            <a:prstDash val="solid"/>
          </a:ln>
        </p:spPr>
      </p:sp>
      <p:sp>
        <p:nvSpPr>
          <p:cNvPr id="30" name="Text 28"/>
          <p:cNvSpPr txBox="1"/>
          <p:nvPr/>
        </p:nvSpPr>
        <p:spPr>
          <a:xfrm>
            <a:off x="10287000" y="1600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1" name="Text 29"/>
          <p:cNvSpPr txBox="1"/>
          <p:nvPr/>
        </p:nvSpPr>
        <p:spPr>
          <a:xfrm>
            <a:off x="10287000" y="20574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La app comprueba la llegada</a:t>
            </a:r>
            <a:endParaRPr lang="en-US" sz="1050" dirty="0"/>
          </a:p>
        </p:txBody>
      </p:sp>
      <p:sp>
        <p:nvSpPr>
          <p:cNvPr id="32" name="Shape 30"/>
          <p:cNvSpPr/>
          <p:nvPr/>
        </p:nvSpPr>
        <p:spPr>
          <a:xfrm>
            <a:off x="548640" y="3063240"/>
            <a:ext cx="1481328" cy="1417320"/>
          </a:xfrm>
          <a:prstGeom prst="roundRect">
            <a:avLst>
              <a:gd name="adj" fmla="val 7742"/>
            </a:avLst>
          </a:prstGeom>
          <a:solidFill>
            <a:srgbClr val="F6F7FB"/>
          </a:solidFill>
          <a:ln w="9525">
            <a:solidFill>
              <a:srgbClr val="DDE1EB"/>
            </a:solidFill>
            <a:prstDash val="solid"/>
          </a:ln>
        </p:spPr>
      </p:sp>
      <p:sp>
        <p:nvSpPr>
          <p:cNvPr id="33" name="Shape 31"/>
          <p:cNvSpPr/>
          <p:nvPr/>
        </p:nvSpPr>
        <p:spPr>
          <a:xfrm>
            <a:off x="685800" y="3200400"/>
            <a:ext cx="384048" cy="384048"/>
          </a:xfrm>
          <a:prstGeom prst="ellipse">
            <a:avLst/>
          </a:prstGeom>
          <a:solidFill>
            <a:srgbClr val="243B6B"/>
          </a:solidFill>
          <a:ln w="12700">
            <a:solidFill>
              <a:srgbClr val="FFFFFF"/>
            </a:solidFill>
            <a:prstDash val="solid"/>
          </a:ln>
        </p:spPr>
      </p:sp>
      <p:sp>
        <p:nvSpPr>
          <p:cNvPr id="34" name="Text 32"/>
          <p:cNvSpPr txBox="1"/>
          <p:nvPr/>
        </p:nvSpPr>
        <p:spPr>
          <a:xfrm>
            <a:off x="685800"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35" name="Text 33"/>
          <p:cNvSpPr txBox="1"/>
          <p:nvPr/>
        </p:nvSpPr>
        <p:spPr>
          <a:xfrm>
            <a:off x="685800" y="36576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Diagnóstico y monto definitivo</a:t>
            </a:r>
            <a:endParaRPr lang="en-US" sz="1050" dirty="0"/>
          </a:p>
        </p:txBody>
      </p:sp>
      <p:sp>
        <p:nvSpPr>
          <p:cNvPr id="36" name="Shape 34"/>
          <p:cNvSpPr/>
          <p:nvPr/>
        </p:nvSpPr>
        <p:spPr>
          <a:xfrm>
            <a:off x="2148840" y="3063240"/>
            <a:ext cx="1481328" cy="1417320"/>
          </a:xfrm>
          <a:prstGeom prst="roundRect">
            <a:avLst>
              <a:gd name="adj" fmla="val 7742"/>
            </a:avLst>
          </a:prstGeom>
          <a:solidFill>
            <a:srgbClr val="F6F7FB"/>
          </a:solidFill>
          <a:ln w="9525">
            <a:solidFill>
              <a:srgbClr val="DDE1EB"/>
            </a:solidFill>
            <a:prstDash val="solid"/>
          </a:ln>
        </p:spPr>
      </p:sp>
      <p:sp>
        <p:nvSpPr>
          <p:cNvPr id="37" name="Shape 35"/>
          <p:cNvSpPr/>
          <p:nvPr/>
        </p:nvSpPr>
        <p:spPr>
          <a:xfrm>
            <a:off x="2286000" y="3200400"/>
            <a:ext cx="384048" cy="384048"/>
          </a:xfrm>
          <a:prstGeom prst="ellipse">
            <a:avLst/>
          </a:prstGeom>
          <a:solidFill>
            <a:srgbClr val="243B6B"/>
          </a:solidFill>
          <a:ln w="12700">
            <a:solidFill>
              <a:srgbClr val="FFFFFF"/>
            </a:solidFill>
            <a:prstDash val="solid"/>
          </a:ln>
        </p:spPr>
      </p:sp>
      <p:sp>
        <p:nvSpPr>
          <p:cNvPr id="38" name="Text 36"/>
          <p:cNvSpPr txBox="1"/>
          <p:nvPr/>
        </p:nvSpPr>
        <p:spPr>
          <a:xfrm>
            <a:off x="2286000"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9</a:t>
            </a:r>
            <a:endParaRPr lang="en-US" sz="1200" dirty="0"/>
          </a:p>
        </p:txBody>
      </p:sp>
      <p:sp>
        <p:nvSpPr>
          <p:cNvPr id="39" name="Text 37"/>
          <p:cNvSpPr txBox="1"/>
          <p:nvPr/>
        </p:nvSpPr>
        <p:spPr>
          <a:xfrm>
            <a:off x="2286000" y="36576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El cliente autoriza y paga en custodia</a:t>
            </a:r>
            <a:endParaRPr lang="en-US" sz="1050" dirty="0"/>
          </a:p>
        </p:txBody>
      </p:sp>
      <p:sp>
        <p:nvSpPr>
          <p:cNvPr id="40" name="Shape 38"/>
          <p:cNvSpPr/>
          <p:nvPr/>
        </p:nvSpPr>
        <p:spPr>
          <a:xfrm>
            <a:off x="3749040" y="3063240"/>
            <a:ext cx="1481328" cy="1417320"/>
          </a:xfrm>
          <a:prstGeom prst="roundRect">
            <a:avLst>
              <a:gd name="adj" fmla="val 7742"/>
            </a:avLst>
          </a:prstGeom>
          <a:solidFill>
            <a:srgbClr val="F6F7FB"/>
          </a:solidFill>
          <a:ln w="9525">
            <a:solidFill>
              <a:srgbClr val="DDE1EB"/>
            </a:solidFill>
            <a:prstDash val="solid"/>
          </a:ln>
        </p:spPr>
      </p:sp>
      <p:sp>
        <p:nvSpPr>
          <p:cNvPr id="41" name="Shape 39"/>
          <p:cNvSpPr/>
          <p:nvPr/>
        </p:nvSpPr>
        <p:spPr>
          <a:xfrm>
            <a:off x="3886200" y="3200400"/>
            <a:ext cx="384048" cy="384048"/>
          </a:xfrm>
          <a:prstGeom prst="ellipse">
            <a:avLst/>
          </a:prstGeom>
          <a:solidFill>
            <a:srgbClr val="243B6B"/>
          </a:solidFill>
          <a:ln w="12700">
            <a:solidFill>
              <a:srgbClr val="FFFFFF"/>
            </a:solidFill>
            <a:prstDash val="solid"/>
          </a:ln>
        </p:spPr>
      </p:sp>
      <p:sp>
        <p:nvSpPr>
          <p:cNvPr id="42" name="Text 40"/>
          <p:cNvSpPr txBox="1"/>
          <p:nvPr/>
        </p:nvSpPr>
        <p:spPr>
          <a:xfrm>
            <a:off x="3886200"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10</a:t>
            </a:r>
            <a:endParaRPr lang="en-US" sz="1200" dirty="0"/>
          </a:p>
        </p:txBody>
      </p:sp>
      <p:sp>
        <p:nvSpPr>
          <p:cNvPr id="43" name="Text 41"/>
          <p:cNvSpPr txBox="1"/>
          <p:nvPr/>
        </p:nvSpPr>
        <p:spPr>
          <a:xfrm>
            <a:off x="3886200" y="36576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Gasto imprevisto o finalizar</a:t>
            </a:r>
            <a:endParaRPr lang="en-US" sz="1050" dirty="0"/>
          </a:p>
        </p:txBody>
      </p:sp>
      <p:sp>
        <p:nvSpPr>
          <p:cNvPr id="44" name="Shape 42"/>
          <p:cNvSpPr/>
          <p:nvPr/>
        </p:nvSpPr>
        <p:spPr>
          <a:xfrm>
            <a:off x="5349240" y="3063240"/>
            <a:ext cx="1481328" cy="1417320"/>
          </a:xfrm>
          <a:prstGeom prst="roundRect">
            <a:avLst>
              <a:gd name="adj" fmla="val 7742"/>
            </a:avLst>
          </a:prstGeom>
          <a:solidFill>
            <a:srgbClr val="F6F7FB"/>
          </a:solidFill>
          <a:ln w="9525">
            <a:solidFill>
              <a:srgbClr val="DDE1EB"/>
            </a:solidFill>
            <a:prstDash val="solid"/>
          </a:ln>
        </p:spPr>
      </p:sp>
      <p:sp>
        <p:nvSpPr>
          <p:cNvPr id="45" name="Shape 43"/>
          <p:cNvSpPr/>
          <p:nvPr/>
        </p:nvSpPr>
        <p:spPr>
          <a:xfrm>
            <a:off x="5486400" y="3200400"/>
            <a:ext cx="384048" cy="384048"/>
          </a:xfrm>
          <a:prstGeom prst="ellipse">
            <a:avLst/>
          </a:prstGeom>
          <a:solidFill>
            <a:srgbClr val="243B6B"/>
          </a:solidFill>
          <a:ln w="12700">
            <a:solidFill>
              <a:srgbClr val="FFFFFF"/>
            </a:solidFill>
            <a:prstDash val="solid"/>
          </a:ln>
        </p:spPr>
      </p:sp>
      <p:sp>
        <p:nvSpPr>
          <p:cNvPr id="46" name="Text 44"/>
          <p:cNvSpPr txBox="1"/>
          <p:nvPr/>
        </p:nvSpPr>
        <p:spPr>
          <a:xfrm>
            <a:off x="5486400"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11</a:t>
            </a:r>
            <a:endParaRPr lang="en-US" sz="1200" dirty="0"/>
          </a:p>
        </p:txBody>
      </p:sp>
      <p:sp>
        <p:nvSpPr>
          <p:cNvPr id="47" name="Text 45"/>
          <p:cNvSpPr txBox="1"/>
          <p:nvPr/>
        </p:nvSpPr>
        <p:spPr>
          <a:xfrm>
            <a:off x="5486400" y="36576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Foto del trabajo terminado</a:t>
            </a:r>
            <a:endParaRPr lang="en-US" sz="1050" dirty="0"/>
          </a:p>
        </p:txBody>
      </p:sp>
      <p:sp>
        <p:nvSpPr>
          <p:cNvPr id="48" name="Shape 46"/>
          <p:cNvSpPr/>
          <p:nvPr/>
        </p:nvSpPr>
        <p:spPr>
          <a:xfrm>
            <a:off x="6949440" y="3063240"/>
            <a:ext cx="1481328" cy="1417320"/>
          </a:xfrm>
          <a:prstGeom prst="roundRect">
            <a:avLst>
              <a:gd name="adj" fmla="val 7742"/>
            </a:avLst>
          </a:prstGeom>
          <a:solidFill>
            <a:srgbClr val="F6F7FB"/>
          </a:solidFill>
          <a:ln w="9525">
            <a:solidFill>
              <a:srgbClr val="DDE1EB"/>
            </a:solidFill>
            <a:prstDash val="solid"/>
          </a:ln>
        </p:spPr>
      </p:sp>
      <p:sp>
        <p:nvSpPr>
          <p:cNvPr id="49" name="Shape 47"/>
          <p:cNvSpPr/>
          <p:nvPr/>
        </p:nvSpPr>
        <p:spPr>
          <a:xfrm>
            <a:off x="7086600" y="3200400"/>
            <a:ext cx="384048" cy="384048"/>
          </a:xfrm>
          <a:prstGeom prst="ellipse">
            <a:avLst/>
          </a:prstGeom>
          <a:solidFill>
            <a:srgbClr val="243B6B"/>
          </a:solidFill>
          <a:ln w="12700">
            <a:solidFill>
              <a:srgbClr val="FFFFFF"/>
            </a:solidFill>
            <a:prstDash val="solid"/>
          </a:ln>
        </p:spPr>
      </p:sp>
      <p:sp>
        <p:nvSpPr>
          <p:cNvPr id="50" name="Text 48"/>
          <p:cNvSpPr txBox="1"/>
          <p:nvPr/>
        </p:nvSpPr>
        <p:spPr>
          <a:xfrm>
            <a:off x="7086600"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12</a:t>
            </a:r>
            <a:endParaRPr lang="en-US" sz="1200" dirty="0"/>
          </a:p>
        </p:txBody>
      </p:sp>
      <p:sp>
        <p:nvSpPr>
          <p:cNvPr id="51" name="Text 49"/>
          <p:cNvSpPr txBox="1"/>
          <p:nvPr/>
        </p:nvSpPr>
        <p:spPr>
          <a:xfrm>
            <a:off x="7086600" y="36576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Aviso al cliente</a:t>
            </a:r>
            <a:endParaRPr lang="en-US" sz="1050" dirty="0"/>
          </a:p>
        </p:txBody>
      </p:sp>
      <p:sp>
        <p:nvSpPr>
          <p:cNvPr id="52" name="Shape 50"/>
          <p:cNvSpPr/>
          <p:nvPr/>
        </p:nvSpPr>
        <p:spPr>
          <a:xfrm>
            <a:off x="8549640" y="3063240"/>
            <a:ext cx="1481328" cy="1417320"/>
          </a:xfrm>
          <a:prstGeom prst="roundRect">
            <a:avLst>
              <a:gd name="adj" fmla="val 7742"/>
            </a:avLst>
          </a:prstGeom>
          <a:solidFill>
            <a:srgbClr val="F6F7FB"/>
          </a:solidFill>
          <a:ln w="9525">
            <a:solidFill>
              <a:srgbClr val="DDE1EB"/>
            </a:solidFill>
            <a:prstDash val="solid"/>
          </a:ln>
        </p:spPr>
      </p:sp>
      <p:sp>
        <p:nvSpPr>
          <p:cNvPr id="53" name="Shape 51"/>
          <p:cNvSpPr/>
          <p:nvPr/>
        </p:nvSpPr>
        <p:spPr>
          <a:xfrm>
            <a:off x="8686800" y="3200400"/>
            <a:ext cx="384048" cy="384048"/>
          </a:xfrm>
          <a:prstGeom prst="ellipse">
            <a:avLst/>
          </a:prstGeom>
          <a:solidFill>
            <a:srgbClr val="243B6B"/>
          </a:solidFill>
          <a:ln w="12700">
            <a:solidFill>
              <a:srgbClr val="FFFFFF"/>
            </a:solidFill>
            <a:prstDash val="solid"/>
          </a:ln>
        </p:spPr>
      </p:sp>
      <p:sp>
        <p:nvSpPr>
          <p:cNvPr id="54" name="Text 52"/>
          <p:cNvSpPr txBox="1"/>
          <p:nvPr/>
        </p:nvSpPr>
        <p:spPr>
          <a:xfrm>
            <a:off x="8686800"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13</a:t>
            </a:r>
            <a:endParaRPr lang="en-US" sz="1200" dirty="0"/>
          </a:p>
        </p:txBody>
      </p:sp>
      <p:sp>
        <p:nvSpPr>
          <p:cNvPr id="55" name="Text 53"/>
          <p:cNvSpPr txBox="1"/>
          <p:nvPr/>
        </p:nvSpPr>
        <p:spPr>
          <a:xfrm>
            <a:off x="8686800" y="36576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Acepta o reclama</a:t>
            </a:r>
            <a:endParaRPr lang="en-US" sz="1050" dirty="0"/>
          </a:p>
        </p:txBody>
      </p:sp>
      <p:sp>
        <p:nvSpPr>
          <p:cNvPr id="56" name="Shape 54"/>
          <p:cNvSpPr/>
          <p:nvPr/>
        </p:nvSpPr>
        <p:spPr>
          <a:xfrm>
            <a:off x="10149840" y="3063240"/>
            <a:ext cx="1481328" cy="1417320"/>
          </a:xfrm>
          <a:prstGeom prst="roundRect">
            <a:avLst>
              <a:gd name="adj" fmla="val 7742"/>
            </a:avLst>
          </a:prstGeom>
          <a:solidFill>
            <a:srgbClr val="F6F7FB"/>
          </a:solidFill>
          <a:ln w="9525">
            <a:solidFill>
              <a:srgbClr val="DDE1EB"/>
            </a:solidFill>
            <a:prstDash val="solid"/>
          </a:ln>
        </p:spPr>
      </p:sp>
      <p:sp>
        <p:nvSpPr>
          <p:cNvPr id="57" name="Shape 55"/>
          <p:cNvSpPr/>
          <p:nvPr/>
        </p:nvSpPr>
        <p:spPr>
          <a:xfrm>
            <a:off x="10287000" y="3200400"/>
            <a:ext cx="384048" cy="384048"/>
          </a:xfrm>
          <a:prstGeom prst="ellipse">
            <a:avLst/>
          </a:prstGeom>
          <a:solidFill>
            <a:srgbClr val="F06449"/>
          </a:solidFill>
          <a:ln w="12700">
            <a:solidFill>
              <a:srgbClr val="FFFFFF"/>
            </a:solidFill>
            <a:prstDash val="solid"/>
          </a:ln>
        </p:spPr>
      </p:sp>
      <p:sp>
        <p:nvSpPr>
          <p:cNvPr id="58" name="Text 56"/>
          <p:cNvSpPr txBox="1"/>
          <p:nvPr/>
        </p:nvSpPr>
        <p:spPr>
          <a:xfrm>
            <a:off x="10287000"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14</a:t>
            </a:r>
            <a:endParaRPr lang="en-US" sz="1200" dirty="0"/>
          </a:p>
        </p:txBody>
      </p:sp>
      <p:sp>
        <p:nvSpPr>
          <p:cNvPr id="59" name="Text 57"/>
          <p:cNvSpPr txBox="1"/>
          <p:nvPr/>
        </p:nvSpPr>
        <p:spPr>
          <a:xfrm>
            <a:off x="10287000" y="3657600"/>
            <a:ext cx="1234440" cy="777240"/>
          </a:xfrm>
          <a:prstGeom prst="rect">
            <a:avLst/>
          </a:prstGeom>
          <a:noFill/>
          <a:ln/>
        </p:spPr>
        <p:txBody>
          <a:bodyPr wrap="square" lIns="0" tIns="0" rIns="0" bIns="0" rtlCol="0" anchor="t"/>
          <a:lstStyle/>
          <a:p>
            <a:pPr indent="0" marL="0">
              <a:lnSpc>
                <a:spcPct val="105000"/>
              </a:lnSpc>
              <a:buNone/>
            </a:pPr>
            <a:r>
              <a:rPr lang="en-US" sz="1050" dirty="0">
                <a:solidFill>
                  <a:srgbClr val="202636"/>
                </a:solidFill>
              </a:rPr>
              <a:t>Código de 3 dígitos: cierre</a:t>
            </a:r>
            <a:endParaRPr lang="en-US" sz="1050" dirty="0"/>
          </a:p>
        </p:txBody>
      </p:sp>
      <p:sp>
        <p:nvSpPr>
          <p:cNvPr id="60" name="Shape 58"/>
          <p:cNvSpPr/>
          <p:nvPr/>
        </p:nvSpPr>
        <p:spPr>
          <a:xfrm>
            <a:off x="548640" y="4800600"/>
            <a:ext cx="5394960" cy="1371600"/>
          </a:xfrm>
          <a:prstGeom prst="roundRect">
            <a:avLst>
              <a:gd name="adj" fmla="val 8000"/>
            </a:avLst>
          </a:prstGeom>
          <a:solidFill>
            <a:srgbClr val="F0EEFF"/>
          </a:solidFill>
          <a:ln w="12700">
            <a:solidFill>
              <a:srgbClr val="F0EEFF"/>
            </a:solidFill>
            <a:prstDash val="solid"/>
          </a:ln>
        </p:spPr>
      </p:sp>
      <p:sp>
        <p:nvSpPr>
          <p:cNvPr id="61" name="Shape 59"/>
          <p:cNvSpPr/>
          <p:nvPr/>
        </p:nvSpPr>
        <p:spPr>
          <a:xfrm>
            <a:off x="777240" y="4983480"/>
            <a:ext cx="548640" cy="548640"/>
          </a:xfrm>
          <a:prstGeom prst="ellipse">
            <a:avLst/>
          </a:prstGeom>
          <a:solidFill>
            <a:srgbClr val="FFFFFF"/>
          </a:solidFill>
          <a:ln w="12700">
            <a:solidFill>
              <a:srgbClr val="FFFFFF"/>
            </a:solidFill>
            <a:prstDash val="solid"/>
          </a:ln>
        </p:spPr>
      </p:sp>
      <p:pic>
        <p:nvPicPr>
          <p:cNvPr id="62" name="Image 0" descr="/private/tmp/claude-501/-Users-mauriciops-Proyectos-relwo-capstone/1a8b5f2b-d3d9-4b63-bfed-da79668ca276/scratchpad/pptx-build/assets/image27.png">    </p:cNvPr>
          <p:cNvPicPr>
            <a:picLocks noChangeAspect="1"/>
          </p:cNvPicPr>
          <p:nvPr/>
        </p:nvPicPr>
        <p:blipFill>
          <a:blip r:embed="rId1"/>
          <a:stretch>
            <a:fillRect/>
          </a:stretch>
        </p:blipFill>
        <p:spPr>
          <a:xfrm>
            <a:off x="919886" y="5126126"/>
            <a:ext cx="263347" cy="263347"/>
          </a:xfrm>
          <a:prstGeom prst="rect">
            <a:avLst/>
          </a:prstGeom>
        </p:spPr>
      </p:pic>
      <p:sp>
        <p:nvSpPr>
          <p:cNvPr id="63" name="Text 60"/>
          <p:cNvSpPr txBox="1"/>
          <p:nvPr/>
        </p:nvSpPr>
        <p:spPr>
          <a:xfrm>
            <a:off x="1463040" y="4937760"/>
            <a:ext cx="4297680" cy="320040"/>
          </a:xfrm>
          <a:prstGeom prst="rect">
            <a:avLst/>
          </a:prstGeom>
          <a:noFill/>
          <a:ln/>
        </p:spPr>
        <p:txBody>
          <a:bodyPr wrap="square" lIns="0" tIns="0" rIns="0" bIns="0" rtlCol="0" anchor="t"/>
          <a:lstStyle/>
          <a:p>
            <a:pPr indent="0" marL="0">
              <a:buNone/>
            </a:pPr>
            <a:r>
              <a:rPr lang="en-US" sz="1400" b="1" dirty="0">
                <a:solidFill>
                  <a:srgbClr val="243B6B"/>
                </a:solidFill>
              </a:rPr>
              <a:t>Postventa</a:t>
            </a:r>
            <a:endParaRPr lang="en-US" sz="1400" dirty="0"/>
          </a:p>
        </p:txBody>
      </p:sp>
      <p:sp>
        <p:nvSpPr>
          <p:cNvPr id="64" name="Text 61"/>
          <p:cNvSpPr txBox="1"/>
          <p:nvPr/>
        </p:nvSpPr>
        <p:spPr>
          <a:xfrm>
            <a:off x="1463040" y="5257800"/>
            <a:ext cx="4297680" cy="868680"/>
          </a:xfrm>
          <a:prstGeom prst="rect">
            <a:avLst/>
          </a:prstGeom>
          <a:noFill/>
          <a:ln/>
        </p:spPr>
        <p:txBody>
          <a:bodyPr wrap="square" lIns="0" tIns="0" rIns="0" bIns="0" rtlCol="0" anchor="t"/>
          <a:lstStyle/>
          <a:p>
            <a:pPr indent="0" marL="0">
              <a:lnSpc>
                <a:spcPct val="108000"/>
              </a:lnSpc>
              <a:buNone/>
            </a:pPr>
            <a:r>
              <a:rPr lang="en-US" sz="1100" dirty="0">
                <a:solidFill>
                  <a:srgbClr val="202636"/>
                </a:solidFill>
              </a:rPr>
              <a:t>Evaluación de doble vía y a ciegas, «Tuve un problema» con seguimiento en la torre de control, mensajería dentro de la app y chat de soporte.</a:t>
            </a:r>
            <a:endParaRPr lang="en-US" sz="1100" dirty="0"/>
          </a:p>
        </p:txBody>
      </p:sp>
      <p:sp>
        <p:nvSpPr>
          <p:cNvPr id="65" name="Shape 62"/>
          <p:cNvSpPr/>
          <p:nvPr/>
        </p:nvSpPr>
        <p:spPr>
          <a:xfrm>
            <a:off x="6217920" y="4800600"/>
            <a:ext cx="5394960" cy="1371600"/>
          </a:xfrm>
          <a:prstGeom prst="roundRect">
            <a:avLst>
              <a:gd name="adj" fmla="val 8000"/>
            </a:avLst>
          </a:prstGeom>
          <a:solidFill>
            <a:srgbClr val="F0EEFF"/>
          </a:solidFill>
          <a:ln w="12700">
            <a:solidFill>
              <a:srgbClr val="F0EEFF"/>
            </a:solidFill>
            <a:prstDash val="solid"/>
          </a:ln>
        </p:spPr>
      </p:sp>
      <p:sp>
        <p:nvSpPr>
          <p:cNvPr id="66" name="Shape 63"/>
          <p:cNvSpPr/>
          <p:nvPr/>
        </p:nvSpPr>
        <p:spPr>
          <a:xfrm>
            <a:off x="6446520" y="4983480"/>
            <a:ext cx="548640" cy="548640"/>
          </a:xfrm>
          <a:prstGeom prst="ellipse">
            <a:avLst/>
          </a:prstGeom>
          <a:solidFill>
            <a:srgbClr val="FFFFFF"/>
          </a:solidFill>
          <a:ln w="12700">
            <a:solidFill>
              <a:srgbClr val="FFFFFF"/>
            </a:solidFill>
            <a:prstDash val="solid"/>
          </a:ln>
        </p:spPr>
      </p:sp>
      <p:pic>
        <p:nvPicPr>
          <p:cNvPr id="67" name="Image 1" descr="/private/tmp/claude-501/-Users-mauriciops-Proyectos-relwo-capstone/1a8b5f2b-d3d9-4b63-bfed-da79668ca276/scratchpad/pptx-build/assets/image15.png">    </p:cNvPr>
          <p:cNvPicPr>
            <a:picLocks noChangeAspect="1"/>
          </p:cNvPicPr>
          <p:nvPr/>
        </p:nvPicPr>
        <p:blipFill>
          <a:blip r:embed="rId2"/>
          <a:stretch>
            <a:fillRect/>
          </a:stretch>
        </p:blipFill>
        <p:spPr>
          <a:xfrm>
            <a:off x="6589166" y="5126126"/>
            <a:ext cx="263347" cy="263347"/>
          </a:xfrm>
          <a:prstGeom prst="rect">
            <a:avLst/>
          </a:prstGeom>
        </p:spPr>
      </p:pic>
      <p:sp>
        <p:nvSpPr>
          <p:cNvPr id="68" name="Text 64"/>
          <p:cNvSpPr txBox="1"/>
          <p:nvPr/>
        </p:nvSpPr>
        <p:spPr>
          <a:xfrm>
            <a:off x="7132320" y="4937760"/>
            <a:ext cx="4297680" cy="320040"/>
          </a:xfrm>
          <a:prstGeom prst="rect">
            <a:avLst/>
          </a:prstGeom>
          <a:noFill/>
          <a:ln/>
        </p:spPr>
        <p:txBody>
          <a:bodyPr wrap="square" lIns="0" tIns="0" rIns="0" bIns="0" rtlCol="0" anchor="t"/>
          <a:lstStyle/>
          <a:p>
            <a:pPr indent="0" marL="0">
              <a:buNone/>
            </a:pPr>
            <a:r>
              <a:rPr lang="en-US" sz="1400" b="1" dirty="0">
                <a:solidFill>
                  <a:srgbClr val="243B6B"/>
                </a:solidFill>
              </a:rPr>
              <a:t>Confianza</a:t>
            </a:r>
            <a:endParaRPr lang="en-US" sz="1400" dirty="0"/>
          </a:p>
        </p:txBody>
      </p:sp>
      <p:sp>
        <p:nvSpPr>
          <p:cNvPr id="69" name="Text 65"/>
          <p:cNvSpPr txBox="1"/>
          <p:nvPr/>
        </p:nvSpPr>
        <p:spPr>
          <a:xfrm>
            <a:off x="7132320" y="5257800"/>
            <a:ext cx="4297680" cy="868680"/>
          </a:xfrm>
          <a:prstGeom prst="rect">
            <a:avLst/>
          </a:prstGeom>
          <a:noFill/>
          <a:ln/>
        </p:spPr>
        <p:txBody>
          <a:bodyPr wrap="square" lIns="0" tIns="0" rIns="0" bIns="0" rtlCol="0" anchor="t"/>
          <a:lstStyle/>
          <a:p>
            <a:pPr indent="0" marL="0">
              <a:lnSpc>
                <a:spcPct val="108000"/>
              </a:lnSpc>
              <a:buNone/>
            </a:pPr>
            <a:r>
              <a:rPr lang="en-US" sz="1100" dirty="0">
                <a:solidFill>
                  <a:srgbClr val="202636"/>
                </a:solidFill>
              </a:rPr>
              <a:t>Registro con aprobación, verificación de identidad por capas y licencia SEC; la ubicación del maestro se comparte solo mientras va en camino y se borra al llegar.</a:t>
            </a:r>
            <a:endParaRPr lang="en-US" sz="1100" dirty="0"/>
          </a:p>
        </p:txBody>
      </p:sp>
      <p:sp>
        <p:nvSpPr>
          <p:cNvPr id="70" name="Text 66"/>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71" name="Text 67"/>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Mauricio</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PANEL DE ADMINISTRACIÓN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La torre de control opera la plataforma</a:t>
            </a:r>
            <a:endParaRPr lang="en-US" sz="3000" dirty="0"/>
          </a:p>
        </p:txBody>
      </p:sp>
      <p:sp>
        <p:nvSpPr>
          <p:cNvPr id="4" name="Shape 2"/>
          <p:cNvSpPr/>
          <p:nvPr/>
        </p:nvSpPr>
        <p:spPr>
          <a:xfrm>
            <a:off x="548640" y="1463040"/>
            <a:ext cx="2651760" cy="2194560"/>
          </a:xfrm>
          <a:prstGeom prst="roundRect">
            <a:avLst>
              <a:gd name="adj" fmla="val 5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5" name="Shape 3"/>
          <p:cNvSpPr/>
          <p:nvPr/>
        </p:nvSpPr>
        <p:spPr>
          <a:xfrm>
            <a:off x="777240" y="1691640"/>
            <a:ext cx="548640" cy="548640"/>
          </a:xfrm>
          <a:prstGeom prst="ellipse">
            <a:avLst/>
          </a:prstGeom>
          <a:solidFill>
            <a:srgbClr val="F0EEFF"/>
          </a:solidFill>
          <a:ln w="12700">
            <a:solidFill>
              <a:srgbClr val="F0EEFF"/>
            </a:solidFill>
            <a:prstDash val="solid"/>
          </a:ln>
        </p:spPr>
      </p:sp>
      <p:pic>
        <p:nvPicPr>
          <p:cNvPr id="6" name="Image 0" descr="/private/tmp/claude-501/-Users-mauriciops-Proyectos-relwo-capstone/1a8b5f2b-d3d9-4b63-bfed-da79668ca276/scratchpad/pptx-build/assets/image18.png">    </p:cNvPr>
          <p:cNvPicPr>
            <a:picLocks noChangeAspect="1"/>
          </p:cNvPicPr>
          <p:nvPr/>
        </p:nvPicPr>
        <p:blipFill>
          <a:blip r:embed="rId1"/>
          <a:stretch>
            <a:fillRect/>
          </a:stretch>
        </p:blipFill>
        <p:spPr>
          <a:xfrm>
            <a:off x="919886" y="1834286"/>
            <a:ext cx="263347" cy="263347"/>
          </a:xfrm>
          <a:prstGeom prst="rect">
            <a:avLst/>
          </a:prstGeom>
        </p:spPr>
      </p:pic>
      <p:sp>
        <p:nvSpPr>
          <p:cNvPr id="7" name="Text 4"/>
          <p:cNvSpPr txBox="1"/>
          <p:nvPr/>
        </p:nvSpPr>
        <p:spPr>
          <a:xfrm>
            <a:off x="777240" y="2377440"/>
            <a:ext cx="2194560" cy="365760"/>
          </a:xfrm>
          <a:prstGeom prst="rect">
            <a:avLst/>
          </a:prstGeom>
          <a:noFill/>
          <a:ln/>
        </p:spPr>
        <p:txBody>
          <a:bodyPr wrap="square" lIns="0" tIns="0" rIns="0" bIns="0" rtlCol="0" anchor="t"/>
          <a:lstStyle/>
          <a:p>
            <a:pPr indent="0" marL="0">
              <a:buNone/>
            </a:pPr>
            <a:r>
              <a:rPr lang="en-US" sz="1350" b="1" dirty="0">
                <a:solidFill>
                  <a:srgbClr val="172442"/>
                </a:solidFill>
              </a:rPr>
              <a:t>Registros</a:t>
            </a:r>
            <a:endParaRPr lang="en-US" sz="1350" dirty="0"/>
          </a:p>
        </p:txBody>
      </p:sp>
      <p:sp>
        <p:nvSpPr>
          <p:cNvPr id="8" name="Text 5"/>
          <p:cNvSpPr txBox="1"/>
          <p:nvPr/>
        </p:nvSpPr>
        <p:spPr>
          <a:xfrm>
            <a:off x="777240" y="2743200"/>
            <a:ext cx="2194560" cy="868680"/>
          </a:xfrm>
          <a:prstGeom prst="rect">
            <a:avLst/>
          </a:prstGeom>
          <a:noFill/>
          <a:ln/>
        </p:spPr>
        <p:txBody>
          <a:bodyPr wrap="square" lIns="0" tIns="0" rIns="0" bIns="0" rtlCol="0" anchor="t"/>
          <a:lstStyle/>
          <a:p>
            <a:pPr indent="0" marL="0">
              <a:lnSpc>
                <a:spcPct val="108000"/>
              </a:lnSpc>
              <a:buNone/>
            </a:pPr>
            <a:r>
              <a:rPr lang="en-US" sz="1050" dirty="0">
                <a:solidFill>
                  <a:srgbClr val="667085"/>
                </a:solidFill>
              </a:rPr>
              <a:t>Aprobar o rechazar maestros y clientes con motivo, y bloquear cuentas.</a:t>
            </a:r>
            <a:endParaRPr lang="en-US" sz="1050" dirty="0"/>
          </a:p>
        </p:txBody>
      </p:sp>
      <p:sp>
        <p:nvSpPr>
          <p:cNvPr id="9" name="Shape 6"/>
          <p:cNvSpPr/>
          <p:nvPr/>
        </p:nvSpPr>
        <p:spPr>
          <a:xfrm>
            <a:off x="3337560" y="1463040"/>
            <a:ext cx="2651760" cy="2194560"/>
          </a:xfrm>
          <a:prstGeom prst="roundRect">
            <a:avLst>
              <a:gd name="adj" fmla="val 5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0" name="Shape 7"/>
          <p:cNvSpPr/>
          <p:nvPr/>
        </p:nvSpPr>
        <p:spPr>
          <a:xfrm>
            <a:off x="3566160" y="1691640"/>
            <a:ext cx="548640" cy="548640"/>
          </a:xfrm>
          <a:prstGeom prst="ellipse">
            <a:avLst/>
          </a:prstGeom>
          <a:solidFill>
            <a:srgbClr val="F0EEFF"/>
          </a:solidFill>
          <a:ln w="12700">
            <a:solidFill>
              <a:srgbClr val="F0EEFF"/>
            </a:solidFill>
            <a:prstDash val="solid"/>
          </a:ln>
        </p:spPr>
      </p:sp>
      <p:pic>
        <p:nvPicPr>
          <p:cNvPr id="11" name="Image 1" descr="/private/tmp/claude-501/-Users-mauriciops-Proyectos-relwo-capstone/1a8b5f2b-d3d9-4b63-bfed-da79668ca276/scratchpad/pptx-build/assets/image15.png">    </p:cNvPr>
          <p:cNvPicPr>
            <a:picLocks noChangeAspect="1"/>
          </p:cNvPicPr>
          <p:nvPr/>
        </p:nvPicPr>
        <p:blipFill>
          <a:blip r:embed="rId2"/>
          <a:stretch>
            <a:fillRect/>
          </a:stretch>
        </p:blipFill>
        <p:spPr>
          <a:xfrm>
            <a:off x="3708806" y="1834286"/>
            <a:ext cx="263347" cy="263347"/>
          </a:xfrm>
          <a:prstGeom prst="rect">
            <a:avLst/>
          </a:prstGeom>
        </p:spPr>
      </p:pic>
      <p:sp>
        <p:nvSpPr>
          <p:cNvPr id="12" name="Text 8"/>
          <p:cNvSpPr txBox="1"/>
          <p:nvPr/>
        </p:nvSpPr>
        <p:spPr>
          <a:xfrm>
            <a:off x="3566160" y="2377440"/>
            <a:ext cx="2194560" cy="365760"/>
          </a:xfrm>
          <a:prstGeom prst="rect">
            <a:avLst/>
          </a:prstGeom>
          <a:noFill/>
          <a:ln/>
        </p:spPr>
        <p:txBody>
          <a:bodyPr wrap="square" lIns="0" tIns="0" rIns="0" bIns="0" rtlCol="0" anchor="t"/>
          <a:lstStyle/>
          <a:p>
            <a:pPr indent="0" marL="0">
              <a:buNone/>
            </a:pPr>
            <a:r>
              <a:rPr lang="en-US" sz="1350" b="1" dirty="0">
                <a:solidFill>
                  <a:srgbClr val="172442"/>
                </a:solidFill>
              </a:rPr>
              <a:t>Verificación de identidad</a:t>
            </a:r>
            <a:endParaRPr lang="en-US" sz="1350" dirty="0"/>
          </a:p>
        </p:txBody>
      </p:sp>
      <p:sp>
        <p:nvSpPr>
          <p:cNvPr id="13" name="Text 9"/>
          <p:cNvSpPr txBox="1"/>
          <p:nvPr/>
        </p:nvSpPr>
        <p:spPr>
          <a:xfrm>
            <a:off x="3566160" y="2743200"/>
            <a:ext cx="2194560" cy="868680"/>
          </a:xfrm>
          <a:prstGeom prst="rect">
            <a:avLst/>
          </a:prstGeom>
          <a:noFill/>
          <a:ln/>
        </p:spPr>
        <p:txBody>
          <a:bodyPr wrap="square" lIns="0" tIns="0" rIns="0" bIns="0" rtlCol="0" anchor="t"/>
          <a:lstStyle/>
          <a:p>
            <a:pPr indent="0" marL="0">
              <a:lnSpc>
                <a:spcPct val="108000"/>
              </a:lnSpc>
              <a:buNone/>
            </a:pPr>
            <a:r>
              <a:rPr lang="en-US" sz="1050" dirty="0">
                <a:solidFill>
                  <a:srgbClr val="667085"/>
                </a:solidFill>
              </a:rPr>
              <a:t>Revisión por capas de documentos y comprobantes; licencia SEC por RUT.</a:t>
            </a:r>
            <a:endParaRPr lang="en-US" sz="1050" dirty="0"/>
          </a:p>
        </p:txBody>
      </p:sp>
      <p:sp>
        <p:nvSpPr>
          <p:cNvPr id="14" name="Shape 10"/>
          <p:cNvSpPr/>
          <p:nvPr/>
        </p:nvSpPr>
        <p:spPr>
          <a:xfrm>
            <a:off x="6126480" y="1463040"/>
            <a:ext cx="2651760" cy="2194560"/>
          </a:xfrm>
          <a:prstGeom prst="roundRect">
            <a:avLst>
              <a:gd name="adj" fmla="val 5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5" name="Shape 11"/>
          <p:cNvSpPr/>
          <p:nvPr/>
        </p:nvSpPr>
        <p:spPr>
          <a:xfrm>
            <a:off x="6355080" y="1691640"/>
            <a:ext cx="548640" cy="548640"/>
          </a:xfrm>
          <a:prstGeom prst="ellipse">
            <a:avLst/>
          </a:prstGeom>
          <a:solidFill>
            <a:srgbClr val="F0EEFF"/>
          </a:solidFill>
          <a:ln w="12700">
            <a:solidFill>
              <a:srgbClr val="F0EEFF"/>
            </a:solidFill>
            <a:prstDash val="solid"/>
          </a:ln>
        </p:spPr>
      </p:sp>
      <p:pic>
        <p:nvPicPr>
          <p:cNvPr id="16" name="Image 2" descr="/private/tmp/claude-501/-Users-mauriciops-Proyectos-relwo-capstone/1a8b5f2b-d3d9-4b63-bfed-da79668ca276/scratchpad/pptx-build/assets/image27.png">    </p:cNvPr>
          <p:cNvPicPr>
            <a:picLocks noChangeAspect="1"/>
          </p:cNvPicPr>
          <p:nvPr/>
        </p:nvPicPr>
        <p:blipFill>
          <a:blip r:embed="rId3"/>
          <a:stretch>
            <a:fillRect/>
          </a:stretch>
        </p:blipFill>
        <p:spPr>
          <a:xfrm>
            <a:off x="6497726" y="1834286"/>
            <a:ext cx="263347" cy="263347"/>
          </a:xfrm>
          <a:prstGeom prst="rect">
            <a:avLst/>
          </a:prstGeom>
        </p:spPr>
      </p:pic>
      <p:sp>
        <p:nvSpPr>
          <p:cNvPr id="17" name="Text 12"/>
          <p:cNvSpPr txBox="1"/>
          <p:nvPr/>
        </p:nvSpPr>
        <p:spPr>
          <a:xfrm>
            <a:off x="6355080" y="2377440"/>
            <a:ext cx="2194560" cy="365760"/>
          </a:xfrm>
          <a:prstGeom prst="rect">
            <a:avLst/>
          </a:prstGeom>
          <a:noFill/>
          <a:ln/>
        </p:spPr>
        <p:txBody>
          <a:bodyPr wrap="square" lIns="0" tIns="0" rIns="0" bIns="0" rtlCol="0" anchor="t"/>
          <a:lstStyle/>
          <a:p>
            <a:pPr indent="0" marL="0">
              <a:buNone/>
            </a:pPr>
            <a:r>
              <a:rPr lang="en-US" sz="1350" b="1" dirty="0">
                <a:solidFill>
                  <a:srgbClr val="172442"/>
                </a:solidFill>
              </a:rPr>
              <a:t>Disputas y soporte</a:t>
            </a:r>
            <a:endParaRPr lang="en-US" sz="1350" dirty="0"/>
          </a:p>
        </p:txBody>
      </p:sp>
      <p:sp>
        <p:nvSpPr>
          <p:cNvPr id="18" name="Text 13"/>
          <p:cNvSpPr txBox="1"/>
          <p:nvPr/>
        </p:nvSpPr>
        <p:spPr>
          <a:xfrm>
            <a:off x="6355080" y="2743200"/>
            <a:ext cx="2194560" cy="868680"/>
          </a:xfrm>
          <a:prstGeom prst="rect">
            <a:avLst/>
          </a:prstGeom>
          <a:noFill/>
          <a:ln/>
        </p:spPr>
        <p:txBody>
          <a:bodyPr wrap="square" lIns="0" tIns="0" rIns="0" bIns="0" rtlCol="0" anchor="t"/>
          <a:lstStyle/>
          <a:p>
            <a:pPr indent="0" marL="0">
              <a:lnSpc>
                <a:spcPct val="108000"/>
              </a:lnSpc>
              <a:buNone/>
            </a:pPr>
            <a:r>
              <a:rPr lang="en-US" sz="1050" dirty="0">
                <a:solidFill>
                  <a:srgbClr val="667085"/>
                </a:solidFill>
              </a:rPr>
              <a:t>Casos de «Tuve un problema», veredicto, reembolso total o parcial y chat derivado a una persona.</a:t>
            </a:r>
            <a:endParaRPr lang="en-US" sz="1050" dirty="0"/>
          </a:p>
        </p:txBody>
      </p:sp>
      <p:sp>
        <p:nvSpPr>
          <p:cNvPr id="19" name="Shape 14"/>
          <p:cNvSpPr/>
          <p:nvPr/>
        </p:nvSpPr>
        <p:spPr>
          <a:xfrm>
            <a:off x="8915400" y="1463040"/>
            <a:ext cx="2651760" cy="2194560"/>
          </a:xfrm>
          <a:prstGeom prst="roundRect">
            <a:avLst>
              <a:gd name="adj" fmla="val 5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0" name="Shape 15"/>
          <p:cNvSpPr/>
          <p:nvPr/>
        </p:nvSpPr>
        <p:spPr>
          <a:xfrm>
            <a:off x="9144000" y="1691640"/>
            <a:ext cx="548640" cy="548640"/>
          </a:xfrm>
          <a:prstGeom prst="ellipse">
            <a:avLst/>
          </a:prstGeom>
          <a:solidFill>
            <a:srgbClr val="F0EEFF"/>
          </a:solidFill>
          <a:ln w="12700">
            <a:solidFill>
              <a:srgbClr val="F0EEFF"/>
            </a:solidFill>
            <a:prstDash val="solid"/>
          </a:ln>
        </p:spPr>
      </p:sp>
      <p:pic>
        <p:nvPicPr>
          <p:cNvPr id="21" name="Image 3" descr="/private/tmp/claude-501/-Users-mauriciops-Proyectos-relwo-capstone/1a8b5f2b-d3d9-4b63-bfed-da79668ca276/scratchpad/pptx-build/assets/image24.png">    </p:cNvPr>
          <p:cNvPicPr>
            <a:picLocks noChangeAspect="1"/>
          </p:cNvPicPr>
          <p:nvPr/>
        </p:nvPicPr>
        <p:blipFill>
          <a:blip r:embed="rId4"/>
          <a:stretch>
            <a:fillRect/>
          </a:stretch>
        </p:blipFill>
        <p:spPr>
          <a:xfrm>
            <a:off x="9286646" y="1834286"/>
            <a:ext cx="263347" cy="263347"/>
          </a:xfrm>
          <a:prstGeom prst="rect">
            <a:avLst/>
          </a:prstGeom>
        </p:spPr>
      </p:pic>
      <p:sp>
        <p:nvSpPr>
          <p:cNvPr id="22" name="Text 16"/>
          <p:cNvSpPr txBox="1"/>
          <p:nvPr/>
        </p:nvSpPr>
        <p:spPr>
          <a:xfrm>
            <a:off x="9144000" y="2377440"/>
            <a:ext cx="2194560" cy="365760"/>
          </a:xfrm>
          <a:prstGeom prst="rect">
            <a:avLst/>
          </a:prstGeom>
          <a:noFill/>
          <a:ln/>
        </p:spPr>
        <p:txBody>
          <a:bodyPr wrap="square" lIns="0" tIns="0" rIns="0" bIns="0" rtlCol="0" anchor="t"/>
          <a:lstStyle/>
          <a:p>
            <a:pPr indent="0" marL="0">
              <a:buNone/>
            </a:pPr>
            <a:r>
              <a:rPr lang="en-US" sz="1350" b="1" dirty="0">
                <a:solidFill>
                  <a:srgbClr val="172442"/>
                </a:solidFill>
              </a:rPr>
              <a:t>Comunas y servicios</a:t>
            </a:r>
            <a:endParaRPr lang="en-US" sz="1350" dirty="0"/>
          </a:p>
        </p:txBody>
      </p:sp>
      <p:sp>
        <p:nvSpPr>
          <p:cNvPr id="23" name="Text 17"/>
          <p:cNvSpPr txBox="1"/>
          <p:nvPr/>
        </p:nvSpPr>
        <p:spPr>
          <a:xfrm>
            <a:off x="9144000" y="2743200"/>
            <a:ext cx="2194560" cy="868680"/>
          </a:xfrm>
          <a:prstGeom prst="rect">
            <a:avLst/>
          </a:prstGeom>
          <a:noFill/>
          <a:ln/>
        </p:spPr>
        <p:txBody>
          <a:bodyPr wrap="square" lIns="0" tIns="0" rIns="0" bIns="0" rtlCol="0" anchor="t"/>
          <a:lstStyle/>
          <a:p>
            <a:pPr indent="0" marL="0">
              <a:lnSpc>
                <a:spcPct val="108000"/>
              </a:lnSpc>
              <a:buNone/>
            </a:pPr>
            <a:r>
              <a:rPr lang="en-US" sz="1050" dirty="0">
                <a:solidFill>
                  <a:srgbClr val="667085"/>
                </a:solidFill>
              </a:rPr>
              <a:t>Cobertura de oficios por comuna; una comuna se activa con tres maestros verificados.</a:t>
            </a:r>
            <a:endParaRPr lang="en-US" sz="1050" dirty="0"/>
          </a:p>
        </p:txBody>
      </p:sp>
      <p:sp>
        <p:nvSpPr>
          <p:cNvPr id="24" name="Shape 18"/>
          <p:cNvSpPr/>
          <p:nvPr/>
        </p:nvSpPr>
        <p:spPr>
          <a:xfrm>
            <a:off x="548640" y="3840480"/>
            <a:ext cx="2651760" cy="2194560"/>
          </a:xfrm>
          <a:prstGeom prst="roundRect">
            <a:avLst>
              <a:gd name="adj" fmla="val 5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5" name="Shape 19"/>
          <p:cNvSpPr/>
          <p:nvPr/>
        </p:nvSpPr>
        <p:spPr>
          <a:xfrm>
            <a:off x="777240" y="4069080"/>
            <a:ext cx="548640" cy="548640"/>
          </a:xfrm>
          <a:prstGeom prst="ellipse">
            <a:avLst/>
          </a:prstGeom>
          <a:solidFill>
            <a:srgbClr val="F0EEFF"/>
          </a:solidFill>
          <a:ln w="12700">
            <a:solidFill>
              <a:srgbClr val="F0EEFF"/>
            </a:solidFill>
            <a:prstDash val="solid"/>
          </a:ln>
        </p:spPr>
      </p:sp>
      <p:pic>
        <p:nvPicPr>
          <p:cNvPr id="26" name="Image 4" descr="/private/tmp/claude-501/-Users-mauriciops-Proyectos-relwo-capstone/1a8b5f2b-d3d9-4b63-bfed-da79668ca276/scratchpad/pptx-build/assets/image25.png">    </p:cNvPr>
          <p:cNvPicPr>
            <a:picLocks noChangeAspect="1"/>
          </p:cNvPicPr>
          <p:nvPr/>
        </p:nvPicPr>
        <p:blipFill>
          <a:blip r:embed="rId5"/>
          <a:stretch>
            <a:fillRect/>
          </a:stretch>
        </p:blipFill>
        <p:spPr>
          <a:xfrm>
            <a:off x="919886" y="4211726"/>
            <a:ext cx="263347" cy="263347"/>
          </a:xfrm>
          <a:prstGeom prst="rect">
            <a:avLst/>
          </a:prstGeom>
        </p:spPr>
      </p:pic>
      <p:sp>
        <p:nvSpPr>
          <p:cNvPr id="27" name="Text 20"/>
          <p:cNvSpPr txBox="1"/>
          <p:nvPr/>
        </p:nvSpPr>
        <p:spPr>
          <a:xfrm>
            <a:off x="777240" y="4754880"/>
            <a:ext cx="2194560" cy="365760"/>
          </a:xfrm>
          <a:prstGeom prst="rect">
            <a:avLst/>
          </a:prstGeom>
          <a:noFill/>
          <a:ln/>
        </p:spPr>
        <p:txBody>
          <a:bodyPr wrap="square" lIns="0" tIns="0" rIns="0" bIns="0" rtlCol="0" anchor="t"/>
          <a:lstStyle/>
          <a:p>
            <a:pPr indent="0" marL="0">
              <a:buNone/>
            </a:pPr>
            <a:r>
              <a:rPr lang="en-US" sz="1350" b="1" dirty="0">
                <a:solidFill>
                  <a:srgbClr val="172442"/>
                </a:solidFill>
              </a:rPr>
              <a:t>Parámetros de operación</a:t>
            </a:r>
            <a:endParaRPr lang="en-US" sz="1350" dirty="0"/>
          </a:p>
        </p:txBody>
      </p:sp>
      <p:sp>
        <p:nvSpPr>
          <p:cNvPr id="28" name="Text 21"/>
          <p:cNvSpPr txBox="1"/>
          <p:nvPr/>
        </p:nvSpPr>
        <p:spPr>
          <a:xfrm>
            <a:off x="777240" y="5120640"/>
            <a:ext cx="2194560" cy="868680"/>
          </a:xfrm>
          <a:prstGeom prst="rect">
            <a:avLst/>
          </a:prstGeom>
          <a:noFill/>
          <a:ln/>
        </p:spPr>
        <p:txBody>
          <a:bodyPr wrap="square" lIns="0" tIns="0" rIns="0" bIns="0" rtlCol="0" anchor="t"/>
          <a:lstStyle/>
          <a:p>
            <a:pPr indent="0" marL="0">
              <a:lnSpc>
                <a:spcPct val="108000"/>
              </a:lnSpc>
              <a:buNone/>
            </a:pPr>
            <a:r>
              <a:rPr lang="en-US" sz="1050" dirty="0">
                <a:solidFill>
                  <a:srgbClr val="667085"/>
                </a:solidFill>
              </a:rPr>
              <a:t>Plazos, topes y valores del negocio editables sin tocar código.</a:t>
            </a:r>
            <a:endParaRPr lang="en-US" sz="1050" dirty="0"/>
          </a:p>
        </p:txBody>
      </p:sp>
      <p:sp>
        <p:nvSpPr>
          <p:cNvPr id="29" name="Shape 22"/>
          <p:cNvSpPr/>
          <p:nvPr/>
        </p:nvSpPr>
        <p:spPr>
          <a:xfrm>
            <a:off x="3337560" y="3840480"/>
            <a:ext cx="2651760" cy="2194560"/>
          </a:xfrm>
          <a:prstGeom prst="roundRect">
            <a:avLst>
              <a:gd name="adj" fmla="val 5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30" name="Shape 23"/>
          <p:cNvSpPr/>
          <p:nvPr/>
        </p:nvSpPr>
        <p:spPr>
          <a:xfrm>
            <a:off x="3566160" y="4069080"/>
            <a:ext cx="548640" cy="548640"/>
          </a:xfrm>
          <a:prstGeom prst="ellipse">
            <a:avLst/>
          </a:prstGeom>
          <a:solidFill>
            <a:srgbClr val="F0EEFF"/>
          </a:solidFill>
          <a:ln w="12700">
            <a:solidFill>
              <a:srgbClr val="F0EEFF"/>
            </a:solidFill>
            <a:prstDash val="solid"/>
          </a:ln>
        </p:spPr>
      </p:sp>
      <p:pic>
        <p:nvPicPr>
          <p:cNvPr id="31" name="Image 5" descr="/private/tmp/claude-501/-Users-mauriciops-Proyectos-relwo-capstone/1a8b5f2b-d3d9-4b63-bfed-da79668ca276/scratchpad/pptx-build/assets/image12.png">    </p:cNvPr>
          <p:cNvPicPr>
            <a:picLocks noChangeAspect="1"/>
          </p:cNvPicPr>
          <p:nvPr/>
        </p:nvPicPr>
        <p:blipFill>
          <a:blip r:embed="rId6"/>
          <a:stretch>
            <a:fillRect/>
          </a:stretch>
        </p:blipFill>
        <p:spPr>
          <a:xfrm>
            <a:off x="3708806" y="4211726"/>
            <a:ext cx="263347" cy="263347"/>
          </a:xfrm>
          <a:prstGeom prst="rect">
            <a:avLst/>
          </a:prstGeom>
        </p:spPr>
      </p:pic>
      <p:sp>
        <p:nvSpPr>
          <p:cNvPr id="32" name="Text 24"/>
          <p:cNvSpPr txBox="1"/>
          <p:nvPr/>
        </p:nvSpPr>
        <p:spPr>
          <a:xfrm>
            <a:off x="3566160" y="4754880"/>
            <a:ext cx="2194560" cy="365760"/>
          </a:xfrm>
          <a:prstGeom prst="rect">
            <a:avLst/>
          </a:prstGeom>
          <a:noFill/>
          <a:ln/>
        </p:spPr>
        <p:txBody>
          <a:bodyPr wrap="square" lIns="0" tIns="0" rIns="0" bIns="0" rtlCol="0" anchor="t"/>
          <a:lstStyle/>
          <a:p>
            <a:pPr indent="0" marL="0">
              <a:buNone/>
            </a:pPr>
            <a:r>
              <a:rPr lang="en-US" sz="1350" b="1" dirty="0">
                <a:solidFill>
                  <a:srgbClr val="172442"/>
                </a:solidFill>
              </a:rPr>
              <a:t>Métricas y eventos</a:t>
            </a:r>
            <a:endParaRPr lang="en-US" sz="1350" dirty="0"/>
          </a:p>
        </p:txBody>
      </p:sp>
      <p:sp>
        <p:nvSpPr>
          <p:cNvPr id="33" name="Text 25"/>
          <p:cNvSpPr txBox="1"/>
          <p:nvPr/>
        </p:nvSpPr>
        <p:spPr>
          <a:xfrm>
            <a:off x="3566160" y="5120640"/>
            <a:ext cx="2194560" cy="868680"/>
          </a:xfrm>
          <a:prstGeom prst="rect">
            <a:avLst/>
          </a:prstGeom>
          <a:noFill/>
          <a:ln/>
        </p:spPr>
        <p:txBody>
          <a:bodyPr wrap="square" lIns="0" tIns="0" rIns="0" bIns="0" rtlCol="0" anchor="t"/>
          <a:lstStyle/>
          <a:p>
            <a:pPr indent="0" marL="0">
              <a:lnSpc>
                <a:spcPct val="108000"/>
              </a:lnSpc>
              <a:buNone/>
            </a:pPr>
            <a:r>
              <a:rPr lang="en-US" sz="1050" dirty="0">
                <a:solidFill>
                  <a:srgbClr val="667085"/>
                </a:solidFill>
              </a:rPr>
              <a:t>Tablero gráfico de los seis eventos de uso del producto y exportación a planilla.</a:t>
            </a:r>
            <a:endParaRPr lang="en-US" sz="1050" dirty="0"/>
          </a:p>
        </p:txBody>
      </p:sp>
      <p:sp>
        <p:nvSpPr>
          <p:cNvPr id="34" name="Shape 26"/>
          <p:cNvSpPr/>
          <p:nvPr/>
        </p:nvSpPr>
        <p:spPr>
          <a:xfrm>
            <a:off x="6126480" y="3840480"/>
            <a:ext cx="2651760" cy="2194560"/>
          </a:xfrm>
          <a:prstGeom prst="roundRect">
            <a:avLst>
              <a:gd name="adj" fmla="val 5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35" name="Shape 27"/>
          <p:cNvSpPr/>
          <p:nvPr/>
        </p:nvSpPr>
        <p:spPr>
          <a:xfrm>
            <a:off x="6355080" y="4069080"/>
            <a:ext cx="548640" cy="548640"/>
          </a:xfrm>
          <a:prstGeom prst="ellipse">
            <a:avLst/>
          </a:prstGeom>
          <a:solidFill>
            <a:srgbClr val="F0EEFF"/>
          </a:solidFill>
          <a:ln w="12700">
            <a:solidFill>
              <a:srgbClr val="F0EEFF"/>
            </a:solidFill>
            <a:prstDash val="solid"/>
          </a:ln>
        </p:spPr>
      </p:sp>
      <p:pic>
        <p:nvPicPr>
          <p:cNvPr id="36" name="Image 6" descr="/private/tmp/claude-501/-Users-mauriciops-Proyectos-relwo-capstone/1a8b5f2b-d3d9-4b63-bfed-da79668ca276/scratchpad/pptx-build/assets/image30.png">    </p:cNvPr>
          <p:cNvPicPr>
            <a:picLocks noChangeAspect="1"/>
          </p:cNvPicPr>
          <p:nvPr/>
        </p:nvPicPr>
        <p:blipFill>
          <a:blip r:embed="rId7"/>
          <a:stretch>
            <a:fillRect/>
          </a:stretch>
        </p:blipFill>
        <p:spPr>
          <a:xfrm>
            <a:off x="6497726" y="4211726"/>
            <a:ext cx="263347" cy="263347"/>
          </a:xfrm>
          <a:prstGeom prst="rect">
            <a:avLst/>
          </a:prstGeom>
        </p:spPr>
      </p:pic>
      <p:sp>
        <p:nvSpPr>
          <p:cNvPr id="37" name="Text 28"/>
          <p:cNvSpPr txBox="1"/>
          <p:nvPr/>
        </p:nvSpPr>
        <p:spPr>
          <a:xfrm>
            <a:off x="6355080" y="4754880"/>
            <a:ext cx="2194560" cy="365760"/>
          </a:xfrm>
          <a:prstGeom prst="rect">
            <a:avLst/>
          </a:prstGeom>
          <a:noFill/>
          <a:ln/>
        </p:spPr>
        <p:txBody>
          <a:bodyPr wrap="square" lIns="0" tIns="0" rIns="0" bIns="0" rtlCol="0" anchor="t"/>
          <a:lstStyle/>
          <a:p>
            <a:pPr indent="0" marL="0">
              <a:buNone/>
            </a:pPr>
            <a:r>
              <a:rPr lang="en-US" sz="1350" b="1" dirty="0">
                <a:solidFill>
                  <a:srgbClr val="172442"/>
                </a:solidFill>
              </a:rPr>
              <a:t>Auditoría</a:t>
            </a:r>
            <a:endParaRPr lang="en-US" sz="1350" dirty="0"/>
          </a:p>
        </p:txBody>
      </p:sp>
      <p:sp>
        <p:nvSpPr>
          <p:cNvPr id="38" name="Text 29"/>
          <p:cNvSpPr txBox="1"/>
          <p:nvPr/>
        </p:nvSpPr>
        <p:spPr>
          <a:xfrm>
            <a:off x="6355080" y="5120640"/>
            <a:ext cx="2194560" cy="868680"/>
          </a:xfrm>
          <a:prstGeom prst="rect">
            <a:avLst/>
          </a:prstGeom>
          <a:noFill/>
          <a:ln/>
        </p:spPr>
        <p:txBody>
          <a:bodyPr wrap="square" lIns="0" tIns="0" rIns="0" bIns="0" rtlCol="0" anchor="t"/>
          <a:lstStyle/>
          <a:p>
            <a:pPr indent="0" marL="0">
              <a:lnSpc>
                <a:spcPct val="108000"/>
              </a:lnSpc>
              <a:buNone/>
            </a:pPr>
            <a:r>
              <a:rPr lang="en-US" sz="1050" dirty="0">
                <a:solidFill>
                  <a:srgbClr val="667085"/>
                </a:solidFill>
              </a:rPr>
              <a:t>Quién hizo qué y cuándo, con filtros por persona; no se puede modificar.</a:t>
            </a:r>
            <a:endParaRPr lang="en-US" sz="1050" dirty="0"/>
          </a:p>
        </p:txBody>
      </p:sp>
      <p:sp>
        <p:nvSpPr>
          <p:cNvPr id="39" name="Shape 30"/>
          <p:cNvSpPr/>
          <p:nvPr/>
        </p:nvSpPr>
        <p:spPr>
          <a:xfrm>
            <a:off x="8915400" y="3840480"/>
            <a:ext cx="2651760" cy="2194560"/>
          </a:xfrm>
          <a:prstGeom prst="roundRect">
            <a:avLst>
              <a:gd name="adj" fmla="val 5000"/>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40" name="Shape 31"/>
          <p:cNvSpPr/>
          <p:nvPr/>
        </p:nvSpPr>
        <p:spPr>
          <a:xfrm>
            <a:off x="9144000" y="4069080"/>
            <a:ext cx="548640" cy="548640"/>
          </a:xfrm>
          <a:prstGeom prst="ellipse">
            <a:avLst/>
          </a:prstGeom>
          <a:solidFill>
            <a:srgbClr val="F0EEFF"/>
          </a:solidFill>
          <a:ln w="12700">
            <a:solidFill>
              <a:srgbClr val="F0EEFF"/>
            </a:solidFill>
            <a:prstDash val="solid"/>
          </a:ln>
        </p:spPr>
      </p:sp>
      <p:pic>
        <p:nvPicPr>
          <p:cNvPr id="41" name="Image 7" descr="/private/tmp/claude-501/-Users-mauriciops-Proyectos-relwo-capstone/1a8b5f2b-d3d9-4b63-bfed-da79668ca276/scratchpad/pptx-build/assets/image26.png">    </p:cNvPr>
          <p:cNvPicPr>
            <a:picLocks noChangeAspect="1"/>
          </p:cNvPicPr>
          <p:nvPr/>
        </p:nvPicPr>
        <p:blipFill>
          <a:blip r:embed="rId8"/>
          <a:stretch>
            <a:fillRect/>
          </a:stretch>
        </p:blipFill>
        <p:spPr>
          <a:xfrm>
            <a:off x="9286646" y="4211726"/>
            <a:ext cx="263347" cy="263347"/>
          </a:xfrm>
          <a:prstGeom prst="rect">
            <a:avLst/>
          </a:prstGeom>
        </p:spPr>
      </p:pic>
      <p:sp>
        <p:nvSpPr>
          <p:cNvPr id="42" name="Text 32"/>
          <p:cNvSpPr txBox="1"/>
          <p:nvPr/>
        </p:nvSpPr>
        <p:spPr>
          <a:xfrm>
            <a:off x="9144000" y="4754880"/>
            <a:ext cx="2194560" cy="365760"/>
          </a:xfrm>
          <a:prstGeom prst="rect">
            <a:avLst/>
          </a:prstGeom>
          <a:noFill/>
          <a:ln/>
        </p:spPr>
        <p:txBody>
          <a:bodyPr wrap="square" lIns="0" tIns="0" rIns="0" bIns="0" rtlCol="0" anchor="t"/>
          <a:lstStyle/>
          <a:p>
            <a:pPr indent="0" marL="0">
              <a:buNone/>
            </a:pPr>
            <a:r>
              <a:rPr lang="en-US" sz="1350" b="1" dirty="0">
                <a:solidFill>
                  <a:srgbClr val="172442"/>
                </a:solidFill>
              </a:rPr>
              <a:t>Accesibilidad</a:t>
            </a:r>
            <a:endParaRPr lang="en-US" sz="1350" dirty="0"/>
          </a:p>
        </p:txBody>
      </p:sp>
      <p:sp>
        <p:nvSpPr>
          <p:cNvPr id="43" name="Text 33"/>
          <p:cNvSpPr txBox="1"/>
          <p:nvPr/>
        </p:nvSpPr>
        <p:spPr>
          <a:xfrm>
            <a:off x="9144000" y="5120640"/>
            <a:ext cx="2194560" cy="868680"/>
          </a:xfrm>
          <a:prstGeom prst="rect">
            <a:avLst/>
          </a:prstGeom>
          <a:noFill/>
          <a:ln/>
        </p:spPr>
        <p:txBody>
          <a:bodyPr wrap="square" lIns="0" tIns="0" rIns="0" bIns="0" rtlCol="0" anchor="t"/>
          <a:lstStyle/>
          <a:p>
            <a:pPr indent="0" marL="0">
              <a:lnSpc>
                <a:spcPct val="108000"/>
              </a:lnSpc>
              <a:buNone/>
            </a:pPr>
            <a:r>
              <a:rPr lang="en-US" sz="1050" dirty="0">
                <a:solidFill>
                  <a:srgbClr val="667085"/>
                </a:solidFill>
              </a:rPr>
              <a:t>Botones con reglas de color y contraste; recorrido con teclado en el Sprint 8.</a:t>
            </a:r>
            <a:endParaRPr lang="en-US" sz="1050" dirty="0"/>
          </a:p>
        </p:txBody>
      </p:sp>
      <p:sp>
        <p:nvSpPr>
          <p:cNvPr id="44" name="Text 34"/>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45" name="Text 35"/>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Tania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CALIDAD</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Cada cambio se prueba antes de entrar</a:t>
            </a:r>
            <a:endParaRPr lang="en-US" sz="3000" dirty="0"/>
          </a:p>
        </p:txBody>
      </p:sp>
      <p:sp>
        <p:nvSpPr>
          <p:cNvPr id="4" name="Shape 2"/>
          <p:cNvSpPr/>
          <p:nvPr/>
        </p:nvSpPr>
        <p:spPr>
          <a:xfrm>
            <a:off x="548640" y="1463040"/>
            <a:ext cx="2651760" cy="1325880"/>
          </a:xfrm>
          <a:prstGeom prst="roundRect">
            <a:avLst>
              <a:gd name="adj" fmla="val 6897"/>
            </a:avLst>
          </a:prstGeom>
          <a:solidFill>
            <a:srgbClr val="F0EEFF"/>
          </a:solidFill>
          <a:ln w="12700">
            <a:solidFill>
              <a:srgbClr val="F0EEFF"/>
            </a:solidFill>
            <a:prstDash val="solid"/>
          </a:ln>
        </p:spPr>
      </p:sp>
      <p:sp>
        <p:nvSpPr>
          <p:cNvPr id="5" name="Text 3"/>
          <p:cNvSpPr txBox="1"/>
          <p:nvPr/>
        </p:nvSpPr>
        <p:spPr>
          <a:xfrm>
            <a:off x="777240" y="1600200"/>
            <a:ext cx="2194560" cy="548640"/>
          </a:xfrm>
          <a:prstGeom prst="rect">
            <a:avLst/>
          </a:prstGeom>
          <a:noFill/>
          <a:ln/>
        </p:spPr>
        <p:txBody>
          <a:bodyPr wrap="square" lIns="0" tIns="0" rIns="0" bIns="0" rtlCol="0" anchor="t"/>
          <a:lstStyle/>
          <a:p>
            <a:pPr indent="0" marL="0">
              <a:buNone/>
            </a:pPr>
            <a:r>
              <a:rPr lang="en-US" sz="2600" b="1" dirty="0">
                <a:solidFill>
                  <a:srgbClr val="243B6B"/>
                </a:solidFill>
              </a:rPr>
              <a:t>≈ 4.800</a:t>
            </a:r>
            <a:endParaRPr lang="en-US" sz="2600" dirty="0"/>
          </a:p>
        </p:txBody>
      </p:sp>
      <p:sp>
        <p:nvSpPr>
          <p:cNvPr id="6" name="Text 4"/>
          <p:cNvSpPr txBox="1"/>
          <p:nvPr/>
        </p:nvSpPr>
        <p:spPr>
          <a:xfrm>
            <a:off x="777240" y="2176272"/>
            <a:ext cx="2194560" cy="548640"/>
          </a:xfrm>
          <a:prstGeom prst="rect">
            <a:avLst/>
          </a:prstGeom>
          <a:noFill/>
          <a:ln/>
        </p:spPr>
        <p:txBody>
          <a:bodyPr wrap="square" lIns="0" tIns="0" rIns="0" bIns="0" rtlCol="0" anchor="t"/>
          <a:lstStyle/>
          <a:p>
            <a:pPr indent="0" marL="0">
              <a:buNone/>
            </a:pPr>
            <a:r>
              <a:rPr lang="en-US" sz="1150" dirty="0">
                <a:solidFill>
                  <a:srgbClr val="667085"/>
                </a:solidFill>
              </a:rPr>
              <a:t>pruebas automáticas entre servidor y app</a:t>
            </a:r>
            <a:endParaRPr lang="en-US" sz="1150" dirty="0"/>
          </a:p>
        </p:txBody>
      </p:sp>
      <p:sp>
        <p:nvSpPr>
          <p:cNvPr id="7" name="Shape 5"/>
          <p:cNvSpPr/>
          <p:nvPr/>
        </p:nvSpPr>
        <p:spPr>
          <a:xfrm>
            <a:off x="3337560" y="1463040"/>
            <a:ext cx="2651760" cy="1325880"/>
          </a:xfrm>
          <a:prstGeom prst="roundRect">
            <a:avLst>
              <a:gd name="adj" fmla="val 6897"/>
            </a:avLst>
          </a:prstGeom>
          <a:solidFill>
            <a:srgbClr val="F0EEFF"/>
          </a:solidFill>
          <a:ln w="12700">
            <a:solidFill>
              <a:srgbClr val="F0EEFF"/>
            </a:solidFill>
            <a:prstDash val="solid"/>
          </a:ln>
        </p:spPr>
      </p:sp>
      <p:sp>
        <p:nvSpPr>
          <p:cNvPr id="8" name="Text 6"/>
          <p:cNvSpPr txBox="1"/>
          <p:nvPr/>
        </p:nvSpPr>
        <p:spPr>
          <a:xfrm>
            <a:off x="3566160" y="1600200"/>
            <a:ext cx="2194560" cy="548640"/>
          </a:xfrm>
          <a:prstGeom prst="rect">
            <a:avLst/>
          </a:prstGeom>
          <a:noFill/>
          <a:ln/>
        </p:spPr>
        <p:txBody>
          <a:bodyPr wrap="square" lIns="0" tIns="0" rIns="0" bIns="0" rtlCol="0" anchor="t"/>
          <a:lstStyle/>
          <a:p>
            <a:pPr indent="0" marL="0">
              <a:buNone/>
            </a:pPr>
            <a:r>
              <a:rPr lang="en-US" sz="2600" b="1" dirty="0">
                <a:solidFill>
                  <a:srgbClr val="243B6B"/>
                </a:solidFill>
              </a:rPr>
              <a:t>100 %</a:t>
            </a:r>
            <a:endParaRPr lang="en-US" sz="2600" dirty="0"/>
          </a:p>
        </p:txBody>
      </p:sp>
      <p:sp>
        <p:nvSpPr>
          <p:cNvPr id="9" name="Text 7"/>
          <p:cNvSpPr txBox="1"/>
          <p:nvPr/>
        </p:nvSpPr>
        <p:spPr>
          <a:xfrm>
            <a:off x="3566160" y="2176272"/>
            <a:ext cx="2194560" cy="548640"/>
          </a:xfrm>
          <a:prstGeom prst="rect">
            <a:avLst/>
          </a:prstGeom>
          <a:noFill/>
          <a:ln/>
        </p:spPr>
        <p:txBody>
          <a:bodyPr wrap="square" lIns="0" tIns="0" rIns="0" bIns="0" rtlCol="0" anchor="t"/>
          <a:lstStyle/>
          <a:p>
            <a:pPr indent="0" marL="0">
              <a:buNone/>
            </a:pPr>
            <a:r>
              <a:rPr lang="en-US" sz="1150" dirty="0">
                <a:solidFill>
                  <a:srgbClr val="667085"/>
                </a:solidFill>
              </a:rPr>
              <a:t>de los cambios revisados por otra persona</a:t>
            </a:r>
            <a:endParaRPr lang="en-US" sz="1150" dirty="0"/>
          </a:p>
        </p:txBody>
      </p:sp>
      <p:sp>
        <p:nvSpPr>
          <p:cNvPr id="10" name="Shape 8"/>
          <p:cNvSpPr/>
          <p:nvPr/>
        </p:nvSpPr>
        <p:spPr>
          <a:xfrm>
            <a:off x="6126480" y="1463040"/>
            <a:ext cx="2651760" cy="1325880"/>
          </a:xfrm>
          <a:prstGeom prst="roundRect">
            <a:avLst>
              <a:gd name="adj" fmla="val 6897"/>
            </a:avLst>
          </a:prstGeom>
          <a:solidFill>
            <a:srgbClr val="F0EEFF"/>
          </a:solidFill>
          <a:ln w="12700">
            <a:solidFill>
              <a:srgbClr val="F0EEFF"/>
            </a:solidFill>
            <a:prstDash val="solid"/>
          </a:ln>
        </p:spPr>
      </p:sp>
      <p:sp>
        <p:nvSpPr>
          <p:cNvPr id="11" name="Text 9"/>
          <p:cNvSpPr txBox="1"/>
          <p:nvPr/>
        </p:nvSpPr>
        <p:spPr>
          <a:xfrm>
            <a:off x="6355080" y="1600200"/>
            <a:ext cx="2194560" cy="548640"/>
          </a:xfrm>
          <a:prstGeom prst="rect">
            <a:avLst/>
          </a:prstGeom>
          <a:noFill/>
          <a:ln/>
        </p:spPr>
        <p:txBody>
          <a:bodyPr wrap="square" lIns="0" tIns="0" rIns="0" bIns="0" rtlCol="0" anchor="t"/>
          <a:lstStyle/>
          <a:p>
            <a:pPr indent="0" marL="0">
              <a:buNone/>
            </a:pPr>
            <a:r>
              <a:rPr lang="en-US" sz="2600" b="1" dirty="0">
                <a:solidFill>
                  <a:srgbClr val="243B6B"/>
                </a:solidFill>
              </a:rPr>
              <a:t>7</a:t>
            </a:r>
            <a:endParaRPr lang="en-US" sz="2600" dirty="0"/>
          </a:p>
        </p:txBody>
      </p:sp>
      <p:sp>
        <p:nvSpPr>
          <p:cNvPr id="12" name="Text 10"/>
          <p:cNvSpPr txBox="1"/>
          <p:nvPr/>
        </p:nvSpPr>
        <p:spPr>
          <a:xfrm>
            <a:off x="6355080" y="2176272"/>
            <a:ext cx="2194560" cy="548640"/>
          </a:xfrm>
          <a:prstGeom prst="rect">
            <a:avLst/>
          </a:prstGeom>
          <a:noFill/>
          <a:ln/>
        </p:spPr>
        <p:txBody>
          <a:bodyPr wrap="square" lIns="0" tIns="0" rIns="0" bIns="0" rtlCol="0" anchor="t"/>
          <a:lstStyle/>
          <a:p>
            <a:pPr indent="0" marL="0">
              <a:buNone/>
            </a:pPr>
            <a:r>
              <a:rPr lang="en-US" sz="1150" dirty="0">
                <a:solidFill>
                  <a:srgbClr val="667085"/>
                </a:solidFill>
              </a:rPr>
              <a:t>revisiones de sprint presentadas al cliente</a:t>
            </a:r>
            <a:endParaRPr lang="en-US" sz="1150" dirty="0"/>
          </a:p>
        </p:txBody>
      </p:sp>
      <p:sp>
        <p:nvSpPr>
          <p:cNvPr id="13" name="Shape 11"/>
          <p:cNvSpPr/>
          <p:nvPr/>
        </p:nvSpPr>
        <p:spPr>
          <a:xfrm>
            <a:off x="8915400" y="1463040"/>
            <a:ext cx="2651760" cy="1325880"/>
          </a:xfrm>
          <a:prstGeom prst="roundRect">
            <a:avLst>
              <a:gd name="adj" fmla="val 6897"/>
            </a:avLst>
          </a:prstGeom>
          <a:solidFill>
            <a:srgbClr val="F0EEFF"/>
          </a:solidFill>
          <a:ln w="12700">
            <a:solidFill>
              <a:srgbClr val="F0EEFF"/>
            </a:solidFill>
            <a:prstDash val="solid"/>
          </a:ln>
        </p:spPr>
      </p:sp>
      <p:sp>
        <p:nvSpPr>
          <p:cNvPr id="14" name="Text 12"/>
          <p:cNvSpPr txBox="1"/>
          <p:nvPr/>
        </p:nvSpPr>
        <p:spPr>
          <a:xfrm>
            <a:off x="9144000" y="1600200"/>
            <a:ext cx="2194560" cy="548640"/>
          </a:xfrm>
          <a:prstGeom prst="rect">
            <a:avLst/>
          </a:prstGeom>
          <a:noFill/>
          <a:ln/>
        </p:spPr>
        <p:txBody>
          <a:bodyPr wrap="square" lIns="0" tIns="0" rIns="0" bIns="0" rtlCol="0" anchor="t"/>
          <a:lstStyle/>
          <a:p>
            <a:pPr indent="0" marL="0">
              <a:buNone/>
            </a:pPr>
            <a:r>
              <a:rPr lang="en-US" sz="2600" b="1" dirty="0">
                <a:solidFill>
                  <a:srgbClr val="243B6B"/>
                </a:solidFill>
              </a:rPr>
              <a:t>2</a:t>
            </a:r>
            <a:endParaRPr lang="en-US" sz="2600" dirty="0"/>
          </a:p>
        </p:txBody>
      </p:sp>
      <p:sp>
        <p:nvSpPr>
          <p:cNvPr id="15" name="Text 13"/>
          <p:cNvSpPr txBox="1"/>
          <p:nvPr/>
        </p:nvSpPr>
        <p:spPr>
          <a:xfrm>
            <a:off x="9144000" y="2176272"/>
            <a:ext cx="2194560" cy="548640"/>
          </a:xfrm>
          <a:prstGeom prst="rect">
            <a:avLst/>
          </a:prstGeom>
          <a:noFill/>
          <a:ln/>
        </p:spPr>
        <p:txBody>
          <a:bodyPr wrap="square" lIns="0" tIns="0" rIns="0" bIns="0" rtlCol="0" anchor="t"/>
          <a:lstStyle/>
          <a:p>
            <a:pPr indent="0" marL="0">
              <a:buNone/>
            </a:pPr>
            <a:r>
              <a:rPr lang="en-US" sz="1150" dirty="0">
                <a:solidFill>
                  <a:srgbClr val="667085"/>
                </a:solidFill>
              </a:rPr>
              <a:t>dispositivos de prueba: emulador y teléfono físico</a:t>
            </a:r>
            <a:endParaRPr lang="en-US" sz="1150" dirty="0"/>
          </a:p>
        </p:txBody>
      </p:sp>
      <p:sp>
        <p:nvSpPr>
          <p:cNvPr id="16" name="Shape 14"/>
          <p:cNvSpPr/>
          <p:nvPr/>
        </p:nvSpPr>
        <p:spPr>
          <a:xfrm>
            <a:off x="548640" y="3017520"/>
            <a:ext cx="5394960"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7" name="Shape 15"/>
          <p:cNvSpPr/>
          <p:nvPr/>
        </p:nvSpPr>
        <p:spPr>
          <a:xfrm>
            <a:off x="822960" y="3246120"/>
            <a:ext cx="548640" cy="548640"/>
          </a:xfrm>
          <a:prstGeom prst="ellipse">
            <a:avLst/>
          </a:prstGeom>
          <a:solidFill>
            <a:srgbClr val="F0EEFF"/>
          </a:solidFill>
          <a:ln w="12700">
            <a:solidFill>
              <a:srgbClr val="F0EEFF"/>
            </a:solidFill>
            <a:prstDash val="solid"/>
          </a:ln>
        </p:spPr>
      </p:sp>
      <p:pic>
        <p:nvPicPr>
          <p:cNvPr id="18" name="Image 0" descr="/private/tmp/claude-501/-Users-mauriciops-Proyectos-relwo-capstone/1a8b5f2b-d3d9-4b63-bfed-da79668ca276/scratchpad/pptx-build/assets/image10.png">    </p:cNvPr>
          <p:cNvPicPr>
            <a:picLocks noChangeAspect="1"/>
          </p:cNvPicPr>
          <p:nvPr/>
        </p:nvPicPr>
        <p:blipFill>
          <a:blip r:embed="rId1"/>
          <a:stretch>
            <a:fillRect/>
          </a:stretch>
        </p:blipFill>
        <p:spPr>
          <a:xfrm>
            <a:off x="965606" y="3388766"/>
            <a:ext cx="263347" cy="263347"/>
          </a:xfrm>
          <a:prstGeom prst="rect">
            <a:avLst/>
          </a:prstGeom>
        </p:spPr>
      </p:pic>
      <p:sp>
        <p:nvSpPr>
          <p:cNvPr id="19" name="Text 16"/>
          <p:cNvSpPr txBox="1"/>
          <p:nvPr/>
        </p:nvSpPr>
        <p:spPr>
          <a:xfrm>
            <a:off x="1508760" y="3218688"/>
            <a:ext cx="4206240" cy="365760"/>
          </a:xfrm>
          <a:prstGeom prst="rect">
            <a:avLst/>
          </a:prstGeom>
          <a:noFill/>
          <a:ln/>
        </p:spPr>
        <p:txBody>
          <a:bodyPr wrap="square" lIns="0" tIns="0" rIns="0" bIns="0" rtlCol="0" anchor="t"/>
          <a:lstStyle/>
          <a:p>
            <a:pPr indent="0" marL="0">
              <a:buNone/>
            </a:pPr>
            <a:r>
              <a:rPr lang="en-US" sz="1450" b="1" dirty="0">
                <a:solidFill>
                  <a:srgbClr val="172442"/>
                </a:solidFill>
              </a:rPr>
              <a:t>Pruebas en cada cambio</a:t>
            </a:r>
            <a:endParaRPr lang="en-US" sz="1450" dirty="0"/>
          </a:p>
        </p:txBody>
      </p:sp>
      <p:sp>
        <p:nvSpPr>
          <p:cNvPr id="20" name="Text 17"/>
          <p:cNvSpPr txBox="1"/>
          <p:nvPr/>
        </p:nvSpPr>
        <p:spPr>
          <a:xfrm>
            <a:off x="1508760" y="3584448"/>
            <a:ext cx="4206240" cy="82296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Las pruebas corren solas antes de integrar cada cambio y verifican que el contrato entre servidor, app y panel siga sincronizado.</a:t>
            </a:r>
            <a:endParaRPr lang="en-US" sz="1100" dirty="0"/>
          </a:p>
        </p:txBody>
      </p:sp>
      <p:sp>
        <p:nvSpPr>
          <p:cNvPr id="21" name="Shape 18"/>
          <p:cNvSpPr/>
          <p:nvPr/>
        </p:nvSpPr>
        <p:spPr>
          <a:xfrm>
            <a:off x="6217920" y="3017520"/>
            <a:ext cx="5394960"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2" name="Shape 19"/>
          <p:cNvSpPr/>
          <p:nvPr/>
        </p:nvSpPr>
        <p:spPr>
          <a:xfrm>
            <a:off x="6492240" y="3246120"/>
            <a:ext cx="548640" cy="548640"/>
          </a:xfrm>
          <a:prstGeom prst="ellipse">
            <a:avLst/>
          </a:prstGeom>
          <a:solidFill>
            <a:srgbClr val="F0EEFF"/>
          </a:solidFill>
          <a:ln w="12700">
            <a:solidFill>
              <a:srgbClr val="F0EEFF"/>
            </a:solidFill>
            <a:prstDash val="solid"/>
          </a:ln>
        </p:spPr>
      </p:sp>
      <p:pic>
        <p:nvPicPr>
          <p:cNvPr id="23" name="Image 1" descr="/private/tmp/claude-501/-Users-mauriciops-Proyectos-relwo-capstone/1a8b5f2b-d3d9-4b63-bfed-da79668ca276/scratchpad/pptx-build/assets/image7.png">    </p:cNvPr>
          <p:cNvPicPr>
            <a:picLocks noChangeAspect="1"/>
          </p:cNvPicPr>
          <p:nvPr/>
        </p:nvPicPr>
        <p:blipFill>
          <a:blip r:embed="rId2"/>
          <a:stretch>
            <a:fillRect/>
          </a:stretch>
        </p:blipFill>
        <p:spPr>
          <a:xfrm>
            <a:off x="6634886" y="3388766"/>
            <a:ext cx="263347" cy="263347"/>
          </a:xfrm>
          <a:prstGeom prst="rect">
            <a:avLst/>
          </a:prstGeom>
        </p:spPr>
      </p:pic>
      <p:sp>
        <p:nvSpPr>
          <p:cNvPr id="24" name="Text 20"/>
          <p:cNvSpPr txBox="1"/>
          <p:nvPr/>
        </p:nvSpPr>
        <p:spPr>
          <a:xfrm>
            <a:off x="7178040" y="3218688"/>
            <a:ext cx="4206240" cy="365760"/>
          </a:xfrm>
          <a:prstGeom prst="rect">
            <a:avLst/>
          </a:prstGeom>
          <a:noFill/>
          <a:ln/>
        </p:spPr>
        <p:txBody>
          <a:bodyPr wrap="square" lIns="0" tIns="0" rIns="0" bIns="0" rtlCol="0" anchor="t"/>
          <a:lstStyle/>
          <a:p>
            <a:pPr indent="0" marL="0">
              <a:buNone/>
            </a:pPr>
            <a:r>
              <a:rPr lang="en-US" sz="1450" b="1" dirty="0">
                <a:solidFill>
                  <a:srgbClr val="172442"/>
                </a:solidFill>
              </a:rPr>
              <a:t>Pruebas en dispositivos</a:t>
            </a:r>
            <a:endParaRPr lang="en-US" sz="1450" dirty="0"/>
          </a:p>
        </p:txBody>
      </p:sp>
      <p:sp>
        <p:nvSpPr>
          <p:cNvPr id="25" name="Text 21"/>
          <p:cNvSpPr txBox="1"/>
          <p:nvPr/>
        </p:nvSpPr>
        <p:spPr>
          <a:xfrm>
            <a:off x="7178040" y="3584448"/>
            <a:ext cx="4206240" cy="82296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Recorridos manuales en emulador y en un teléfono real contra el entorno de prueba; los hallazgos se corrigen dentro del mismo sprint.</a:t>
            </a:r>
            <a:endParaRPr lang="en-US" sz="1100" dirty="0"/>
          </a:p>
        </p:txBody>
      </p:sp>
      <p:sp>
        <p:nvSpPr>
          <p:cNvPr id="26" name="Shape 22"/>
          <p:cNvSpPr/>
          <p:nvPr/>
        </p:nvSpPr>
        <p:spPr>
          <a:xfrm>
            <a:off x="548640" y="4617720"/>
            <a:ext cx="5394960"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27" name="Shape 23"/>
          <p:cNvSpPr/>
          <p:nvPr/>
        </p:nvSpPr>
        <p:spPr>
          <a:xfrm>
            <a:off x="822960" y="4846320"/>
            <a:ext cx="548640" cy="548640"/>
          </a:xfrm>
          <a:prstGeom prst="ellipse">
            <a:avLst/>
          </a:prstGeom>
          <a:solidFill>
            <a:srgbClr val="F0EEFF"/>
          </a:solidFill>
          <a:ln w="12700">
            <a:solidFill>
              <a:srgbClr val="F0EEFF"/>
            </a:solidFill>
            <a:prstDash val="solid"/>
          </a:ln>
        </p:spPr>
      </p:sp>
      <p:pic>
        <p:nvPicPr>
          <p:cNvPr id="28" name="Image 2" descr="/private/tmp/claude-501/-Users-mauriciops-Proyectos-relwo-capstone/1a8b5f2b-d3d9-4b63-bfed-da79668ca276/scratchpad/pptx-build/assets/image4.png">    </p:cNvPr>
          <p:cNvPicPr>
            <a:picLocks noChangeAspect="1"/>
          </p:cNvPicPr>
          <p:nvPr/>
        </p:nvPicPr>
        <p:blipFill>
          <a:blip r:embed="rId3"/>
          <a:stretch>
            <a:fillRect/>
          </a:stretch>
        </p:blipFill>
        <p:spPr>
          <a:xfrm>
            <a:off x="965606" y="4988966"/>
            <a:ext cx="263347" cy="263347"/>
          </a:xfrm>
          <a:prstGeom prst="rect">
            <a:avLst/>
          </a:prstGeom>
        </p:spPr>
      </p:pic>
      <p:sp>
        <p:nvSpPr>
          <p:cNvPr id="29" name="Text 24"/>
          <p:cNvSpPr txBox="1"/>
          <p:nvPr/>
        </p:nvSpPr>
        <p:spPr>
          <a:xfrm>
            <a:off x="1508760" y="4818888"/>
            <a:ext cx="4206240" cy="365760"/>
          </a:xfrm>
          <a:prstGeom prst="rect">
            <a:avLst/>
          </a:prstGeom>
          <a:noFill/>
          <a:ln/>
        </p:spPr>
        <p:txBody>
          <a:bodyPr wrap="square" lIns="0" tIns="0" rIns="0" bIns="0" rtlCol="0" anchor="t"/>
          <a:lstStyle/>
          <a:p>
            <a:pPr indent="0" marL="0">
              <a:buNone/>
            </a:pPr>
            <a:r>
              <a:rPr lang="en-US" sz="1450" b="1" dirty="0">
                <a:solidFill>
                  <a:srgbClr val="172442"/>
                </a:solidFill>
              </a:rPr>
              <a:t>Seguridad por diseño</a:t>
            </a:r>
            <a:endParaRPr lang="en-US" sz="1450" dirty="0"/>
          </a:p>
        </p:txBody>
      </p:sp>
      <p:sp>
        <p:nvSpPr>
          <p:cNvPr id="30" name="Text 25"/>
          <p:cNvSpPr txBox="1"/>
          <p:nvPr/>
        </p:nvSpPr>
        <p:spPr>
          <a:xfrm>
            <a:off x="1508760" y="5184648"/>
            <a:ext cx="4206240" cy="82296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Montos solo en el servidor, contraseñas fuera del código, permisos mínimos en la base de datos y auditoría que no se puede alterar.</a:t>
            </a:r>
            <a:endParaRPr lang="en-US" sz="1100" dirty="0"/>
          </a:p>
        </p:txBody>
      </p:sp>
      <p:sp>
        <p:nvSpPr>
          <p:cNvPr id="31" name="Shape 26"/>
          <p:cNvSpPr/>
          <p:nvPr/>
        </p:nvSpPr>
        <p:spPr>
          <a:xfrm>
            <a:off x="6217920" y="4617720"/>
            <a:ext cx="5394960" cy="1417320"/>
          </a:xfrm>
          <a:prstGeom prst="roundRect">
            <a:avLst>
              <a:gd name="adj" fmla="val 7742"/>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32" name="Shape 27"/>
          <p:cNvSpPr/>
          <p:nvPr/>
        </p:nvSpPr>
        <p:spPr>
          <a:xfrm>
            <a:off x="6492240" y="4846320"/>
            <a:ext cx="548640" cy="548640"/>
          </a:xfrm>
          <a:prstGeom prst="ellipse">
            <a:avLst/>
          </a:prstGeom>
          <a:solidFill>
            <a:srgbClr val="F0EEFF"/>
          </a:solidFill>
          <a:ln w="12700">
            <a:solidFill>
              <a:srgbClr val="F0EEFF"/>
            </a:solidFill>
            <a:prstDash val="solid"/>
          </a:ln>
        </p:spPr>
      </p:sp>
      <p:pic>
        <p:nvPicPr>
          <p:cNvPr id="33" name="Image 3" descr="/private/tmp/claude-501/-Users-mauriciops-Proyectos-relwo-capstone/1a8b5f2b-d3d9-4b63-bfed-da79668ca276/scratchpad/pptx-build/assets/image30.png">    </p:cNvPr>
          <p:cNvPicPr>
            <a:picLocks noChangeAspect="1"/>
          </p:cNvPicPr>
          <p:nvPr/>
        </p:nvPicPr>
        <p:blipFill>
          <a:blip r:embed="rId4"/>
          <a:stretch>
            <a:fillRect/>
          </a:stretch>
        </p:blipFill>
        <p:spPr>
          <a:xfrm>
            <a:off x="6634886" y="4988966"/>
            <a:ext cx="263347" cy="263347"/>
          </a:xfrm>
          <a:prstGeom prst="rect">
            <a:avLst/>
          </a:prstGeom>
        </p:spPr>
      </p:pic>
      <p:sp>
        <p:nvSpPr>
          <p:cNvPr id="34" name="Text 28"/>
          <p:cNvSpPr txBox="1"/>
          <p:nvPr/>
        </p:nvSpPr>
        <p:spPr>
          <a:xfrm>
            <a:off x="7178040" y="4818888"/>
            <a:ext cx="4206240" cy="365760"/>
          </a:xfrm>
          <a:prstGeom prst="rect">
            <a:avLst/>
          </a:prstGeom>
          <a:noFill/>
          <a:ln/>
        </p:spPr>
        <p:txBody>
          <a:bodyPr wrap="square" lIns="0" tIns="0" rIns="0" bIns="0" rtlCol="0" anchor="t"/>
          <a:lstStyle/>
          <a:p>
            <a:pPr indent="0" marL="0">
              <a:buNone/>
            </a:pPr>
            <a:r>
              <a:rPr lang="en-US" sz="1450" b="1" dirty="0">
                <a:solidFill>
                  <a:srgbClr val="172442"/>
                </a:solidFill>
              </a:rPr>
              <a:t>Trazabilidad documental</a:t>
            </a:r>
            <a:endParaRPr lang="en-US" sz="1450" dirty="0"/>
          </a:p>
        </p:txBody>
      </p:sp>
      <p:sp>
        <p:nvSpPr>
          <p:cNvPr id="35" name="Text 29"/>
          <p:cNvSpPr txBox="1"/>
          <p:nvPr/>
        </p:nvSpPr>
        <p:spPr>
          <a:xfrm>
            <a:off x="7178040" y="5184648"/>
            <a:ext cx="4206240" cy="822960"/>
          </a:xfrm>
          <a:prstGeom prst="rect">
            <a:avLst/>
          </a:prstGeom>
          <a:noFill/>
          <a:ln/>
        </p:spPr>
        <p:txBody>
          <a:bodyPr wrap="square" lIns="0" tIns="0" rIns="0" bIns="0" rtlCol="0" anchor="t"/>
          <a:lstStyle/>
          <a:p>
            <a:pPr indent="0" marL="0">
              <a:lnSpc>
                <a:spcPct val="108000"/>
              </a:lnSpc>
              <a:buNone/>
            </a:pPr>
            <a:r>
              <a:rPr lang="en-US" sz="1100" dirty="0">
                <a:solidFill>
                  <a:srgbClr val="667085"/>
                </a:solidFill>
              </a:rPr>
              <a:t>Cada cambio de alcance queda fechado y cada sprint deja su backlog, su seguimiento diario, su acta y su retrospectiva.</a:t>
            </a:r>
            <a:endParaRPr lang="en-US" sz="1100" dirty="0"/>
          </a:p>
        </p:txBody>
      </p:sp>
      <p:sp>
        <p:nvSpPr>
          <p:cNvPr id="36" name="Text 30"/>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37" name="Text 31"/>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Nayareth</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MONITOREO DEL PLAN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Facilitadores, dificultades y ajustes</a:t>
            </a:r>
            <a:endParaRPr lang="en-US" sz="3000" dirty="0"/>
          </a:p>
        </p:txBody>
      </p:sp>
      <p:sp>
        <p:nvSpPr>
          <p:cNvPr id="4" name="Shape 2"/>
          <p:cNvSpPr/>
          <p:nvPr/>
        </p:nvSpPr>
        <p:spPr>
          <a:xfrm>
            <a:off x="548640" y="1463040"/>
            <a:ext cx="3566160" cy="4206240"/>
          </a:xfrm>
          <a:prstGeom prst="roundRect">
            <a:avLst>
              <a:gd name="adj" fmla="val 3077"/>
            </a:avLst>
          </a:prstGeom>
          <a:solidFill>
            <a:srgbClr val="E6F4F0"/>
          </a:solidFill>
          <a:ln w="12700">
            <a:solidFill>
              <a:srgbClr val="E6F4F0"/>
            </a:solidFill>
            <a:prstDash val="solid"/>
          </a:ln>
        </p:spPr>
      </p:sp>
      <p:sp>
        <p:nvSpPr>
          <p:cNvPr id="5" name="Text 3"/>
          <p:cNvSpPr txBox="1"/>
          <p:nvPr/>
        </p:nvSpPr>
        <p:spPr>
          <a:xfrm>
            <a:off x="822960" y="1645920"/>
            <a:ext cx="3017520" cy="365760"/>
          </a:xfrm>
          <a:prstGeom prst="rect">
            <a:avLst/>
          </a:prstGeom>
          <a:noFill/>
          <a:ln/>
        </p:spPr>
        <p:txBody>
          <a:bodyPr wrap="square" lIns="0" tIns="0" rIns="0" bIns="0" rtlCol="0" anchor="t"/>
          <a:lstStyle/>
          <a:p>
            <a:pPr indent="0" marL="0">
              <a:buNone/>
            </a:pPr>
            <a:r>
              <a:rPr lang="en-US" sz="1700" b="1" dirty="0">
                <a:solidFill>
                  <a:srgbClr val="16856B"/>
                </a:solidFill>
              </a:rPr>
              <a:t>Facilitadores</a:t>
            </a:r>
            <a:endParaRPr lang="en-US" sz="1700" dirty="0"/>
          </a:p>
        </p:txBody>
      </p:sp>
      <p:sp>
        <p:nvSpPr>
          <p:cNvPr id="6" name="Text 4"/>
          <p:cNvSpPr txBox="1"/>
          <p:nvPr/>
        </p:nvSpPr>
        <p:spPr>
          <a:xfrm>
            <a:off x="822960" y="2148840"/>
            <a:ext cx="3017520" cy="3383280"/>
          </a:xfrm>
          <a:prstGeom prst="rect">
            <a:avLst/>
          </a:prstGeom>
          <a:noFill/>
          <a:ln/>
        </p:spPr>
        <p:txBody>
          <a:bodyPr wrap="square" lIns="0" tIns="0" rIns="0" bIns="0" rtlCol="0" anchor="t"/>
          <a:lstStyle/>
          <a:p>
            <a:pPr marL="152400" indent="-152400">
              <a:spcAft>
                <a:spcPts val="900"/>
              </a:spcAft>
              <a:buSzPct val="100000"/>
              <a:buChar char="•"/>
            </a:pPr>
            <a:r>
              <a:rPr lang="en-US" sz="1200" dirty="0">
                <a:solidFill>
                  <a:srgbClr val="202636"/>
                </a:solidFill>
              </a:rPr>
              <a:t>Contrato de comunicación publicado desde el Sprint 1: app y panel avanzan en paralelo.</a:t>
            </a:r>
            <a:endParaRPr lang="en-US" sz="1200" dirty="0"/>
          </a:p>
          <a:p>
            <a:pPr marL="152400" indent="-152400">
              <a:spcAft>
                <a:spcPts val="900"/>
              </a:spcAft>
              <a:buSzPct val="100000"/>
              <a:buChar char="•"/>
            </a:pPr>
            <a:r>
              <a:rPr lang="en-US" sz="1200" dirty="0">
                <a:solidFill>
                  <a:srgbClr val="202636"/>
                </a:solidFill>
              </a:rPr>
              <a:t>Simuladores para pagos y terceros: nadie se bloquea esperando.</a:t>
            </a:r>
            <a:endParaRPr lang="en-US" sz="1200" dirty="0"/>
          </a:p>
          <a:p>
            <a:pPr marL="152400" indent="-152400">
              <a:spcAft>
                <a:spcPts val="900"/>
              </a:spcAft>
              <a:buSzPct val="100000"/>
              <a:buChar char="•"/>
            </a:pPr>
            <a:r>
              <a:rPr lang="en-US" sz="1200" dirty="0">
                <a:solidFill>
                  <a:srgbClr val="202636"/>
                </a:solidFill>
              </a:rPr>
              <a:t>Entorno de prueba en la nube desde la semana 6.</a:t>
            </a:r>
            <a:endParaRPr lang="en-US" sz="1200" dirty="0"/>
          </a:p>
          <a:p>
            <a:pPr marL="152400" indent="-152400">
              <a:spcAft>
                <a:spcPts val="900"/>
              </a:spcAft>
              <a:buSzPct val="100000"/>
              <a:buChar char="•"/>
            </a:pPr>
            <a:r>
              <a:rPr lang="en-US" sz="1200" dirty="0">
                <a:solidFill>
                  <a:srgbClr val="202636"/>
                </a:solidFill>
              </a:rPr>
              <a:t>Documentación versionada junto al código: cualquiera retoma el trabajo.</a:t>
            </a:r>
            <a:endParaRPr lang="en-US" sz="1200" dirty="0"/>
          </a:p>
        </p:txBody>
      </p:sp>
      <p:sp>
        <p:nvSpPr>
          <p:cNvPr id="7" name="Shape 5"/>
          <p:cNvSpPr/>
          <p:nvPr/>
        </p:nvSpPr>
        <p:spPr>
          <a:xfrm>
            <a:off x="4297680" y="1463040"/>
            <a:ext cx="3566160" cy="4206240"/>
          </a:xfrm>
          <a:prstGeom prst="roundRect">
            <a:avLst>
              <a:gd name="adj" fmla="val 3077"/>
            </a:avLst>
          </a:prstGeom>
          <a:solidFill>
            <a:srgbClr val="FDE8E3"/>
          </a:solidFill>
          <a:ln w="12700">
            <a:solidFill>
              <a:srgbClr val="FDE8E3"/>
            </a:solidFill>
            <a:prstDash val="solid"/>
          </a:ln>
        </p:spPr>
      </p:sp>
      <p:sp>
        <p:nvSpPr>
          <p:cNvPr id="8" name="Text 6"/>
          <p:cNvSpPr txBox="1"/>
          <p:nvPr/>
        </p:nvSpPr>
        <p:spPr>
          <a:xfrm>
            <a:off x="4572000" y="1645920"/>
            <a:ext cx="3017520" cy="365760"/>
          </a:xfrm>
          <a:prstGeom prst="rect">
            <a:avLst/>
          </a:prstGeom>
          <a:noFill/>
          <a:ln/>
        </p:spPr>
        <p:txBody>
          <a:bodyPr wrap="square" lIns="0" tIns="0" rIns="0" bIns="0" rtlCol="0" anchor="t"/>
          <a:lstStyle/>
          <a:p>
            <a:pPr indent="0" marL="0">
              <a:buNone/>
            </a:pPr>
            <a:r>
              <a:rPr lang="en-US" sz="1700" b="1" dirty="0">
                <a:solidFill>
                  <a:srgbClr val="F06449"/>
                </a:solidFill>
              </a:rPr>
              <a:t>Dificultades</a:t>
            </a:r>
            <a:endParaRPr lang="en-US" sz="1700" dirty="0"/>
          </a:p>
        </p:txBody>
      </p:sp>
      <p:sp>
        <p:nvSpPr>
          <p:cNvPr id="9" name="Text 7"/>
          <p:cNvSpPr txBox="1"/>
          <p:nvPr/>
        </p:nvSpPr>
        <p:spPr>
          <a:xfrm>
            <a:off x="4572000" y="2148840"/>
            <a:ext cx="3017520" cy="3383280"/>
          </a:xfrm>
          <a:prstGeom prst="rect">
            <a:avLst/>
          </a:prstGeom>
          <a:noFill/>
          <a:ln/>
        </p:spPr>
        <p:txBody>
          <a:bodyPr wrap="square" lIns="0" tIns="0" rIns="0" bIns="0" rtlCol="0" anchor="t"/>
          <a:lstStyle/>
          <a:p>
            <a:pPr marL="152400" indent="-152400">
              <a:spcAft>
                <a:spcPts val="900"/>
              </a:spcAft>
              <a:buSzPct val="100000"/>
              <a:buChar char="•"/>
            </a:pPr>
            <a:r>
              <a:rPr lang="en-US" sz="1200" dirty="0">
                <a:solidFill>
                  <a:srgbClr val="202636"/>
                </a:solidFill>
              </a:rPr>
              <a:t>Sobrecarga concentrada en una persona: Scrum Master, servidor, app y revisión.</a:t>
            </a:r>
            <a:endParaRPr lang="en-US" sz="1200" dirty="0"/>
          </a:p>
          <a:p>
            <a:pPr marL="152400" indent="-152400">
              <a:spcAft>
                <a:spcPts val="900"/>
              </a:spcAft>
              <a:buSzPct val="100000"/>
              <a:buChar char="•"/>
            </a:pPr>
            <a:r>
              <a:rPr lang="en-US" sz="1200" dirty="0">
                <a:solidFill>
                  <a:srgbClr val="202636"/>
                </a:solidFill>
              </a:rPr>
              <a:t>Servicios de terceros que no dependen de nosotros, en especial la pasarela de pago real.</a:t>
            </a:r>
            <a:endParaRPr lang="en-US" sz="1200" dirty="0"/>
          </a:p>
          <a:p>
            <a:pPr marL="152400" indent="-152400">
              <a:spcAft>
                <a:spcPts val="900"/>
              </a:spcAft>
              <a:buSzPct val="100000"/>
              <a:buChar char="•"/>
            </a:pPr>
            <a:r>
              <a:rPr lang="en-US" sz="1200" dirty="0">
                <a:solidFill>
                  <a:srgbClr val="202636"/>
                </a:solidFill>
              </a:rPr>
              <a:t>Horarios: los tres trabajamos.</a:t>
            </a:r>
            <a:endParaRPr lang="en-US" sz="1200" dirty="0"/>
          </a:p>
          <a:p>
            <a:pPr marL="152400" indent="-152400">
              <a:spcAft>
                <a:spcPts val="900"/>
              </a:spcAft>
              <a:buSzPct val="100000"/>
              <a:buChar char="•"/>
            </a:pPr>
            <a:r>
              <a:rPr lang="en-US" sz="1200" dirty="0">
                <a:solidFill>
                  <a:srgbClr val="202636"/>
                </a:solidFill>
              </a:rPr>
              <a:t>Cambios de alcance pedidos por la parte comercial, como la publicación con multioferta.</a:t>
            </a:r>
            <a:endParaRPr lang="en-US" sz="1200" dirty="0"/>
          </a:p>
        </p:txBody>
      </p:sp>
      <p:sp>
        <p:nvSpPr>
          <p:cNvPr id="10" name="Shape 8"/>
          <p:cNvSpPr/>
          <p:nvPr/>
        </p:nvSpPr>
        <p:spPr>
          <a:xfrm>
            <a:off x="8046720" y="1463040"/>
            <a:ext cx="3566160" cy="4206240"/>
          </a:xfrm>
          <a:prstGeom prst="roundRect">
            <a:avLst>
              <a:gd name="adj" fmla="val 3077"/>
            </a:avLst>
          </a:prstGeom>
          <a:solidFill>
            <a:srgbClr val="F0EEFF"/>
          </a:solidFill>
          <a:ln w="12700">
            <a:solidFill>
              <a:srgbClr val="F0EEFF"/>
            </a:solidFill>
            <a:prstDash val="solid"/>
          </a:ln>
        </p:spPr>
      </p:sp>
      <p:sp>
        <p:nvSpPr>
          <p:cNvPr id="11" name="Text 9"/>
          <p:cNvSpPr txBox="1"/>
          <p:nvPr/>
        </p:nvSpPr>
        <p:spPr>
          <a:xfrm>
            <a:off x="8321040" y="1645920"/>
            <a:ext cx="3017520" cy="365760"/>
          </a:xfrm>
          <a:prstGeom prst="rect">
            <a:avLst/>
          </a:prstGeom>
          <a:noFill/>
          <a:ln/>
        </p:spPr>
        <p:txBody>
          <a:bodyPr wrap="square" lIns="0" tIns="0" rIns="0" bIns="0" rtlCol="0" anchor="t"/>
          <a:lstStyle/>
          <a:p>
            <a:pPr indent="0" marL="0">
              <a:buNone/>
            </a:pPr>
            <a:r>
              <a:rPr lang="en-US" sz="1700" b="1" dirty="0">
                <a:solidFill>
                  <a:srgbClr val="243B6B"/>
                </a:solidFill>
              </a:rPr>
              <a:t>Ajustes</a:t>
            </a:r>
            <a:endParaRPr lang="en-US" sz="1700" dirty="0"/>
          </a:p>
        </p:txBody>
      </p:sp>
      <p:sp>
        <p:nvSpPr>
          <p:cNvPr id="12" name="Text 10"/>
          <p:cNvSpPr txBox="1"/>
          <p:nvPr/>
        </p:nvSpPr>
        <p:spPr>
          <a:xfrm>
            <a:off x="8321040" y="2148840"/>
            <a:ext cx="3017520" cy="3383280"/>
          </a:xfrm>
          <a:prstGeom prst="rect">
            <a:avLst/>
          </a:prstGeom>
          <a:noFill/>
          <a:ln/>
        </p:spPr>
        <p:txBody>
          <a:bodyPr wrap="square" lIns="0" tIns="0" rIns="0" bIns="0" rtlCol="0" anchor="t"/>
          <a:lstStyle/>
          <a:p>
            <a:pPr marL="152400" indent="-152400">
              <a:spcAft>
                <a:spcPts val="900"/>
              </a:spcAft>
              <a:buSzPct val="100000"/>
              <a:buChar char="•"/>
            </a:pPr>
            <a:r>
              <a:rPr lang="en-US" sz="1200" dirty="0">
                <a:solidFill>
                  <a:srgbClr val="202636"/>
                </a:solidFill>
              </a:rPr>
              <a:t>La app pasó a Mauricio; Tania se concentra en la torre de control y el diseño.</a:t>
            </a:r>
            <a:endParaRPr lang="en-US" sz="1200" dirty="0"/>
          </a:p>
          <a:p>
            <a:pPr marL="152400" indent="-152400">
              <a:spcAft>
                <a:spcPts val="900"/>
              </a:spcAft>
              <a:buSzPct val="100000"/>
              <a:buChar char="•"/>
            </a:pPr>
            <a:r>
              <a:rPr lang="en-US" sz="1200" dirty="0">
                <a:solidFill>
                  <a:srgbClr val="202636"/>
                </a:solidFill>
              </a:rPr>
              <a:t>Nayareth se integró al desarrollo con las métricas (5 de octubre).</a:t>
            </a:r>
            <a:endParaRPr lang="en-US" sz="1200" dirty="0"/>
          </a:p>
          <a:p>
            <a:pPr marL="152400" indent="-152400">
              <a:spcAft>
                <a:spcPts val="900"/>
              </a:spcAft>
              <a:buSzPct val="100000"/>
              <a:buChar char="•"/>
            </a:pPr>
            <a:r>
              <a:rPr lang="en-US" sz="1200" dirty="0">
                <a:solidFill>
                  <a:srgbClr val="202636"/>
                </a:solidFill>
              </a:rPr>
              <a:t>Sprints más largos y un Sprint 9 de contingencia.</a:t>
            </a:r>
            <a:endParaRPr lang="en-US" sz="1200" dirty="0"/>
          </a:p>
          <a:p>
            <a:pPr marL="152400" indent="-152400">
              <a:spcAft>
                <a:spcPts val="900"/>
              </a:spcAft>
              <a:buSzPct val="100000"/>
              <a:buChar char="•"/>
            </a:pPr>
            <a:r>
              <a:rPr lang="en-US" sz="1200" dirty="0">
                <a:solidFill>
                  <a:srgbClr val="202636"/>
                </a:solidFill>
              </a:rPr>
              <a:t>Las pruebas pasaron de una planilla final a pruebas automáticas en cada cambio.</a:t>
            </a:r>
            <a:endParaRPr lang="en-US" sz="1200" dirty="0"/>
          </a:p>
        </p:txBody>
      </p:sp>
      <p:sp>
        <p:nvSpPr>
          <p:cNvPr id="13" name="Shape 11"/>
          <p:cNvSpPr/>
          <p:nvPr/>
        </p:nvSpPr>
        <p:spPr>
          <a:xfrm>
            <a:off x="548640" y="5806440"/>
            <a:ext cx="11064240" cy="457200"/>
          </a:xfrm>
          <a:prstGeom prst="roundRect">
            <a:avLst>
              <a:gd name="adj" fmla="val 24000"/>
            </a:avLst>
          </a:prstGeom>
          <a:solidFill>
            <a:srgbClr val="F6F7FB"/>
          </a:solidFill>
          <a:ln w="12700">
            <a:solidFill>
              <a:srgbClr val="F6F7FB"/>
            </a:solidFill>
            <a:prstDash val="solid"/>
          </a:ln>
        </p:spPr>
      </p:sp>
      <p:sp>
        <p:nvSpPr>
          <p:cNvPr id="14" name="Text 12"/>
          <p:cNvSpPr txBox="1"/>
          <p:nvPr/>
        </p:nvSpPr>
        <p:spPr>
          <a:xfrm>
            <a:off x="822960" y="5833872"/>
            <a:ext cx="10515600" cy="411480"/>
          </a:xfrm>
          <a:prstGeom prst="rect">
            <a:avLst/>
          </a:prstGeom>
          <a:noFill/>
          <a:ln/>
        </p:spPr>
        <p:txBody>
          <a:bodyPr wrap="square" lIns="0" tIns="0" rIns="0" bIns="0" rtlCol="0" anchor="ctr"/>
          <a:lstStyle/>
          <a:p>
            <a:pPr indent="0" marL="0">
              <a:buNone/>
            </a:pPr>
            <a:r>
              <a:rPr lang="en-US" sz="1150" dirty="0">
                <a:solidFill>
                  <a:srgbClr val="202636"/>
                </a:solidFill>
              </a:rPr>
              <a:t>Los ajustes no cambiaron los objetivos del proyecto: cambiaron quién hace cada parte y cuándo. El detalle está en la Carta Gantt actualizada, la Matriz RACI y las retrospectivas de cada sprint.</a:t>
            </a:r>
            <a:endParaRPr lang="en-US" sz="1150" dirty="0"/>
          </a:p>
        </p:txBody>
      </p:sp>
      <p:sp>
        <p:nvSpPr>
          <p:cNvPr id="15" name="Text 13"/>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16" name="Text 14"/>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Tania</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7C6EE6"/>
                </a:solidFill>
              </a:rPr>
              <a:t>PRÓXIMOS PASOS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172442"/>
                </a:solidFill>
              </a:rPr>
              <a:t>Lo que queda para cerrar el proyecto</a:t>
            </a:r>
            <a:endParaRPr lang="en-US" sz="3000" dirty="0"/>
          </a:p>
        </p:txBody>
      </p:sp>
      <p:sp>
        <p:nvSpPr>
          <p:cNvPr id="4" name="Shape 2"/>
          <p:cNvSpPr/>
          <p:nvPr/>
        </p:nvSpPr>
        <p:spPr>
          <a:xfrm>
            <a:off x="548640" y="1463040"/>
            <a:ext cx="3566160" cy="2788920"/>
          </a:xfrm>
          <a:prstGeom prst="roundRect">
            <a:avLst>
              <a:gd name="adj" fmla="val 3934"/>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5" name="Shape 3"/>
          <p:cNvSpPr/>
          <p:nvPr/>
        </p:nvSpPr>
        <p:spPr>
          <a:xfrm>
            <a:off x="822960" y="1645920"/>
            <a:ext cx="1280160" cy="384048"/>
          </a:xfrm>
          <a:prstGeom prst="roundRect">
            <a:avLst>
              <a:gd name="adj" fmla="val 19048"/>
            </a:avLst>
          </a:prstGeom>
          <a:solidFill>
            <a:srgbClr val="243B6B"/>
          </a:solidFill>
          <a:ln w="12700">
            <a:solidFill>
              <a:srgbClr val="243B6B"/>
            </a:solidFill>
            <a:prstDash val="solid"/>
          </a:ln>
        </p:spPr>
      </p:sp>
      <p:sp>
        <p:nvSpPr>
          <p:cNvPr id="6" name="Text 4"/>
          <p:cNvSpPr txBox="1"/>
          <p:nvPr/>
        </p:nvSpPr>
        <p:spPr>
          <a:xfrm>
            <a:off x="822960" y="164592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rPr>
              <a:t>Sprint 8</a:t>
            </a:r>
            <a:endParaRPr lang="en-US" sz="1300" dirty="0"/>
          </a:p>
        </p:txBody>
      </p:sp>
      <p:sp>
        <p:nvSpPr>
          <p:cNvPr id="7" name="Text 5"/>
          <p:cNvSpPr txBox="1"/>
          <p:nvPr/>
        </p:nvSpPr>
        <p:spPr>
          <a:xfrm>
            <a:off x="2240280" y="1682496"/>
            <a:ext cx="1737360" cy="320040"/>
          </a:xfrm>
          <a:prstGeom prst="rect">
            <a:avLst/>
          </a:prstGeom>
          <a:noFill/>
          <a:ln/>
        </p:spPr>
        <p:txBody>
          <a:bodyPr wrap="square" lIns="0" tIns="0" rIns="0" bIns="0" rtlCol="0" anchor="ctr"/>
          <a:lstStyle/>
          <a:p>
            <a:pPr indent="0" marL="0">
              <a:buNone/>
            </a:pPr>
            <a:r>
              <a:rPr lang="en-US" sz="1150" dirty="0">
                <a:solidFill>
                  <a:srgbClr val="667085"/>
                </a:solidFill>
              </a:rPr>
              <a:t>19 al 30 de octubre</a:t>
            </a:r>
            <a:endParaRPr lang="en-US" sz="1150" dirty="0"/>
          </a:p>
        </p:txBody>
      </p:sp>
      <p:sp>
        <p:nvSpPr>
          <p:cNvPr id="8" name="Text 6"/>
          <p:cNvSpPr txBox="1"/>
          <p:nvPr/>
        </p:nvSpPr>
        <p:spPr>
          <a:xfrm>
            <a:off x="822960" y="2240280"/>
            <a:ext cx="3017520" cy="192024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202636"/>
                </a:solidFill>
              </a:rPr>
              <a:t>Revisión de aceptación del MVP con el cliente.</a:t>
            </a:r>
            <a:endParaRPr lang="en-US" sz="1200" dirty="0"/>
          </a:p>
          <a:p>
            <a:pPr marL="152400" indent="-152400">
              <a:spcAft>
                <a:spcPts val="600"/>
              </a:spcAft>
              <a:buSzPct val="100000"/>
              <a:buChar char="•"/>
            </a:pPr>
            <a:r>
              <a:rPr lang="en-US" sz="1200" dirty="0">
                <a:solidFill>
                  <a:srgbClr val="202636"/>
                </a:solidFill>
              </a:rPr>
              <a:t>Tablero y eventos del panel pensados para teléfono.</a:t>
            </a:r>
            <a:endParaRPr lang="en-US" sz="1200" dirty="0"/>
          </a:p>
          <a:p>
            <a:pPr marL="152400" indent="-152400">
              <a:spcAft>
                <a:spcPts val="600"/>
              </a:spcAft>
              <a:buSzPct val="100000"/>
              <a:buChar char="•"/>
            </a:pPr>
            <a:r>
              <a:rPr lang="en-US" sz="1200" dirty="0">
                <a:solidFill>
                  <a:srgbClr val="202636"/>
                </a:solidFill>
              </a:rPr>
              <a:t>Recorrido del panel solo con teclado.</a:t>
            </a:r>
            <a:endParaRPr lang="en-US" sz="1200" dirty="0"/>
          </a:p>
          <a:p>
            <a:pPr marL="152400" indent="-152400">
              <a:spcAft>
                <a:spcPts val="600"/>
              </a:spcAft>
              <a:buSzPct val="100000"/>
              <a:buChar char="•"/>
            </a:pPr>
            <a:r>
              <a:rPr lang="en-US" sz="1200" dirty="0">
                <a:solidFill>
                  <a:srgbClr val="202636"/>
                </a:solidFill>
              </a:rPr>
              <a:t>Segunda ronda del maestro en camino en teléfono.</a:t>
            </a:r>
            <a:endParaRPr lang="en-US" sz="1200" dirty="0"/>
          </a:p>
        </p:txBody>
      </p:sp>
      <p:sp>
        <p:nvSpPr>
          <p:cNvPr id="9" name="Shape 7"/>
          <p:cNvSpPr/>
          <p:nvPr/>
        </p:nvSpPr>
        <p:spPr>
          <a:xfrm>
            <a:off x="4297680" y="1463040"/>
            <a:ext cx="3566160" cy="2788920"/>
          </a:xfrm>
          <a:prstGeom prst="roundRect">
            <a:avLst>
              <a:gd name="adj" fmla="val 3934"/>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0" name="Shape 8"/>
          <p:cNvSpPr/>
          <p:nvPr/>
        </p:nvSpPr>
        <p:spPr>
          <a:xfrm>
            <a:off x="4572000" y="1645920"/>
            <a:ext cx="1280160" cy="384048"/>
          </a:xfrm>
          <a:prstGeom prst="roundRect">
            <a:avLst>
              <a:gd name="adj" fmla="val 19048"/>
            </a:avLst>
          </a:prstGeom>
          <a:solidFill>
            <a:srgbClr val="7C6EE6"/>
          </a:solidFill>
          <a:ln w="12700">
            <a:solidFill>
              <a:srgbClr val="7C6EE6"/>
            </a:solidFill>
            <a:prstDash val="solid"/>
          </a:ln>
        </p:spPr>
      </p:sp>
      <p:sp>
        <p:nvSpPr>
          <p:cNvPr id="11" name="Text 9"/>
          <p:cNvSpPr txBox="1"/>
          <p:nvPr/>
        </p:nvSpPr>
        <p:spPr>
          <a:xfrm>
            <a:off x="4572000" y="164592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rPr>
              <a:t>Sprint 9</a:t>
            </a:r>
            <a:endParaRPr lang="en-US" sz="1300" dirty="0"/>
          </a:p>
        </p:txBody>
      </p:sp>
      <p:sp>
        <p:nvSpPr>
          <p:cNvPr id="12" name="Text 10"/>
          <p:cNvSpPr txBox="1"/>
          <p:nvPr/>
        </p:nvSpPr>
        <p:spPr>
          <a:xfrm>
            <a:off x="5989320" y="1682496"/>
            <a:ext cx="1737360" cy="320040"/>
          </a:xfrm>
          <a:prstGeom prst="rect">
            <a:avLst/>
          </a:prstGeom>
          <a:noFill/>
          <a:ln/>
        </p:spPr>
        <p:txBody>
          <a:bodyPr wrap="square" lIns="0" tIns="0" rIns="0" bIns="0" rtlCol="0" anchor="ctr"/>
          <a:lstStyle/>
          <a:p>
            <a:pPr indent="0" marL="0">
              <a:buNone/>
            </a:pPr>
            <a:r>
              <a:rPr lang="en-US" sz="1150" dirty="0">
                <a:solidFill>
                  <a:srgbClr val="667085"/>
                </a:solidFill>
              </a:rPr>
              <a:t>2 al 13 de noviembre</a:t>
            </a:r>
            <a:endParaRPr lang="en-US" sz="1150" dirty="0"/>
          </a:p>
        </p:txBody>
      </p:sp>
      <p:sp>
        <p:nvSpPr>
          <p:cNvPr id="13" name="Text 11"/>
          <p:cNvSpPr txBox="1"/>
          <p:nvPr/>
        </p:nvSpPr>
        <p:spPr>
          <a:xfrm>
            <a:off x="4572000" y="2240280"/>
            <a:ext cx="3017520" cy="192024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202636"/>
                </a:solidFill>
              </a:rPr>
              <a:t>Contingencia para lo que espera a terceros.</a:t>
            </a:r>
            <a:endParaRPr lang="en-US" sz="1200" dirty="0"/>
          </a:p>
          <a:p>
            <a:pPr marL="152400" indent="-152400">
              <a:spcAft>
                <a:spcPts val="600"/>
              </a:spcAft>
              <a:buSzPct val="100000"/>
              <a:buChar char="•"/>
            </a:pPr>
            <a:r>
              <a:rPr lang="en-US" sz="1200" dirty="0">
                <a:solidFill>
                  <a:srgbClr val="202636"/>
                </a:solidFill>
              </a:rPr>
              <a:t>Pasarela de pago real en modo de pruebas.</a:t>
            </a:r>
            <a:endParaRPr lang="en-US" sz="1200" dirty="0"/>
          </a:p>
          <a:p>
            <a:pPr marL="152400" indent="-152400">
              <a:spcAft>
                <a:spcPts val="600"/>
              </a:spcAft>
              <a:buSzPct val="100000"/>
              <a:buChar char="•"/>
            </a:pPr>
            <a:r>
              <a:rPr lang="en-US" sz="1200" dirty="0">
                <a:solidFill>
                  <a:srgbClr val="202636"/>
                </a:solidFill>
              </a:rPr>
              <a:t>Proveedor de verificación de identidad.</a:t>
            </a:r>
            <a:endParaRPr lang="en-US" sz="1200" dirty="0"/>
          </a:p>
          <a:p>
            <a:pPr marL="152400" indent="-152400">
              <a:spcAft>
                <a:spcPts val="600"/>
              </a:spcAft>
              <a:buSzPct val="100000"/>
              <a:buChar char="•"/>
            </a:pPr>
            <a:r>
              <a:rPr lang="en-US" sz="1200" dirty="0">
                <a:solidFill>
                  <a:srgbClr val="202636"/>
                </a:solidFill>
              </a:rPr>
              <a:t>Revisión de seguridad con herramientas.</a:t>
            </a:r>
            <a:endParaRPr lang="en-US" sz="1200" dirty="0"/>
          </a:p>
        </p:txBody>
      </p:sp>
      <p:sp>
        <p:nvSpPr>
          <p:cNvPr id="14" name="Shape 12"/>
          <p:cNvSpPr/>
          <p:nvPr/>
        </p:nvSpPr>
        <p:spPr>
          <a:xfrm>
            <a:off x="8046720" y="1463040"/>
            <a:ext cx="3566160" cy="2788920"/>
          </a:xfrm>
          <a:prstGeom prst="roundRect">
            <a:avLst>
              <a:gd name="adj" fmla="val 3934"/>
            </a:avLst>
          </a:prstGeom>
          <a:solidFill>
            <a:srgbClr val="FFFFFF"/>
          </a:solidFill>
          <a:ln w="9525">
            <a:solidFill>
              <a:srgbClr val="DDE1EB"/>
            </a:solidFill>
            <a:prstDash val="solid"/>
          </a:ln>
          <a:effectLst>
            <a:outerShdw sx="100000" sy="100000" kx="0" ky="0" algn="bl" rotWithShape="0" blurRad="76200" dist="25400" dir="5400000">
              <a:srgbClr val="1A1F36">
                <a:alpha val="12000"/>
              </a:srgbClr>
            </a:outerShdw>
          </a:effectLst>
        </p:spPr>
      </p:sp>
      <p:sp>
        <p:nvSpPr>
          <p:cNvPr id="15" name="Shape 13"/>
          <p:cNvSpPr/>
          <p:nvPr/>
        </p:nvSpPr>
        <p:spPr>
          <a:xfrm>
            <a:off x="8321040" y="1645920"/>
            <a:ext cx="1280160" cy="384048"/>
          </a:xfrm>
          <a:prstGeom prst="roundRect">
            <a:avLst>
              <a:gd name="adj" fmla="val 19048"/>
            </a:avLst>
          </a:prstGeom>
          <a:solidFill>
            <a:srgbClr val="F06449"/>
          </a:solidFill>
          <a:ln w="12700">
            <a:solidFill>
              <a:srgbClr val="F06449"/>
            </a:solidFill>
            <a:prstDash val="solid"/>
          </a:ln>
        </p:spPr>
      </p:sp>
      <p:sp>
        <p:nvSpPr>
          <p:cNvPr id="16" name="Text 14"/>
          <p:cNvSpPr txBox="1"/>
          <p:nvPr/>
        </p:nvSpPr>
        <p:spPr>
          <a:xfrm>
            <a:off x="8321040" y="164592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rPr>
              <a:t>Fase 3</a:t>
            </a:r>
            <a:endParaRPr lang="en-US" sz="1300" dirty="0"/>
          </a:p>
        </p:txBody>
      </p:sp>
      <p:sp>
        <p:nvSpPr>
          <p:cNvPr id="17" name="Text 15"/>
          <p:cNvSpPr txBox="1"/>
          <p:nvPr/>
        </p:nvSpPr>
        <p:spPr>
          <a:xfrm>
            <a:off x="9738360" y="1682496"/>
            <a:ext cx="1737360" cy="320040"/>
          </a:xfrm>
          <a:prstGeom prst="rect">
            <a:avLst/>
          </a:prstGeom>
          <a:noFill/>
          <a:ln/>
        </p:spPr>
        <p:txBody>
          <a:bodyPr wrap="square" lIns="0" tIns="0" rIns="0" bIns="0" rtlCol="0" anchor="ctr"/>
          <a:lstStyle/>
          <a:p>
            <a:pPr indent="0" marL="0">
              <a:buNone/>
            </a:pPr>
            <a:r>
              <a:rPr lang="en-US" sz="1150" dirty="0">
                <a:solidFill>
                  <a:srgbClr val="667085"/>
                </a:solidFill>
              </a:rPr>
              <a:t>semanas 15 a 18</a:t>
            </a:r>
            <a:endParaRPr lang="en-US" sz="1150" dirty="0"/>
          </a:p>
        </p:txBody>
      </p:sp>
      <p:sp>
        <p:nvSpPr>
          <p:cNvPr id="18" name="Text 16"/>
          <p:cNvSpPr txBox="1"/>
          <p:nvPr/>
        </p:nvSpPr>
        <p:spPr>
          <a:xfrm>
            <a:off x="8321040" y="2240280"/>
            <a:ext cx="3017520" cy="192024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202636"/>
                </a:solidFill>
              </a:rPr>
              <a:t>Pruebas finales en dispositivos físicos.</a:t>
            </a:r>
            <a:endParaRPr lang="en-US" sz="1200" dirty="0"/>
          </a:p>
          <a:p>
            <a:pPr marL="152400" indent="-152400">
              <a:spcAft>
                <a:spcPts val="600"/>
              </a:spcAft>
              <a:buSzPct val="100000"/>
              <a:buChar char="•"/>
            </a:pPr>
            <a:r>
              <a:rPr lang="en-US" sz="1200" dirty="0">
                <a:solidFill>
                  <a:srgbClr val="202636"/>
                </a:solidFill>
              </a:rPr>
              <a:t>Despliegue de cierre.</a:t>
            </a:r>
            <a:endParaRPr lang="en-US" sz="1200" dirty="0"/>
          </a:p>
          <a:p>
            <a:pPr marL="152400" indent="-152400">
              <a:spcAft>
                <a:spcPts val="600"/>
              </a:spcAft>
              <a:buSzPct val="100000"/>
              <a:buChar char="•"/>
            </a:pPr>
            <a:r>
              <a:rPr lang="en-US" sz="1200" dirty="0">
                <a:solidFill>
                  <a:srgbClr val="202636"/>
                </a:solidFill>
              </a:rPr>
              <a:t>Manual de usuario.</a:t>
            </a:r>
            <a:endParaRPr lang="en-US" sz="1200" dirty="0"/>
          </a:p>
          <a:p>
            <a:pPr marL="152400" indent="-152400">
              <a:spcAft>
                <a:spcPts val="600"/>
              </a:spcAft>
              <a:buSzPct val="100000"/>
              <a:buChar char="•"/>
            </a:pPr>
            <a:r>
              <a:rPr lang="en-US" sz="1200" dirty="0">
                <a:solidFill>
                  <a:srgbClr val="202636"/>
                </a:solidFill>
              </a:rPr>
              <a:t>Presentación final.</a:t>
            </a:r>
            <a:endParaRPr lang="en-US" sz="1200" dirty="0"/>
          </a:p>
        </p:txBody>
      </p:sp>
      <p:sp>
        <p:nvSpPr>
          <p:cNvPr id="19" name="Text 17"/>
          <p:cNvSpPr txBox="1"/>
          <p:nvPr/>
        </p:nvSpPr>
        <p:spPr>
          <a:xfrm>
            <a:off x="548640" y="4480560"/>
            <a:ext cx="7315200" cy="320040"/>
          </a:xfrm>
          <a:prstGeom prst="rect">
            <a:avLst/>
          </a:prstGeom>
          <a:noFill/>
          <a:ln/>
        </p:spPr>
        <p:txBody>
          <a:bodyPr wrap="square" lIns="0" tIns="0" rIns="0" bIns="0" rtlCol="0" anchor="t"/>
          <a:lstStyle/>
          <a:p>
            <a:pPr indent="0" marL="0">
              <a:buNone/>
            </a:pPr>
            <a:r>
              <a:rPr lang="en-US" sz="1500" b="1" dirty="0">
                <a:solidFill>
                  <a:srgbClr val="243B6B"/>
                </a:solidFill>
              </a:rPr>
              <a:t>Actividades retrasadas o no iniciadas</a:t>
            </a:r>
            <a:endParaRPr lang="en-US" sz="1500" dirty="0"/>
          </a:p>
        </p:txBody>
      </p:sp>
      <p:sp>
        <p:nvSpPr>
          <p:cNvPr id="20" name="Shape 18"/>
          <p:cNvSpPr/>
          <p:nvPr/>
        </p:nvSpPr>
        <p:spPr>
          <a:xfrm>
            <a:off x="548640" y="4846320"/>
            <a:ext cx="11064240" cy="1371600"/>
          </a:xfrm>
          <a:prstGeom prst="roundRect">
            <a:avLst>
              <a:gd name="adj" fmla="val 8000"/>
            </a:avLst>
          </a:prstGeom>
          <a:solidFill>
            <a:srgbClr val="F6F7FB"/>
          </a:solidFill>
          <a:ln w="12700">
            <a:solidFill>
              <a:srgbClr val="F6F7FB"/>
            </a:solidFill>
            <a:prstDash val="solid"/>
          </a:ln>
        </p:spPr>
      </p:sp>
      <p:sp>
        <p:nvSpPr>
          <p:cNvPr id="21" name="Text 19"/>
          <p:cNvSpPr txBox="1"/>
          <p:nvPr/>
        </p:nvSpPr>
        <p:spPr>
          <a:xfrm>
            <a:off x="822960" y="4956048"/>
            <a:ext cx="10515600" cy="11887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02636"/>
                </a:solidFill>
              </a:rPr>
              <a:t>Integración con la pasarela de pago real: retrasada, porque depende de una evaluación comercial del cliente. El pago funciona con un simulador detrás del mismo componente; el Sprint 9 queda reservado para conectarla.</a:t>
            </a:r>
            <a:endParaRPr lang="en-US" sz="1150" dirty="0"/>
          </a:p>
          <a:p>
            <a:pPr marL="152400" indent="-152400">
              <a:spcAft>
                <a:spcPts val="500"/>
              </a:spcAft>
              <a:buSzPct val="100000"/>
              <a:buChar char="•"/>
            </a:pPr>
            <a:r>
              <a:rPr lang="en-US" sz="1150" dirty="0">
                <a:solidFill>
                  <a:srgbClr val="202636"/>
                </a:solidFill>
              </a:rPr>
              <a:t>Pruebas finales en dispositivo físico y manual de usuario: no iniciadas según lo planificado; corresponden a la Fase 3.</a:t>
            </a:r>
            <a:endParaRPr lang="en-US" sz="1150" dirty="0"/>
          </a:p>
          <a:p>
            <a:pPr marL="152400" indent="-152400">
              <a:spcAft>
                <a:spcPts val="500"/>
              </a:spcAft>
              <a:buSzPct val="100000"/>
              <a:buChar char="•"/>
            </a:pPr>
            <a:r>
              <a:rPr lang="en-US" sz="1150" dirty="0">
                <a:solidFill>
                  <a:srgbClr val="202636"/>
                </a:solidFill>
              </a:rPr>
              <a:t>Revisión de aceptación del MVP: se realiza al cierre del Sprint 8; la fecha exacta se fija con el cliente.</a:t>
            </a:r>
            <a:endParaRPr lang="en-US" sz="1150" dirty="0"/>
          </a:p>
        </p:txBody>
      </p:sp>
      <p:sp>
        <p:nvSpPr>
          <p:cNvPr id="22" name="Text 20"/>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67085"/>
                </a:solidFill>
              </a:rPr>
              <a:t>Relwo · Proyecto APT · Fase 2</a:t>
            </a:r>
            <a:endParaRPr lang="en-US" sz="900" dirty="0"/>
          </a:p>
        </p:txBody>
      </p:sp>
      <p:sp>
        <p:nvSpPr>
          <p:cNvPr id="23" name="Text 21"/>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667085"/>
                </a:solidFill>
              </a:rPr>
              <a:t>Mauricio</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1737360"/>
            <a:ext cx="11064240" cy="457200"/>
          </a:xfrm>
          <a:prstGeom prst="rect">
            <a:avLst/>
          </a:prstGeom>
          <a:noFill/>
          <a:ln/>
        </p:spPr>
        <p:txBody>
          <a:bodyPr wrap="square" lIns="0" tIns="0" rIns="0" bIns="0" rtlCol="0" anchor="t"/>
          <a:lstStyle/>
          <a:p>
            <a:pPr indent="0" marL="0">
              <a:buNone/>
            </a:pPr>
            <a:r>
              <a:rPr lang="en-US" sz="1800" dirty="0">
                <a:solidFill>
                  <a:srgbClr val="A9B4CC"/>
                </a:solidFill>
              </a:rPr>
              <a:t>Volvamos a la llave de paso.</a:t>
            </a:r>
            <a:endParaRPr lang="en-US" sz="1800" dirty="0"/>
          </a:p>
        </p:txBody>
      </p:sp>
      <p:sp>
        <p:nvSpPr>
          <p:cNvPr id="3" name="Text 1"/>
          <p:cNvSpPr txBox="1"/>
          <p:nvPr/>
        </p:nvSpPr>
        <p:spPr>
          <a:xfrm>
            <a:off x="548640" y="2286000"/>
            <a:ext cx="11064240" cy="1828800"/>
          </a:xfrm>
          <a:prstGeom prst="rect">
            <a:avLst/>
          </a:prstGeom>
          <a:noFill/>
          <a:ln/>
        </p:spPr>
        <p:txBody>
          <a:bodyPr wrap="square" lIns="0" tIns="0" rIns="0" bIns="0" rtlCol="0" anchor="t"/>
          <a:lstStyle/>
          <a:p>
            <a:pPr indent="0" marL="0">
              <a:buNone/>
            </a:pPr>
            <a:r>
              <a:rPr lang="en-US" sz="5600" b="1" dirty="0">
                <a:solidFill>
                  <a:srgbClr val="FFFFFF"/>
                </a:solidFill>
              </a:rPr>
              <a:t>Un maestro de confianza, a un toque.</a:t>
            </a:r>
            <a:endParaRPr lang="en-US" sz="5600" dirty="0"/>
          </a:p>
        </p:txBody>
      </p:sp>
      <p:sp>
        <p:nvSpPr>
          <p:cNvPr id="4" name="Text 2"/>
          <p:cNvSpPr txBox="1"/>
          <p:nvPr/>
        </p:nvSpPr>
        <p:spPr>
          <a:xfrm>
            <a:off x="548640" y="4206240"/>
            <a:ext cx="11064240" cy="548640"/>
          </a:xfrm>
          <a:prstGeom prst="rect">
            <a:avLst/>
          </a:prstGeom>
          <a:noFill/>
          <a:ln/>
        </p:spPr>
        <p:txBody>
          <a:bodyPr wrap="square" lIns="0" tIns="0" rIns="0" bIns="0" rtlCol="0" anchor="t"/>
          <a:lstStyle/>
          <a:p>
            <a:pPr indent="0" marL="0">
              <a:buNone/>
            </a:pPr>
            <a:r>
              <a:rPr lang="en-US" sz="2000" dirty="0">
                <a:solidFill>
                  <a:srgbClr val="F06449"/>
                </a:solidFill>
              </a:rPr>
              <a:t>Sabes cuánto vas a pagar antes de pagar. Sabes quién es. Y lo ves llegar.</a:t>
            </a:r>
            <a:endParaRPr lang="en-US" sz="2000" dirty="0"/>
          </a:p>
        </p:txBody>
      </p:sp>
      <p:sp>
        <p:nvSpPr>
          <p:cNvPr id="5" name="Text 3"/>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A9B4CC"/>
                </a:solidFill>
              </a:rPr>
              <a:t>Relwo · Proyecto APT · Fase 2</a:t>
            </a:r>
            <a:endParaRPr lang="en-US" sz="900" dirty="0"/>
          </a:p>
        </p:txBody>
      </p:sp>
      <p:sp>
        <p:nvSpPr>
          <p:cNvPr id="6" name="Text 4"/>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A9B4CC"/>
                </a:solidFill>
              </a:rPr>
              <a:t>Mauricio</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ivate/tmp/claude-501/-Users-mauriciops-Proyectos-relwo-capstone/1a8b5f2b-d3d9-4b63-bfed-da79668ca276/scratchpad/pptx-build/assets/logo.jpeg">    </p:cNvPr>
          <p:cNvPicPr>
            <a:picLocks noChangeAspect="1"/>
          </p:cNvPicPr>
          <p:nvPr/>
        </p:nvPicPr>
        <p:blipFill>
          <a:blip r:embed="rId1"/>
          <a:stretch>
            <a:fillRect/>
          </a:stretch>
        </p:blipFill>
        <p:spPr>
          <a:xfrm>
            <a:off x="457200" y="1005840"/>
            <a:ext cx="4846320" cy="4846320"/>
          </a:xfrm>
          <a:prstGeom prst="rect">
            <a:avLst/>
          </a:prstGeom>
        </p:spPr>
      </p:pic>
      <p:sp>
        <p:nvSpPr>
          <p:cNvPr id="3" name="Text 0"/>
          <p:cNvSpPr txBox="1"/>
          <p:nvPr/>
        </p:nvSpPr>
        <p:spPr>
          <a:xfrm>
            <a:off x="5852160" y="2103120"/>
            <a:ext cx="5760720" cy="914400"/>
          </a:xfrm>
          <a:prstGeom prst="rect">
            <a:avLst/>
          </a:prstGeom>
          <a:noFill/>
          <a:ln/>
        </p:spPr>
        <p:txBody>
          <a:bodyPr wrap="square" lIns="0" tIns="0" rIns="0" bIns="0" rtlCol="0" anchor="t"/>
          <a:lstStyle/>
          <a:p>
            <a:pPr indent="0" marL="0">
              <a:buNone/>
            </a:pPr>
            <a:r>
              <a:rPr lang="en-US" sz="4400" b="1" dirty="0">
                <a:solidFill>
                  <a:srgbClr val="FFFFFF"/>
                </a:solidFill>
              </a:rPr>
              <a:t>Muchas gracias</a:t>
            </a:r>
            <a:endParaRPr lang="en-US" sz="4400" dirty="0"/>
          </a:p>
        </p:txBody>
      </p:sp>
      <p:sp>
        <p:nvSpPr>
          <p:cNvPr id="4" name="Text 1"/>
          <p:cNvSpPr txBox="1"/>
          <p:nvPr/>
        </p:nvSpPr>
        <p:spPr>
          <a:xfrm>
            <a:off x="5852160" y="3108960"/>
            <a:ext cx="5760720" cy="365760"/>
          </a:xfrm>
          <a:prstGeom prst="rect">
            <a:avLst/>
          </a:prstGeom>
          <a:noFill/>
          <a:ln/>
        </p:spPr>
        <p:txBody>
          <a:bodyPr wrap="square" lIns="0" tIns="0" rIns="0" bIns="0" rtlCol="0" anchor="t"/>
          <a:lstStyle/>
          <a:p>
            <a:pPr indent="0" marL="0">
              <a:buNone/>
            </a:pPr>
            <a:r>
              <a:rPr lang="en-US" sz="1500" dirty="0">
                <a:solidFill>
                  <a:srgbClr val="FFFFFF"/>
                </a:solidFill>
              </a:rPr>
              <a:t>Mauricio Poblete · Tania Sáez · Nayareth Suárez</a:t>
            </a:r>
            <a:endParaRPr lang="en-US" sz="1500" dirty="0"/>
          </a:p>
        </p:txBody>
      </p:sp>
      <p:sp>
        <p:nvSpPr>
          <p:cNvPr id="5" name="Text 2"/>
          <p:cNvSpPr txBox="1"/>
          <p:nvPr/>
        </p:nvSpPr>
        <p:spPr>
          <a:xfrm>
            <a:off x="5852160" y="3657600"/>
            <a:ext cx="5760720" cy="914400"/>
          </a:xfrm>
          <a:prstGeom prst="rect">
            <a:avLst/>
          </a:prstGeom>
          <a:noFill/>
          <a:ln/>
        </p:spPr>
        <p:txBody>
          <a:bodyPr wrap="square" lIns="0" tIns="0" rIns="0" bIns="0" rtlCol="0" anchor="t"/>
          <a:lstStyle/>
          <a:p>
            <a:pPr indent="0" marL="0">
              <a:lnSpc>
                <a:spcPct val="115000"/>
              </a:lnSpc>
              <a:buNone/>
            </a:pPr>
            <a:r>
              <a:rPr lang="en-US" sz="1250" dirty="0">
                <a:solidFill>
                  <a:srgbClr val="A9B4CC"/>
                </a:solidFill>
              </a:rPr>
              <a:t>Las evidencias de esta fase están en la carpeta «Fase 2 / Evidencias Proyecto» del repositorio: documentación Scrum, arquitectura, requerimientos, base de datos y esta presentación.</a:t>
            </a:r>
            <a:endParaRPr lang="en-US" sz="1250" dirty="0"/>
          </a:p>
        </p:txBody>
      </p:sp>
      <p:sp>
        <p:nvSpPr>
          <p:cNvPr id="6" name="Text 3"/>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A9B4CC"/>
                </a:solidFill>
              </a:rPr>
              <a:t>Relwo · Proyecto APT · Fase 2</a:t>
            </a:r>
            <a:endParaRPr lang="en-US" sz="900" dirty="0"/>
          </a:p>
        </p:txBody>
      </p:sp>
      <p:sp>
        <p:nvSpPr>
          <p:cNvPr id="7" name="Text 4"/>
          <p:cNvSpPr txBox="1"/>
          <p:nvPr/>
        </p:nvSpPr>
        <p:spPr>
          <a:xfrm>
            <a:off x="8869680" y="6419088"/>
            <a:ext cx="2743200" cy="228600"/>
          </a:xfrm>
          <a:prstGeom prst="rect">
            <a:avLst/>
          </a:prstGeom>
          <a:noFill/>
          <a:ln/>
        </p:spPr>
        <p:txBody>
          <a:bodyPr wrap="square" lIns="0" tIns="0" rIns="0" bIns="0" rtlCol="0" anchor="ctr"/>
          <a:lstStyle/>
          <a:p>
            <a:pPr algn="r" indent="0" marL="0">
              <a:buNone/>
            </a:pPr>
            <a:r>
              <a:rPr lang="en-US" sz="900" dirty="0">
                <a:solidFill>
                  <a:srgbClr val="A9B4CC"/>
                </a:solidFill>
              </a:rPr>
              <a:t>Nayareth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Relwo · Presentación de avance · Fase 2</dc:title>
  <dc:subject>PptxGenJS Presentation</dc:subject>
  <dc:creator>Mauricio Poblete, Tania Sáez, Nayareth Suárez</dc:creator>
  <cp:lastModifiedBy>Mauricio Poblete, Tania Sáez, Nayareth Suárez</cp:lastModifiedBy>
  <cp:revision>1</cp:revision>
  <dcterms:created xsi:type="dcterms:W3CDTF">2026-10-19T17:26:45Z</dcterms:created>
  <dcterms:modified xsi:type="dcterms:W3CDTF">2026-10-19T17:26:45Z</dcterms:modified>
</cp:coreProperties>
</file>